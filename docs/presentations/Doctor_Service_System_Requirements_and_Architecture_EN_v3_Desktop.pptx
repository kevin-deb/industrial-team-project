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3c1999a5584eba" /><Relationship Type="http://schemas.openxmlformats.org/officeDocument/2006/relationships/extended-properties" Target="/docProps/app.xml" Id="R0a7c1fe0baf14054" /><Relationship Type="http://schemas.openxmlformats.org/officeDocument/2006/relationships/officeDocument" Target="/ppt/presentation.xml" Id="R6525f3696afc4a2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c805b927b64eb5"/>
  </p:sldMasterIdLst>
  <p:notesMasterIdLst>
    <p:notesMasterId xmlns:r="http://schemas.openxmlformats.org/officeDocument/2006/relationships" r:id="R9f52154ce10349a2"/>
  </p:notesMasterIdLst>
  <p:sldIdLst>
    <p:sldId xmlns:r="http://schemas.openxmlformats.org/officeDocument/2006/relationships" id="256" r:id="Rbb0d78fb6ddb4c3a"/>
    <p:sldId xmlns:r="http://schemas.openxmlformats.org/officeDocument/2006/relationships" id="257" r:id="R7fff5fa373b64e4f"/>
    <p:sldId xmlns:r="http://schemas.openxmlformats.org/officeDocument/2006/relationships" id="258" r:id="R95cfedc5baa84e6d"/>
    <p:sldId xmlns:r="http://schemas.openxmlformats.org/officeDocument/2006/relationships" id="259" r:id="R852c6d0db1fa4c1c"/>
    <p:sldId xmlns:r="http://schemas.openxmlformats.org/officeDocument/2006/relationships" id="260" r:id="Rcd085c8919bb46fc"/>
    <p:sldId xmlns:r="http://schemas.openxmlformats.org/officeDocument/2006/relationships" id="261" r:id="R92f2ec11a3b74846"/>
    <p:sldId xmlns:r="http://schemas.openxmlformats.org/officeDocument/2006/relationships" id="262" r:id="R7ff2003898ce40d0"/>
    <p:sldId xmlns:r="http://schemas.openxmlformats.org/officeDocument/2006/relationships" id="263" r:id="R497431d58fd048a4"/>
    <p:sldId xmlns:r="http://schemas.openxmlformats.org/officeDocument/2006/relationships" id="264" r:id="R40bd6a71c3654d66"/>
  </p:sldIdLst>
  <p:sldSz cx="12192000" cy="6858000"/>
  <p:notesSz cx="6858000" cy="9144000"/>
  <p:embeddedFontLst>
    <p:embeddedFont>
      <p:font typeface="Inter"/>
      <p:regular xmlns:r="http://schemas.openxmlformats.org/officeDocument/2006/relationships" r:id="R1f41850f236b4c15"/>
      <p:bold xmlns:r="http://schemas.openxmlformats.org/officeDocument/2006/relationships" r:id="Rdb8dae8ab496483c"/>
    </p:embeddedFont>
    <p:embeddedFont>
      <p:font typeface="Inter Medium"/>
      <p:regular xmlns:r="http://schemas.openxmlformats.org/officeDocument/2006/relationships" r:id="R9fa408b826c74abb"/>
    </p:embeddedFont>
    <p:embeddedFont>
      <p:font typeface="Inter SemiBold"/>
      <p:regular xmlns:r="http://schemas.openxmlformats.org/officeDocument/2006/relationships" r:id="R6f1688a2c122427e"/>
      <p:bold xmlns:r="http://schemas.openxmlformats.org/officeDocument/2006/relationships" r:id="R522487d4958948ae"/>
    </p:embeddedFont>
    <p:embeddedFont>
      <p:font typeface="OpenAI Sans"/>
      <p:regular xmlns:r="http://schemas.openxmlformats.org/officeDocument/2006/relationships" r:id="R2b4586282db34fc7"/>
      <p:bold xmlns:r="http://schemas.openxmlformats.org/officeDocument/2006/relationships" r:id="R398822d92a144126"/>
      <p:italic xmlns:r="http://schemas.openxmlformats.org/officeDocument/2006/relationships" r:id="Rbe5a929099714d9d"/>
      <p:boldItalic xmlns:r="http://schemas.openxmlformats.org/officeDocument/2006/relationships" r:id="Rc513c4e66a1b403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dad0dd94a1647ed" /><Relationship Type="http://schemas.openxmlformats.org/officeDocument/2006/relationships/slideMaster" Target="/ppt/slideMasters/slideMaster1.xml" Id="Rcac805b927b64eb5" /><Relationship Type="http://schemas.openxmlformats.org/officeDocument/2006/relationships/notesMaster" Target="/ppt/notesMasters/notesMaster1.xml" Id="R9f52154ce10349a2" /><Relationship Type="http://schemas.openxmlformats.org/officeDocument/2006/relationships/presProps" Target="/ppt/presProps.xml" Id="R1ecbea4f066a4ac0" /><Relationship Type="http://schemas.openxmlformats.org/officeDocument/2006/relationships/viewProps" Target="/ppt/viewProps.xml" Id="R725ed91b92094c3c" /><Relationship Type="http://schemas.openxmlformats.org/officeDocument/2006/relationships/tableStyles" Target="/ppt/tableStyles.xml" Id="R297fc26392ef435d" /><Relationship Type="http://schemas.openxmlformats.org/officeDocument/2006/relationships/font" Target="/ppt/fonts/font.dat" Id="R1f41850f236b4c15" /><Relationship Type="http://schemas.openxmlformats.org/officeDocument/2006/relationships/font" Target="/ppt/fonts/font2.dat" Id="Rdb8dae8ab496483c" /><Relationship Type="http://schemas.openxmlformats.org/officeDocument/2006/relationships/font" Target="/ppt/fonts/font3.dat" Id="R9fa408b826c74abb" /><Relationship Type="http://schemas.openxmlformats.org/officeDocument/2006/relationships/font" Target="/ppt/fonts/font4.dat" Id="R6f1688a2c122427e" /><Relationship Type="http://schemas.openxmlformats.org/officeDocument/2006/relationships/font" Target="/ppt/fonts/font5.dat" Id="R522487d4958948ae" /><Relationship Type="http://schemas.openxmlformats.org/officeDocument/2006/relationships/font" Target="/ppt/fonts/font6.dat" Id="R2b4586282db34fc7" /><Relationship Type="http://schemas.openxmlformats.org/officeDocument/2006/relationships/font" Target="/ppt/fonts/font7.dat" Id="R398822d92a144126" /><Relationship Type="http://schemas.openxmlformats.org/officeDocument/2006/relationships/font" Target="/ppt/fonts/font8.dat" Id="Rbe5a929099714d9d" /><Relationship Type="http://schemas.openxmlformats.org/officeDocument/2006/relationships/font" Target="/ppt/fonts/font9.dat" Id="Rc513c4e66a1b4030" /><Relationship Type="http://schemas.openxmlformats.org/officeDocument/2006/relationships/slide" Target="/ppt/slides/slide1.xml" Id="Rbb0d78fb6ddb4c3a" /><Relationship Type="http://schemas.openxmlformats.org/officeDocument/2006/relationships/slide" Target="/ppt/slides/slide2.xml" Id="R7fff5fa373b64e4f" /><Relationship Type="http://schemas.openxmlformats.org/officeDocument/2006/relationships/slide" Target="/ppt/slides/slide3.xml" Id="R95cfedc5baa84e6d" /><Relationship Type="http://schemas.openxmlformats.org/officeDocument/2006/relationships/slide" Target="/ppt/slides/slide4.xml" Id="R852c6d0db1fa4c1c" /><Relationship Type="http://schemas.openxmlformats.org/officeDocument/2006/relationships/slide" Target="/ppt/slides/slide5.xml" Id="Rcd085c8919bb46fc" /><Relationship Type="http://schemas.openxmlformats.org/officeDocument/2006/relationships/slide" Target="/ppt/slides/slide6.xml" Id="R92f2ec11a3b74846" /><Relationship Type="http://schemas.openxmlformats.org/officeDocument/2006/relationships/slide" Target="/ppt/slides/slide7.xml" Id="R7ff2003898ce40d0" /><Relationship Type="http://schemas.openxmlformats.org/officeDocument/2006/relationships/slide" Target="/ppt/slides/slide8.xml" Id="R497431d58fd048a4" /><Relationship Type="http://schemas.openxmlformats.org/officeDocument/2006/relationships/slide" Target="/ppt/slides/slide9.xml" Id="R40bd6a71c3654d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6901a879cd41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9781906d56469e" /><Relationship Type="http://schemas.openxmlformats.org/officeDocument/2006/relationships/notesMaster" Target="/ppt/notesMasters/notesMaster1.xml" Id="Rabda126e4bf443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b07cf0a7c44a8d" /><Relationship Type="http://schemas.openxmlformats.org/officeDocument/2006/relationships/notesMaster" Target="/ppt/notesMasters/notesMaster1.xml" Id="Rb0eefdedfb4d4c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fbde36c3b1476b" /><Relationship Type="http://schemas.openxmlformats.org/officeDocument/2006/relationships/notesMaster" Target="/ppt/notesMasters/notesMaster1.xml" Id="Rf23e6e61aee041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c8373377d64965" /><Relationship Type="http://schemas.openxmlformats.org/officeDocument/2006/relationships/notesMaster" Target="/ppt/notesMasters/notesMaster1.xml" Id="R849f3e13490c46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b07a58aabd4ffb" /><Relationship Type="http://schemas.openxmlformats.org/officeDocument/2006/relationships/notesMaster" Target="/ppt/notesMasters/notesMaster1.xml" Id="R58a2afe5852244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2feb0fa1c84f64" /><Relationship Type="http://schemas.openxmlformats.org/officeDocument/2006/relationships/notesMaster" Target="/ppt/notesMasters/notesMaster1.xml" Id="Reeaf4b5748a441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0a424b56f94e60" /><Relationship Type="http://schemas.openxmlformats.org/officeDocument/2006/relationships/notesMaster" Target="/ppt/notesMasters/notesMaster1.xml" Id="Rbc7d9342fe8b40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319af346da442a" /><Relationship Type="http://schemas.openxmlformats.org/officeDocument/2006/relationships/notesMaster" Target="/ppt/notesMasters/notesMaster1.xml" Id="Redb9f15414104c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92d6664ba64791" /><Relationship Type="http://schemas.openxmlformats.org/officeDocument/2006/relationships/notesMaster" Target="/ppt/notesMasters/notesMaster1.xml" Id="R9b768d208c354f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Our five-person team delivers the doctor subsystem as a Windows 10/11 x64 desktop application. The Electron installer bundles the runtime and local assets. Users open the installed application without Node.js, a separate browser or a separately started server. The interface defaults to Simplified Chinese and also supports English; top-bar and Settings controls change it immediately and retain the preference across restarts. Version 0.2.0 is an Iteration 0 framework with fictional read-only examples. The clinical workflows in this presentation describe required future behavior.</a:t>
            </a:r>
          </a:p>
          <a:p xmlns:a="http://schemas.openxmlformats.org/drawingml/2006/main">
            <a:r>
              <a:t/>
            </a:r>
          </a:p>
          <a:p xmlns:a="http://schemas.openxmlformats.org/drawingml/2006/main">
            <a:r>
              <a:t>Sources: latest user desktop/language instruction; repository README.md, docs/ARCHITECTURE.md and docs/ITERATION_PLAN.md. Original requirements: 医生用户需求.docx, 系统额外功能.docx and Doctor Work Platform - User Requirements.pptx, slides 3–11. Original cover illustration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The team builds the Windows doctor desktop and its required business services. The patient and cloud-administration applications remain external systems. Their future interfaces share patient identifiers, grants and clinical contracts. The desktop renderer calls embedded Fastify services through a private protocol without opening a network listener. The common capability layer remains a logical service boundary. The installed application has persistent Chinese and English display preferences. Current examples use a synthetic doctor and patient data; real identity, clinical writes and external provider connections remain planned.</a:t>
            </a:r>
          </a:p>
          <a:p xmlns:a="http://schemas.openxmlformats.org/drawingml/2006/main">
            <a:r>
              <a:t/>
            </a:r>
          </a:p>
          <a:p xmlns:a="http://schemas.openxmlformats.org/drawingml/2006/main">
            <a:r>
              <a:t>Sources: 系统额外功能.docx, front-office/middle-platform/cloud-administration sections; latest desktop/language instruction;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 requirements form six core groups. Patient search supports name, patient ID, symptoms and admission date. Records include medical history and allergies. Consultations automatically save their business records and support audio/video recording and export. Templates support medical documentation, senior physicians review and archive records, and orders cover medication, examinations and laboratory tests. Remote consultation and health management support continuing care. Login supports factors such as email, SMS and facial verification, with combinations controlled by policy. Optional peer collaboration can be disabled without affecting core workflows.</a:t>
            </a:r>
          </a:p>
          <a:p xmlns:a="http://schemas.openxmlformats.org/drawingml/2006/main">
            <a:r>
              <a:t/>
            </a:r>
          </a:p>
          <a:p xmlns:a="http://schemas.openxmlformats.org/drawingml/2006/main">
            <a:r>
              <a:t>Sources and design basis: 医生用户需求.docx：账号安全登录至使用体验；Doctor Work Platform - User Requirements.pptx, slides 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Consultations and medical records use separate state flows. A patient request enters the waiting state. The doctor accepts it before starting the session. Completion saves messages, attachments and recording references. Doctors can draft records during the session and complete them afterward. A junior physician submits the record for senior review. Rejection returns it to draft, while approval allows archiving. Later corrections create a new version and retain the original. Medical orders have separate create, revise and stop actions, each with an actor and version. The server recognizes repeated submissions to avoid duplicate records. These state rules are our proposed implementation of the requirements.</a:t>
            </a:r>
          </a:p>
          <a:p xmlns:a="http://schemas.openxmlformats.org/drawingml/2006/main">
            <a:r>
              <a:t/>
            </a:r>
          </a:p>
          <a:p xmlns:a="http://schemas.openxmlformats.org/drawingml/2006/main">
            <a:r>
              <a:t>Sources and design basis: 医生用户需求.docx：在线问诊服务、电子病历管理。状态机、版本更正及重复提交处理为设计建议。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Doctors initiate remote consultations or accept invitations. Each request identifies the patient, participating experts, permitted materials and access period. Experts discuss within that scope. The system compiles structured findings into a draft report, and the responsible doctor confirms the final version. We do not assume automatic diagnosis. Temporary access ends when the consultation closes. Health management is a cycle: doctors create plans, the system receives patient or device readings, validates format, time and duplicates, and displays trends. Reminder jobs send notifications and record failures for retry. Doctors assess progress and revise plans. Remote consultation remains a core doctor capability, with an administrator setting to enable it for an institution.</a:t>
            </a:r>
          </a:p>
          <a:p xmlns:a="http://schemas.openxmlformats.org/drawingml/2006/main">
            <a:r>
              <a:t/>
            </a:r>
          </a:p>
          <a:p xmlns:a="http://schemas.openxmlformats.org/drawingml/2006/main">
            <a:r>
              <a:t>Sources and design basis: 医生用户需求.docx：远程会诊功能、患者健康管理；系统额外功能.docx：健康数据中台、消息推送、模块开关。报告确认、数据校验及重试为设计建议。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Electron owns the application window and service lifecycle. Its sandboxed React renderer has context isolation and no Node integration. carelink://app serves packaged assets; requests under /api/v1 are dispatched with Fastify app.inject. No TCP listener is opened in desktop mode. The main process opens SQLite at %APPDATA%\CareLink Doctor\data\doctor.sqlite and closes services when the application exits. The six domain migrations and public DTOs remain independently owned. Read-only synthetic data works now; clinical writes return 501 FEATURE_NOT_IMPLEMENTED. Object storage, queues/workers and identity, hospital/device, media and notification providers are reserved future capabilities. Language codes are zh-CN and en, stored as a persistent application preference. A owns desktop/locale foundations while each domain owner maintains its catalog. API paths, enums and IDs remain neutral. Optional browser tooling is only for development.</a:t>
            </a:r>
          </a:p>
          <a:p xmlns:a="http://schemas.openxmlformats.org/drawingml/2006/main">
            <a:r>
              <a:t/>
            </a:r>
          </a:p>
          <a:p xmlns:a="http://schemas.openxmlformats.org/drawingml/2006/main">
            <a:r>
              <a:t>Sources: apps/desktop/src/main.ts and protocol.ts; apps/desktop/package.json; apps/api/src/app.ts; docs/ARCHITECTURE.md and docs/API_CONVENTIONS.md. No production authentication or live media delivery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Successful login does not grant access to every patient. Each query, file download, export and live-session join checks the doctor's role and the patient's permitted scope. Temporary consultation access also checks the task and validity period. Closing the task, expiry or revocation must deny the next request and invalidate related access credentials. Hiding a frontend button is insufficient. Logs record who acted, when, on which object, and whether the action succeeded. Doctors inspect their own actions, while administrators access platform audits according to permission. Data is encrypted in transit and storage, ordinary logs avoid full clinical text, and system anomalies are monitored. Default recording behavior, the notification and confirmation process, and retention periods require customer agreement.</a:t>
            </a:r>
          </a:p>
          <a:p xmlns:a="http://schemas.openxmlformats.org/drawingml/2006/main">
            <a:r>
              <a:t/>
            </a:r>
          </a:p>
          <a:p xmlns:a="http://schemas.openxmlformats.org/drawingml/2006/main">
            <a:r>
              <a:t>Sources and design basis: 医生用户需求.docx：账号安全登录、操作日志和审计；系统额外功能.docx：个人档案授权、统一权限引擎。逐请求校验及安全措施为设计建议。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 patient ID anchors the data model. A patient has multiple care encounters. Each encounter can link record and order versions, consultation materials and reports. Measurements, plans and assessments also belong to that patient, and plans generate reminder jobs. Audit events identify business records by object type and ID. Source, collection time and version preserve history. When saving business state, the backend also saves pending task events. Workers then send notifications or generate files. Workers deduplicate events by ID and use idempotency keys when supported by notification channels, reducing the risk of duplicate reminders during retries. A restore drill verifies that backups can actually recover the data.</a:t>
            </a:r>
          </a:p>
          <a:p xmlns:a="http://schemas.openxmlformats.org/drawingml/2006/main">
            <a:r>
              <a:t/>
            </a:r>
          </a:p>
          <a:p xmlns:a="http://schemas.openxmlformats.org/drawingml/2006/main">
            <a:r>
              <a:t>Sources and design basis: 医生用户需求.docx：记录保存、病历管理、健康管理、日志；系统额外功能.docx：数据来源与版本。实体关系、事务事件和恢复演练为设计建议。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Five members have stable vertical ownership: A desktop, platform, identity and audit; B patients; C online encounters and expert consultations; D records, review and orders; E health and optional community. Each owns its module contracts, implementation, messages and tests. Iteration 0 supplies Windows installation, the local synthetic framework and persistent Chinese/English switching. Iteration 1 adds real identity/access, patient edits, text encounters and drafts. Iteration 2 completes record review/archive, orders, care plans, reminders with a test provider and audit/export foundations. Iteration 3 adds images, video/recording under agreed policy and expert consultation. Iteration 4 adds live provider integration and release/recovery checks. Iteration 5 is the optional isolated professional community. The nine-week core and two-week optional estimates assume five available developers and require replanning around actual availability.</a:t>
            </a:r>
          </a:p>
          <a:p xmlns:a="http://schemas.openxmlformats.org/drawingml/2006/main">
            <a:r>
              <a:t/>
            </a:r>
          </a:p>
          <a:p xmlns:a="http://schemas.openxmlformats.org/drawingml/2006/main">
            <a:r>
              <a:t>Current acceptance covers installer launch, all-page reads, both languages, restart persistence and unavailable-command behavior. Future gates cover approved archive, expiry/revocation including files/media, and retry-safe reminder delivery. Community never automatically copies clinical data, requires manual de-identification, supports join/leave, named/anonymous discussion, likes/comments/private messages and reporting, and must suppress social notifications when disabled. Community content is for professional discussion and cannot issue a treatment plan for a specific patient.</a:t>
            </a:r>
          </a:p>
          <a:p xmlns:a="http://schemas.openxmlformats.org/drawingml/2006/main">
            <a:r>
              <a:t/>
            </a:r>
          </a:p>
          <a:p xmlns:a="http://schemas.openxmlformats.org/drawingml/2006/main">
            <a:r>
              <a:t>Sources: docs/ITERATION_PLAN.md, docs/TEAM_WORKFLOW.md and docs/REQUIREMENTS_TRACEABILITY.md; original doctor/platform requirements. Confirm performance, recording, retention and provider decisions before dependent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17a4dcb43342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1f1cf6132b46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4c44eaa405948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00ef58b6494a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b102c0796642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d4738edd1448a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0118c397a449f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f9b3ca6a2e8499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71cf41b9264c61" /><Relationship Type="http://schemas.openxmlformats.org/officeDocument/2006/relationships/image" Target="/ppt/media/image.png" Id="Rde93ab9bc38043c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9bdaa99897b4914" /><Relationship Type="http://schemas.openxmlformats.org/officeDocument/2006/relationships/image" Target="/ppt/media/image2.png" Id="R561eddaf29d14c7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de93ab9bc38043c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561eddaf29d14c75">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11c5963e2a4cfb" /><Relationship Type="http://schemas.openxmlformats.org/officeDocument/2006/relationships/slideLayout" Target="/ppt/slideLayouts/slideLayout1.xml" Id="Rba5ce5fb108a450c" /><Relationship Type="http://schemas.openxmlformats.org/officeDocument/2006/relationships/slideLayout" Target="/ppt/slideLayouts/slideLayout2.xml" Id="R5665e728fadc4ef0" /><Relationship Type="http://schemas.openxmlformats.org/officeDocument/2006/relationships/slideLayout" Target="/ppt/slideLayouts/slideLayout3.xml" Id="Rd946268d0e784283" /><Relationship Type="http://schemas.openxmlformats.org/officeDocument/2006/relationships/slideLayout" Target="/ppt/slideLayouts/slideLayout4.xml" Id="R3143e19bd73442ad" /><Relationship Type="http://schemas.openxmlformats.org/officeDocument/2006/relationships/slideLayout" Target="/ppt/slideLayouts/slideLayout5.xml" Id="Re1355b124d604f89" /><Relationship Type="http://schemas.openxmlformats.org/officeDocument/2006/relationships/slideLayout" Target="/ppt/slideLayouts/slideLayout6.xml" Id="Ra755cfbe1e014d07" /><Relationship Type="http://schemas.openxmlformats.org/officeDocument/2006/relationships/slideLayout" Target="/ppt/slideLayouts/slideLayout7.xml" Id="R1692107377e446ed" /><Relationship Type="http://schemas.openxmlformats.org/officeDocument/2006/relationships/slideLayout" Target="/ppt/slideLayouts/slideLayout8.xml" Id="R6818e298bb8f4583" /><Relationship Type="http://schemas.openxmlformats.org/officeDocument/2006/relationships/slideLayout" Target="/ppt/slideLayouts/slideLayout9.xml" Id="R55356d06756c49b8" /><Relationship Type="http://schemas.openxmlformats.org/officeDocument/2006/relationships/slideLayout" Target="/ppt/slideLayouts/slideLayout10.xml" Id="R6fac70b22a8f43d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ce5fb108a450c"/>
    <p:sldLayoutId xmlns:r="http://schemas.openxmlformats.org/officeDocument/2006/relationships" id="2147483650" r:id="R5665e728fadc4ef0"/>
    <p:sldLayoutId xmlns:r="http://schemas.openxmlformats.org/officeDocument/2006/relationships" id="2147483651" r:id="Rd946268d0e784283"/>
    <p:sldLayoutId xmlns:r="http://schemas.openxmlformats.org/officeDocument/2006/relationships" id="2147483652" r:id="R3143e19bd73442ad"/>
    <p:sldLayoutId xmlns:r="http://schemas.openxmlformats.org/officeDocument/2006/relationships" id="2147483653" r:id="Re1355b124d604f89"/>
    <p:sldLayoutId xmlns:r="http://schemas.openxmlformats.org/officeDocument/2006/relationships" id="2147483654" r:id="Ra755cfbe1e014d07"/>
    <p:sldLayoutId xmlns:r="http://schemas.openxmlformats.org/officeDocument/2006/relationships" id="2147483655" r:id="R1692107377e446ed"/>
    <p:sldLayoutId xmlns:r="http://schemas.openxmlformats.org/officeDocument/2006/relationships" id="2147483656" r:id="R6818e298bb8f4583"/>
    <p:sldLayoutId xmlns:r="http://schemas.openxmlformats.org/officeDocument/2006/relationships" id="2147483657" r:id="R55356d06756c49b8"/>
    <p:sldLayoutId xmlns:r="http://schemas.openxmlformats.org/officeDocument/2006/relationships" id="2147483658" r:id="R6fac70b22a8f43d4"/>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61f8adaa4a47b6" /><Relationship Type="http://schemas.openxmlformats.org/officeDocument/2006/relationships/image" Target="/ppt/media/image3.png" Id="R777c1d2574554d13" /><Relationship Type="http://schemas.openxmlformats.org/officeDocument/2006/relationships/notesSlide" Target="/ppt/notesSlides/notesSlide1.xml" Id="R973ee35976af4a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b897ca030aa4807" /><Relationship Type="http://schemas.openxmlformats.org/officeDocument/2006/relationships/notesSlide" Target="/ppt/notesSlides/notesSlide2.xml" Id="Rf401851880ad4a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f3ae9ebc3904d5b" /><Relationship Type="http://schemas.openxmlformats.org/officeDocument/2006/relationships/notesSlide" Target="/ppt/notesSlides/notesSlide3.xml" Id="R0c28b8a3201a49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f4d9d7e2559e4b41" /><Relationship Type="http://schemas.openxmlformats.org/officeDocument/2006/relationships/notesSlide" Target="/ppt/notesSlides/notesSlide4.xml" Id="Rcfdecec9b1354b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5da65aad8a254160" /><Relationship Type="http://schemas.openxmlformats.org/officeDocument/2006/relationships/notesSlide" Target="/ppt/notesSlides/notesSlide5.xml" Id="Rc8f521c597534d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ea338fbd9224cc7" /><Relationship Type="http://schemas.openxmlformats.org/officeDocument/2006/relationships/notesSlide" Target="/ppt/notesSlides/notesSlide6.xml" Id="R218df41f828144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7927664c0bc40fd" /><Relationship Type="http://schemas.openxmlformats.org/officeDocument/2006/relationships/notesSlide" Target="/ppt/notesSlides/notesSlide7.xml" Id="R599e1e9237e44c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85107546ec4f4d" /><Relationship Type="http://schemas.openxmlformats.org/officeDocument/2006/relationships/notesSlide" Target="/ppt/notesSlides/notesSlide8.xml" Id="R2f9c9e67c27d49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426844dbbc74534" /><Relationship Type="http://schemas.openxmlformats.org/officeDocument/2006/relationships/notesSlide" Target="/ppt/notesSlides/notesSlide9.xml" Id="R219be5d42bed48f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94324DD7-B2A7-C70F-0160-11F227D46A09}"/>
              </a:ext>
            </a:extLst>
          </p:cNvPr>
          <p:cNvSpPr>
            <a:spLocks xmlns:a="http://schemas.openxmlformats.org/drawingml/2006/main" noGrp="1"/>
          </p:cNvSpPr>
          <p:nvPr>
            <p:ph type="ctrTitle" idx="0"/>
          </p:nvPr>
        </p:nvSpPr>
        <p:spPr>
          <a:xfrm xmlns:a="http://schemas.openxmlformats.org/drawingml/2006/main">
            <a:off x="626364" y="628650"/>
            <a:ext cx="10934700" cy="2047875"/>
          </a:xfrm>
        </p:spPr>
        <p:txBody>
          <a:bodyPr xmlns:a="http://schemas.openxmlformats.org/drawingml/2006/main" lIns="0" tIns="0" rIns="0" bIns="0" anchor="ctr">
            <a:noAutofit/>
          </a:bodyPr>
          <a:lstStyle xmlns:a="http://schemas.openxmlformats.org/drawingml/2006/main"/>
          <a:p xmlns:a="http://schemas.openxmlformats.org/drawingml/2006/main">
            <a:pPr>
              <a:buNone/>
              <a:defRPr sz="4725" b="1">
                <a:solidFill>
                  <a:srgbClr val="2D607A"/>
                </a:solidFill>
                <a:latin typeface="Inter"/>
                <a:ea typeface="Inter"/>
                <a:cs typeface="Inter"/>
              </a:defRPr>
            </a:pPr>
            <a:r>
              <a:rPr sz="4725" b="1">
                <a:solidFill>
                  <a:srgbClr val="2D607A"/>
                </a:solidFill>
                <a:latin typeface="Inter"/>
                <a:ea typeface="Inter"/>
                <a:cs typeface="Inter"/>
              </a:rPr>
              <a:t>Doctor Service System</a:t>
            </a:r>
          </a:p>
          <a:p xmlns:a="http://schemas.openxmlformats.org/drawingml/2006/main">
            <a:pPr>
              <a:buNone/>
              <a:defRPr sz="4725" b="1">
                <a:solidFill>
                  <a:srgbClr val="2D607A"/>
                </a:solidFill>
                <a:latin typeface="Inter"/>
                <a:ea typeface="Inter"/>
                <a:cs typeface="Inter"/>
              </a:defRPr>
            </a:pPr>
            <a:r>
              <a:rPr sz="4725" b="1">
                <a:solidFill>
                  <a:srgbClr val="2D607A"/>
                </a:solidFill>
                <a:latin typeface="Inter"/>
                <a:ea typeface="Inter"/>
                <a:cs typeface="Inter"/>
              </a:rPr>
              <a:t>Requirements &amp; Architecture</a:t>
            </a:r>
          </a:p>
        </p:txBody>
      </p:sp>
      <p:sp>
        <p:nvSpPr>
          <p:cNvPr id="5" name="Subtitle 4">
            <a:extLst xmlns:a="http://schemas.openxmlformats.org/drawingml/2006/main">
              <a:ext uri="{FF2B5EF4-FFF2-40B4-BE49-F238E27FC236}">
                <a16:creationId xmlns:a16="http://schemas.microsoft.com/office/drawing/2014/main" id="{43501A55-18E1-9822-7454-1E3D85380DC1}"/>
              </a:ext>
            </a:extLst>
          </p:cNvPr>
          <p:cNvSpPr>
            <a:spLocks xmlns:a="http://schemas.openxmlformats.org/drawingml/2006/main" noGrp="1"/>
          </p:cNvSpPr>
          <p:nvPr>
            <p:ph type="subTitle" idx="1"/>
          </p:nvPr>
        </p:nvSpPr>
        <p:spPr>
          <a:xfrm xmlns:a="http://schemas.openxmlformats.org/drawingml/2006/main">
            <a:off x="642652" y="3133725"/>
            <a:ext cx="10572750" cy="666750"/>
          </a:xfrm>
        </p:spPr>
        <p:txBody>
          <a:bodyPr xmlns:a="http://schemas.openxmlformats.org/drawingml/2006/main" lIns="0" tIns="0" rIns="0" bIns="0" anchor="ctr">
            <a:noAutofit/>
          </a:bodyPr>
          <a:lstStyle xmlns:a="http://schemas.openxmlformats.org/drawingml/2006/main"/>
          <a:p xmlns:a="http://schemas.openxmlformats.org/drawingml/2006/main">
            <a:pPr>
              <a:buNone/>
              <a:defRPr sz="1875">
                <a:solidFill>
                  <a:srgbClr val="142C38"/>
                </a:solidFill>
                <a:latin typeface="Inter"/>
                <a:ea typeface="Inter"/>
                <a:cs typeface="Inter"/>
              </a:defRPr>
            </a:pPr>
            <a:r>
              <a:rPr sz="1875">
                <a:solidFill>
                  <a:srgbClr val="142C38"/>
                </a:solidFill>
                <a:latin typeface="Inter"/>
                <a:ea typeface="Inter"/>
                <a:cs typeface="Inter"/>
              </a:rPr>
              <a:t>Smart Medical and Elderly Care Big Data Public Service Platform</a:t>
            </a:r>
          </a:p>
        </p:txBody>
      </p:sp>
      <p:sp>
        <p:nvSpPr>
          <p:cNvPr id="6" name="content-1">
            <a:extLst xmlns:a="http://schemas.openxmlformats.org/drawingml/2006/main">
              <a:ext uri="{FF2B5EF4-FFF2-40B4-BE49-F238E27FC236}">
                <a16:creationId xmlns:a16="http://schemas.microsoft.com/office/drawing/2014/main" id="{9100FD7A-A133-4D14-A0BD-DB664FA7836E}"/>
              </a:ext>
            </a:extLst>
          </p:cNvPr>
          <p:cNvSpPr>
            <a:spLocks xmlns:a="http://schemas.openxmlformats.org/drawingml/2006/main" noGrp="1"/>
          </p:cNvSpPr>
          <p:nvPr/>
        </p:nvSpPr>
        <p:spPr>
          <a:xfrm xmlns:a="http://schemas.openxmlformats.org/drawingml/2006/main">
            <a:off x="642652" y="39719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2D607A"/>
                </a:solidFill>
                <a:latin typeface="Inter"/>
                <a:ea typeface="Inter"/>
                <a:cs typeface="Inter"/>
              </a:defRPr>
            </a:pPr>
            <a:r>
              <a:rPr sz="1800" b="0">
                <a:solidFill>
                  <a:srgbClr val="2D607A"/>
                </a:solidFill>
                <a:latin typeface="Inter"/>
                <a:ea typeface="Inter"/>
                <a:cs typeface="Inter"/>
              </a:rPr>
              <a:t>Windows desktop with Chinese and English</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77c1d2574554d13"/>
          <a:srcRect xmlns:a="http://schemas.openxmlformats.org/drawingml/2006/main" l="0" t="24229" r="0" b="24229"/>
          <a:stretch xmlns:a="http://schemas.openxmlformats.org/drawingml/2006/main">
            <a:fillRect l="0" t="0" r="0" b="0"/>
          </a:stretch>
        </p:blipFill>
        <p:spPr>
          <a:xfrm xmlns:a="http://schemas.openxmlformats.org/drawingml/2006/main">
            <a:off x="0" y="4763357"/>
            <a:ext cx="12192000" cy="2094643"/>
          </a:xfrm>
          <a:prstGeom xmlns:a="http://schemas.openxmlformats.org/drawingml/2006/main" prst="rect">
            <a:avLst/>
          </a:prstGeom>
        </p:spPr>
      </p:pic>
    </p:spTree>
    <p:extLst>
      <p:ext uri="{BB962C8B-B14F-4D97-AF65-F5344CB8AC3E}">
        <p14:creationId xmlns:p14="http://schemas.microsoft.com/office/powerpoint/2010/main" val="33124961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56" name="Google Shape;556;p61">
            <a:extLst xmlns:a="http://schemas.openxmlformats.org/drawingml/2006/main">
              <a:ext uri="{FF2B5EF4-FFF2-40B4-BE49-F238E27FC236}">
                <a16:creationId xmlns:a16="http://schemas.microsoft.com/office/drawing/2014/main" id="{AF07D16B-BE65-4740-8127-E9DD6454482C}"/>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23</a:t>
            </a:fld>
            <a:endParaRPr/>
          </a:p>
        </p:txBody>
      </p:sp>
      <p:sp>
        <p:nvSpPr>
          <p:cNvPr id="557" name="Title Reused">
            <a:extLst xmlns:a="http://schemas.openxmlformats.org/drawingml/2006/main">
              <a:ext uri="{FF2B5EF4-FFF2-40B4-BE49-F238E27FC236}">
                <a16:creationId xmlns:a16="http://schemas.microsoft.com/office/drawing/2014/main" id="{91034618-B812-4088-8401-5746353B660E}"/>
              </a:ext>
            </a:extLst>
          </p:cNvPr>
          <p:cNvSpPr>
            <a:spLocks xmlns:a="http://schemas.openxmlformats.org/drawingml/2006/main" noGrp="1"/>
          </p:cNvSpPr>
          <p:nvPr>
            <p:ph type="title" idx="0"/>
          </p:nvPr>
        </p:nvSpPr>
        <p:spPr>
          <a:xfrm xmlns:a="http://schemas.openxmlformats.org/drawingml/2006/main">
            <a:off x="393668" y="344043"/>
            <a:ext cx="11404568" cy="9048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The doctor subsystem in the platform</a:t>
            </a:r>
            <a:endParaRPr/>
          </a:p>
        </p:txBody>
      </p:sp>
      <p:sp>
        <p:nvSpPr>
          <p:cNvPr id="2" name="Footer Placeholder 1">
            <a:extLst xmlns:a="http://schemas.openxmlformats.org/drawingml/2006/main">
              <a:ext uri="{FF2B5EF4-FFF2-40B4-BE49-F238E27FC236}">
                <a16:creationId xmlns:a16="http://schemas.microsoft.com/office/drawing/2014/main" id="{30487E6C-E679-F541-4B4C-695C244D809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58" name="node-2">
            <a:extLst xmlns:a="http://schemas.openxmlformats.org/drawingml/2006/main">
              <a:ext uri="{FF2B5EF4-FFF2-40B4-BE49-F238E27FC236}">
                <a16:creationId xmlns:a16="http://schemas.microsoft.com/office/drawing/2014/main" id="{71759F13-AE78-4AF1-9B65-6D14CD97D83C}"/>
              </a:ext>
            </a:extLst>
          </p:cNvPr>
          <p:cNvSpPr>
            <a:spLocks xmlns:a="http://schemas.openxmlformats.org/drawingml/2006/main" noGrp="1"/>
          </p:cNvSpPr>
          <p:nvPr/>
        </p:nvSpPr>
        <p:spPr>
          <a:xfrm xmlns:a="http://schemas.openxmlformats.org/drawingml/2006/main">
            <a:off x="400050" y="1733550"/>
            <a:ext cx="3619500" cy="64770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b="0">
                <a:solidFill>
                  <a:srgbClr val="142C38"/>
                </a:solidFill>
                <a:latin typeface="Inter"/>
                <a:ea typeface="Inter"/>
                <a:cs typeface="Inter"/>
              </a:defRPr>
            </a:pPr>
            <a:r>
              <a:rPr sz="1950" b="0">
                <a:solidFill>
                  <a:srgbClr val="142C38"/>
                </a:solidFill>
                <a:latin typeface="Inter"/>
                <a:ea typeface="Inter"/>
                <a:cs typeface="Inter"/>
              </a:rPr>
              <a:t>Patient app</a:t>
            </a:r>
          </a:p>
        </p:txBody>
      </p:sp>
      <p:sp>
        <p:nvSpPr>
          <p:cNvPr id="559" name="content-3">
            <a:extLst xmlns:a="http://schemas.openxmlformats.org/drawingml/2006/main">
              <a:ext uri="{FF2B5EF4-FFF2-40B4-BE49-F238E27FC236}">
                <a16:creationId xmlns:a16="http://schemas.microsoft.com/office/drawing/2014/main" id="{832F3665-5AC8-4630-A435-8569919C0CF8}"/>
              </a:ext>
            </a:extLst>
          </p:cNvPr>
          <p:cNvSpPr>
            <a:spLocks xmlns:a="http://schemas.openxmlformats.org/drawingml/2006/main" noGrp="1"/>
          </p:cNvSpPr>
          <p:nvPr/>
        </p:nvSpPr>
        <p:spPr>
          <a:xfrm xmlns:a="http://schemas.openxmlformats.org/drawingml/2006/main">
            <a:off x="438150" y="2552700"/>
            <a:ext cx="3543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Authorize records, upload readings</a:t>
            </a:r>
          </a:p>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Request consultations, receive reminders</a:t>
            </a:r>
          </a:p>
        </p:txBody>
      </p:sp>
      <p:sp>
        <p:nvSpPr>
          <p:cNvPr id="560" name="node-4">
            <a:extLst xmlns:a="http://schemas.openxmlformats.org/drawingml/2006/main">
              <a:ext uri="{FF2B5EF4-FFF2-40B4-BE49-F238E27FC236}">
                <a16:creationId xmlns:a16="http://schemas.microsoft.com/office/drawing/2014/main" id="{82F6B9C4-79DB-4646-A2D3-7E5C1AE4E474}"/>
              </a:ext>
            </a:extLst>
          </p:cNvPr>
          <p:cNvSpPr>
            <a:spLocks xmlns:a="http://schemas.openxmlformats.org/drawingml/2006/main" noGrp="1"/>
          </p:cNvSpPr>
          <p:nvPr/>
        </p:nvSpPr>
        <p:spPr>
          <a:xfrm xmlns:a="http://schemas.openxmlformats.org/drawingml/2006/main">
            <a:off x="4286250" y="1733550"/>
            <a:ext cx="3619500" cy="647700"/>
          </a:xfrm>
          <a:prstGeom xmlns:a="http://schemas.openxmlformats.org/drawingml/2006/main" prst="rect">
            <a:avLst/>
          </a:prstGeom>
          <a:solidFill xmlns:a="http://schemas.openxmlformats.org/drawingml/2006/main">
            <a:srgbClr val="2D607A"/>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b="1">
                <a:solidFill>
                  <a:srgbClr val="FFFFFF"/>
                </a:solidFill>
                <a:latin typeface="Inter"/>
                <a:ea typeface="Inter"/>
                <a:cs typeface="Inter"/>
              </a:defRPr>
            </a:pPr>
            <a:r>
              <a:rPr sz="1950" b="1">
                <a:solidFill>
                  <a:srgbClr val="FFFFFF"/>
                </a:solidFill>
                <a:latin typeface="Inter"/>
                <a:ea typeface="Inter"/>
                <a:cs typeface="Inter"/>
              </a:rPr>
              <a:t>Windows doctor desktop</a:t>
            </a:r>
          </a:p>
        </p:txBody>
      </p:sp>
      <p:sp>
        <p:nvSpPr>
          <p:cNvPr id="561" name="content-5">
            <a:extLst xmlns:a="http://schemas.openxmlformats.org/drawingml/2006/main">
              <a:ext uri="{FF2B5EF4-FFF2-40B4-BE49-F238E27FC236}">
                <a16:creationId xmlns:a16="http://schemas.microsoft.com/office/drawing/2014/main" id="{7F1C2D95-9CC1-4CE6-8FA8-1DCE31CA8D4C}"/>
              </a:ext>
            </a:extLst>
          </p:cNvPr>
          <p:cNvSpPr>
            <a:spLocks xmlns:a="http://schemas.openxmlformats.org/drawingml/2006/main" noGrp="1"/>
          </p:cNvSpPr>
          <p:nvPr/>
        </p:nvSpPr>
        <p:spPr>
          <a:xfrm xmlns:a="http://schemas.openxmlformats.org/drawingml/2006/main">
            <a:off x="4324350" y="2552700"/>
            <a:ext cx="3543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Install and run locally</a:t>
            </a:r>
          </a:p>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Switch Chinese / English</a:t>
            </a:r>
          </a:p>
        </p:txBody>
      </p:sp>
      <p:sp>
        <p:nvSpPr>
          <p:cNvPr id="562" name="node-6">
            <a:extLst xmlns:a="http://schemas.openxmlformats.org/drawingml/2006/main">
              <a:ext uri="{FF2B5EF4-FFF2-40B4-BE49-F238E27FC236}">
                <a16:creationId xmlns:a16="http://schemas.microsoft.com/office/drawing/2014/main" id="{62C8F69B-1162-49F8-9BFD-ACCB05B1CB06}"/>
              </a:ext>
            </a:extLst>
          </p:cNvPr>
          <p:cNvSpPr>
            <a:spLocks xmlns:a="http://schemas.openxmlformats.org/drawingml/2006/main" noGrp="1"/>
          </p:cNvSpPr>
          <p:nvPr/>
        </p:nvSpPr>
        <p:spPr>
          <a:xfrm xmlns:a="http://schemas.openxmlformats.org/drawingml/2006/main">
            <a:off x="8172450" y="1733550"/>
            <a:ext cx="3619500" cy="64770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950" b="0">
                <a:solidFill>
                  <a:srgbClr val="142C38"/>
                </a:solidFill>
                <a:latin typeface="Inter"/>
                <a:ea typeface="Inter"/>
                <a:cs typeface="Inter"/>
              </a:defRPr>
            </a:pPr>
            <a:r>
              <a:rPr sz="1950" b="0">
                <a:solidFill>
                  <a:srgbClr val="142C38"/>
                </a:solidFill>
                <a:latin typeface="Inter"/>
                <a:ea typeface="Inter"/>
                <a:cs typeface="Inter"/>
              </a:rPr>
              <a:t>Cloud administration</a:t>
            </a:r>
          </a:p>
        </p:txBody>
      </p:sp>
      <p:sp>
        <p:nvSpPr>
          <p:cNvPr id="563" name="content-7">
            <a:extLst xmlns:a="http://schemas.openxmlformats.org/drawingml/2006/main">
              <a:ext uri="{FF2B5EF4-FFF2-40B4-BE49-F238E27FC236}">
                <a16:creationId xmlns:a16="http://schemas.microsoft.com/office/drawing/2014/main" id="{20A658FC-F342-4364-8B17-79D1FC1FDF82}"/>
              </a:ext>
            </a:extLst>
          </p:cNvPr>
          <p:cNvSpPr>
            <a:spLocks xmlns:a="http://schemas.openxmlformats.org/drawingml/2006/main" noGrp="1"/>
          </p:cNvSpPr>
          <p:nvPr/>
        </p:nvSpPr>
        <p:spPr>
          <a:xfrm xmlns:a="http://schemas.openxmlformats.org/drawingml/2006/main">
            <a:off x="8210550" y="2552700"/>
            <a:ext cx="3543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Configure roles and rules</a:t>
            </a:r>
          </a:p>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Moderate content, oversee operations</a:t>
            </a:r>
          </a:p>
        </p:txBody>
      </p:sp>
      <p:sp>
        <p:nvSpPr>
          <p:cNvPr id="564" name="node-8">
            <a:extLst xmlns:a="http://schemas.openxmlformats.org/drawingml/2006/main">
              <a:ext uri="{FF2B5EF4-FFF2-40B4-BE49-F238E27FC236}">
                <a16:creationId xmlns:a16="http://schemas.microsoft.com/office/drawing/2014/main" id="{53243370-7BF7-4658-8FDA-49DE2BFDE011}"/>
              </a:ext>
            </a:extLst>
          </p:cNvPr>
          <p:cNvSpPr>
            <a:spLocks xmlns:a="http://schemas.openxmlformats.org/drawingml/2006/main" noGrp="1"/>
          </p:cNvSpPr>
          <p:nvPr/>
        </p:nvSpPr>
        <p:spPr>
          <a:xfrm xmlns:a="http://schemas.openxmlformats.org/drawingml/2006/main">
            <a:off x="400050" y="4238625"/>
            <a:ext cx="11391900" cy="59055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2100" b="1">
                <a:solidFill>
                  <a:srgbClr val="142C38"/>
                </a:solidFill>
                <a:latin typeface="Inter"/>
                <a:ea typeface="Inter"/>
                <a:cs typeface="Inter"/>
              </a:defRPr>
            </a:pPr>
            <a:r>
              <a:rPr sz="2100" b="1">
                <a:solidFill>
                  <a:srgbClr val="142C38"/>
                </a:solidFill>
                <a:latin typeface="Inter"/>
                <a:ea typeface="Inter"/>
                <a:cs typeface="Inter"/>
              </a:rPr>
              <a:t>Shared capability layer</a:t>
            </a:r>
          </a:p>
        </p:txBody>
      </p:sp>
      <p:sp>
        <p:nvSpPr>
          <p:cNvPr id="565" name="line-9">
            <a:extLst xmlns:a="http://schemas.openxmlformats.org/drawingml/2006/main">
              <a:ext uri="{FF2B5EF4-FFF2-40B4-BE49-F238E27FC236}">
                <a16:creationId xmlns:a16="http://schemas.microsoft.com/office/drawing/2014/main" id="{3F4B8C40-B8A2-42EC-B14A-104D764392C2}"/>
              </a:ext>
            </a:extLst>
          </p:cNvPr>
          <p:cNvSpPr>
            <a:spLocks xmlns:a="http://schemas.openxmlformats.org/drawingml/2006/main" noGrp="1"/>
          </p:cNvSpPr>
          <p:nvPr/>
        </p:nvSpPr>
        <p:spPr>
          <a:xfrm xmlns:a="http://schemas.openxmlformats.org/drawingml/2006/main">
            <a:off x="2209800" y="3581400"/>
            <a:ext cx="0" cy="4476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6" name="line-10">
            <a:extLst xmlns:a="http://schemas.openxmlformats.org/drawingml/2006/main">
              <a:ext uri="{FF2B5EF4-FFF2-40B4-BE49-F238E27FC236}">
                <a16:creationId xmlns:a16="http://schemas.microsoft.com/office/drawing/2014/main" id="{09B49888-F045-4308-AF80-7D079AF9A71D}"/>
              </a:ext>
            </a:extLst>
          </p:cNvPr>
          <p:cNvSpPr>
            <a:spLocks xmlns:a="http://schemas.openxmlformats.org/drawingml/2006/main" noGrp="1"/>
          </p:cNvSpPr>
          <p:nvPr/>
        </p:nvSpPr>
        <p:spPr>
          <a:xfrm xmlns:a="http://schemas.openxmlformats.org/drawingml/2006/main">
            <a:off x="6096000" y="3581400"/>
            <a:ext cx="0" cy="4476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7" name="line-11">
            <a:extLst xmlns:a="http://schemas.openxmlformats.org/drawingml/2006/main">
              <a:ext uri="{FF2B5EF4-FFF2-40B4-BE49-F238E27FC236}">
                <a16:creationId xmlns:a16="http://schemas.microsoft.com/office/drawing/2014/main" id="{6F1442A6-D063-4841-89E1-781DECB0F477}"/>
              </a:ext>
            </a:extLst>
          </p:cNvPr>
          <p:cNvSpPr>
            <a:spLocks xmlns:a="http://schemas.openxmlformats.org/drawingml/2006/main" noGrp="1"/>
          </p:cNvSpPr>
          <p:nvPr/>
        </p:nvSpPr>
        <p:spPr>
          <a:xfrm xmlns:a="http://schemas.openxmlformats.org/drawingml/2006/main">
            <a:off x="9982200" y="3581400"/>
            <a:ext cx="0" cy="4476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8" name="line-12">
            <a:extLst xmlns:a="http://schemas.openxmlformats.org/drawingml/2006/main">
              <a:ext uri="{FF2B5EF4-FFF2-40B4-BE49-F238E27FC236}">
                <a16:creationId xmlns:a16="http://schemas.microsoft.com/office/drawing/2014/main" id="{1991E8F5-8C16-4D73-80FF-35E96E938DB6}"/>
              </a:ext>
            </a:extLst>
          </p:cNvPr>
          <p:cNvSpPr>
            <a:spLocks xmlns:a="http://schemas.openxmlformats.org/drawingml/2006/main" noGrp="1"/>
          </p:cNvSpPr>
          <p:nvPr/>
        </p:nvSpPr>
        <p:spPr>
          <a:xfrm xmlns:a="http://schemas.openxmlformats.org/drawingml/2006/main">
            <a:off x="2209800" y="4029075"/>
            <a:ext cx="77724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9" name="line-13">
            <a:extLst xmlns:a="http://schemas.openxmlformats.org/drawingml/2006/main">
              <a:ext uri="{FF2B5EF4-FFF2-40B4-BE49-F238E27FC236}">
                <a16:creationId xmlns:a16="http://schemas.microsoft.com/office/drawing/2014/main" id="{8A3037BC-A889-46C6-A0AC-56F783FC710B}"/>
              </a:ext>
            </a:extLst>
          </p:cNvPr>
          <p:cNvSpPr>
            <a:spLocks xmlns:a="http://schemas.openxmlformats.org/drawingml/2006/main" noGrp="1"/>
          </p:cNvSpPr>
          <p:nvPr/>
        </p:nvSpPr>
        <p:spPr>
          <a:xfrm xmlns:a="http://schemas.openxmlformats.org/drawingml/2006/main">
            <a:off x="6096000" y="4029075"/>
            <a:ext cx="0" cy="20955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70" name="content-14">
            <a:extLst xmlns:a="http://schemas.openxmlformats.org/drawingml/2006/main">
              <a:ext uri="{FF2B5EF4-FFF2-40B4-BE49-F238E27FC236}">
                <a16:creationId xmlns:a16="http://schemas.microsoft.com/office/drawing/2014/main" id="{3EA5CE30-E6CA-4F55-BE3B-877D0A8FDC78}"/>
              </a:ext>
            </a:extLst>
          </p:cNvPr>
          <p:cNvSpPr>
            <a:spLocks xmlns:a="http://schemas.openxmlformats.org/drawingml/2006/main" noGrp="1"/>
          </p:cNvSpPr>
          <p:nvPr/>
        </p:nvSpPr>
        <p:spPr>
          <a:xfrm xmlns:a="http://schemas.openxmlformats.org/drawingml/2006/main">
            <a:off x="552450" y="4933950"/>
            <a:ext cx="110775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Identity and authorization, health data, business services, messaging, audit and statistics</a:t>
            </a:r>
          </a:p>
        </p:txBody>
      </p:sp>
      <p:sp>
        <p:nvSpPr>
          <p:cNvPr id="571" name="content-15">
            <a:extLst xmlns:a="http://schemas.openxmlformats.org/drawingml/2006/main">
              <a:ext uri="{FF2B5EF4-FFF2-40B4-BE49-F238E27FC236}">
                <a16:creationId xmlns:a16="http://schemas.microsoft.com/office/drawing/2014/main" id="{067B0E0C-7AB7-4B00-9C62-2A29FB049D74}"/>
              </a:ext>
            </a:extLst>
          </p:cNvPr>
          <p:cNvSpPr>
            <a:spLocks xmlns:a="http://schemas.openxmlformats.org/drawingml/2006/main" noGrp="1"/>
          </p:cNvSpPr>
          <p:nvPr/>
        </p:nvSpPr>
        <p:spPr>
          <a:xfrm xmlns:a="http://schemas.openxmlformats.org/drawingml/2006/main">
            <a:off x="400050" y="5838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Language changes immediately and survives restart; other apps use agreed interfaces</a:t>
            </a:r>
          </a:p>
        </p:txBody>
      </p:sp>
    </p:spTree>
    <p:extLst>
      <p:ext uri="{BB962C8B-B14F-4D97-AF65-F5344CB8AC3E}">
        <p14:creationId xmlns:p14="http://schemas.microsoft.com/office/powerpoint/2010/main" val="14133009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15" y="6279928"/>
            <a:ext cx="518922" cy="241268"/>
          </a:xfrm>
        </p:spPr>
        <p:txBody>
          <a:bodyPr xmlns:a="http://schemas.openxmlformats.org/drawingml/2006/main"/>
          <a:lstStyle xmlns:a="http://schemas.openxmlformats.org/drawingml/2006/main"/>
          <a:p xmlns:a="http://schemas.openxmlformats.org/drawingml/2006/main">
            <a:pPr algn="r">
              <a:buNone/>
              <a:defRPr sz="1100">
                <a:solidFill>
                  <a:srgbClr val="546B77"/>
                </a:solidFill>
                <a:latin typeface="Inter"/>
                <a:ea typeface="Inter"/>
                <a:cs typeface="Inter"/>
              </a:defRPr>
            </a:pPr>
            <a:fld id="{202359C0-8A7A-196E-DD58-8E6569619F09}" type="slidenum">
              <a:rPr sz="1100">
                <a:solidFill>
                  <a:srgbClr val="546B77"/>
                </a:solidFill>
                <a:latin typeface="Inter"/>
                <a:ea typeface="Inter"/>
                <a:cs typeface="Inter"/>
              </a:rPr>
              <a:t>3</a:t>
            </a:fld>
            <a:endParaRPr/>
          </a:p>
        </p:txBody>
      </p:sp>
      <p:sp>
        <p:nvSpPr>
          <p:cNvPr id="3" name="Title Reused">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904875"/>
          </a:xfrm>
        </p:spPr>
        <p:txBody>
          <a:bodyPr xmlns:a="http://schemas.openxmlformats.org/drawingml/2006/main"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Six groups of core capabilities</a:t>
            </a:r>
          </a:p>
        </p:txBody>
      </p:sp>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graphicFrame>
        <p:nvGraphicFramePr>
          <p:cNvPr id="14" name=""/>
          <p:cNvGraphicFramePr/>
          <p:nvPr/>
        </p:nvGraphicFramePr>
        <p:xfrm>
          <a:off xmlns:a="http://schemas.openxmlformats.org/drawingml/2006/main" x="400050" y="1819275"/>
          <a:ext xmlns:a="http://schemas.openxmlformats.org/drawingml/2006/main" cx="11391900" cy="3714750"/>
        </p:xfrm>
        <a:graphic xmlns:a="http://schemas.openxmlformats.org/drawingml/2006/main">
          <a:graphicData uri="http://schemas.openxmlformats.org/drawingml/2006/table">
            <a:tbl>
              <a:tblPr/>
              <a:tblGrid>
                <a:gridCol w="2571750"/>
                <a:gridCol w="8820150"/>
              </a:tblGrid>
              <a:tr h="619125">
                <a:tc>
                  <a:txBody>
                    <a:bodyPr lIns="114300" tIns="57150" rIns="114300" bIns="57150">
                      <a:noAutofit/>
                    </a:bodyPr>
                    <a:lstStyle/>
                    <a:p>
                      <a:r>
                        <a:rPr sz="1875" b="1">
                          <a:solidFill>
                            <a:srgbClr val="2D607A"/>
                          </a:solidFill>
                          <a:latin typeface="Inter"/>
                          <a:ea typeface="Inter"/>
                          <a:cs typeface="Inter"/>
                        </a:rPr>
                        <a:t>Patient management</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Search with multiple filters, edit health records, group by disease or status</a:t>
                      </a:r>
                    </a:p>
                  </a:txBody>
                  <a:tcPr marL="91440" marR="91440" marT="45720" marB="45720" anchor="ctr">
                    <a:solidFill>
                      <a:srgbClr val="FFFFFF"/>
                    </a:solidFill>
                  </a:tcPr>
                </a:tc>
              </a:tr>
              <a:tr h="619125">
                <a:tc>
                  <a:txBody>
                    <a:bodyPr lIns="114300" tIns="57150" rIns="114300" bIns="57150">
                      <a:noAutofit/>
                    </a:bodyPr>
                    <a:lstStyle/>
                    <a:p>
                      <a:r>
                        <a:rPr sz="1875" b="1">
                          <a:solidFill>
                            <a:srgbClr val="2D607A"/>
                          </a:solidFill>
                          <a:latin typeface="Inter"/>
                          <a:ea typeface="Inter"/>
                          <a:cs typeface="Inter"/>
                        </a:rPr>
                        <a:t>Online consultation</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Receive requests, consult by text/images or video, record and export sessions</a:t>
                      </a:r>
                    </a:p>
                  </a:txBody>
                  <a:tcPr marL="91440" marR="91440" marT="45720" marB="45720" anchor="ctr">
                    <a:solidFill>
                      <a:srgbClr val="FFFFFF"/>
                    </a:solidFill>
                  </a:tcPr>
                </a:tc>
              </a:tr>
              <a:tr h="619125">
                <a:tc>
                  <a:txBody>
                    <a:bodyPr lIns="114300" tIns="57150" rIns="114300" bIns="57150">
                      <a:noAutofit/>
                    </a:bodyPr>
                    <a:lstStyle/>
                    <a:p>
                      <a:r>
                        <a:rPr sz="1875" b="1">
                          <a:solidFill>
                            <a:srgbClr val="2D607A"/>
                          </a:solidFill>
                          <a:latin typeface="Inter"/>
                          <a:ea typeface="Inter"/>
                          <a:cs typeface="Inter"/>
                        </a:rPr>
                        <a:t>Records and orders</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Structured records, senior review and archiving, create, revise and stop orders</a:t>
                      </a:r>
                    </a:p>
                  </a:txBody>
                  <a:tcPr marL="91440" marR="91440" marT="45720" marB="45720" anchor="ctr">
                    <a:solidFill>
                      <a:srgbClr val="FFFFFF"/>
                    </a:solidFill>
                  </a:tcPr>
                </a:tc>
              </a:tr>
              <a:tr h="619125">
                <a:tc>
                  <a:txBody>
                    <a:bodyPr lIns="114300" tIns="57150" rIns="114300" bIns="57150">
                      <a:noAutofit/>
                    </a:bodyPr>
                    <a:lstStyle/>
                    <a:p>
                      <a:r>
                        <a:rPr sz="1875" b="1">
                          <a:solidFill>
                            <a:srgbClr val="2D607A"/>
                          </a:solidFill>
                          <a:latin typeface="Inter"/>
                          <a:ea typeface="Inter"/>
                          <a:cs typeface="Inter"/>
                        </a:rPr>
                        <a:t>Remote consultation</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Initiate or join, upload materials, discuss with experts, generate reports</a:t>
                      </a:r>
                    </a:p>
                  </a:txBody>
                  <a:tcPr marL="91440" marR="91440" marT="45720" marB="45720" anchor="ctr">
                    <a:solidFill>
                      <a:srgbClr val="FFFFFF"/>
                    </a:solidFill>
                  </a:tcPr>
                </a:tc>
              </a:tr>
              <a:tr h="619125">
                <a:tc>
                  <a:txBody>
                    <a:bodyPr lIns="114300" tIns="57150" rIns="114300" bIns="57150">
                      <a:noAutofit/>
                    </a:bodyPr>
                    <a:lstStyle/>
                    <a:p>
                      <a:r>
                        <a:rPr sz="1875" b="1">
                          <a:solidFill>
                            <a:srgbClr val="2D607A"/>
                          </a:solidFill>
                          <a:latin typeface="Inter"/>
                          <a:ea typeface="Inter"/>
                          <a:cs typeface="Inter"/>
                        </a:rPr>
                        <a:t>Health management</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Personal plans, monitoring data, automatic reminders and regular assessment</a:t>
                      </a:r>
                    </a:p>
                  </a:txBody>
                  <a:tcPr marL="91440" marR="91440" marT="45720" marB="45720" anchor="ctr">
                    <a:solidFill>
                      <a:srgbClr val="FFFFFF"/>
                    </a:solidFill>
                  </a:tcPr>
                </a:tc>
              </a:tr>
              <a:tr h="619125">
                <a:tc>
                  <a:txBody>
                    <a:bodyPr lIns="114300" tIns="57150" rIns="114300" bIns="57150">
                      <a:noAutofit/>
                    </a:bodyPr>
                    <a:lstStyle/>
                    <a:p>
                      <a:r>
                        <a:rPr sz="1875" b="1">
                          <a:solidFill>
                            <a:srgbClr val="2D607A"/>
                          </a:solidFill>
                          <a:latin typeface="Inter"/>
                          <a:ea typeface="Inter"/>
                          <a:cs typeface="Inter"/>
                        </a:rPr>
                        <a:t>Accounts and audit</a:t>
                      </a:r>
                    </a:p>
                  </a:txBody>
                  <a:tcPr marL="91440" marR="91440" marT="45720" marB="45720" anchor="ctr">
                    <a:solidFill>
                      <a:srgbClr val="F3F7F9"/>
                    </a:solidFill>
                  </a:tcPr>
                </a:tc>
                <a:tc>
                  <a:txBody>
                    <a:bodyPr lIns="114300" tIns="57150" rIns="114300" bIns="57150">
                      <a:noAutofit/>
                    </a:bodyPr>
                    <a:lstStyle/>
                    <a:p>
                      <a:r>
                        <a:rPr sz="1800" b="0">
                          <a:solidFill>
                            <a:srgbClr val="142C38"/>
                          </a:solidFill>
                          <a:latin typeface="Inter"/>
                          <a:ea typeface="Inter"/>
                          <a:cs typeface="Inter"/>
                        </a:rPr>
                        <a:t>Multiple authentication factors, role and temporary access, logs and audit queries</a:t>
                      </a:r>
                    </a:p>
                  </a:txBody>
                  <a:tcPr marL="91440" marR="91440" marT="45720" marB="45720" anchor="ctr">
                    <a:solidFill>
                      <a:srgbClr val="FFFFFF"/>
                    </a:solidFill>
                  </a:tcPr>
                </a:tc>
              </a:tr>
            </a:tbl>
          </a:graphicData>
        </a:graphic>
      </p:graphicFrame>
      <p:sp>
        <p:nvSpPr>
          <p:cNvPr id="7" name="content-16">
            <a:extLst xmlns:a="http://schemas.openxmlformats.org/drawingml/2006/main">
              <a:ext uri="{FF2B5EF4-FFF2-40B4-BE49-F238E27FC236}">
                <a16:creationId xmlns:a16="http://schemas.microsoft.com/office/drawing/2014/main" id="{03FB9FEE-FD40-48AC-8052-E825A18B19EA}"/>
              </a:ext>
            </a:extLst>
          </p:cNvPr>
          <p:cNvSpPr>
            <a:spLocks xmlns:a="http://schemas.openxmlformats.org/drawingml/2006/main" noGrp="1"/>
          </p:cNvSpPr>
          <p:nvPr/>
        </p:nvSpPr>
        <p:spPr>
          <a:xfrm xmlns:a="http://schemas.openxmlformats.org/drawingml/2006/main">
            <a:off x="514350" y="13239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2D607A"/>
                </a:solidFill>
                <a:latin typeface="Inter"/>
                <a:ea typeface="Inter"/>
                <a:cs typeface="Inter"/>
              </a:defRPr>
            </a:pPr>
            <a:r>
              <a:rPr sz="1725" b="1">
                <a:solidFill>
                  <a:srgbClr val="2D607A"/>
                </a:solidFill>
                <a:latin typeface="Inter"/>
                <a:ea typeface="Inter"/>
                <a:cs typeface="Inter"/>
              </a:rPr>
              <a:t>Capability</a:t>
            </a:r>
          </a:p>
        </p:txBody>
      </p:sp>
      <p:sp>
        <p:nvSpPr>
          <p:cNvPr id="8" name="content-17">
            <a:extLst xmlns:a="http://schemas.openxmlformats.org/drawingml/2006/main">
              <a:ext uri="{FF2B5EF4-FFF2-40B4-BE49-F238E27FC236}">
                <a16:creationId xmlns:a16="http://schemas.microsoft.com/office/drawing/2014/main" id="{81FB768E-098B-4498-816E-B1C30F582354}"/>
              </a:ext>
            </a:extLst>
          </p:cNvPr>
          <p:cNvSpPr>
            <a:spLocks xmlns:a="http://schemas.openxmlformats.org/drawingml/2006/main" noGrp="1"/>
          </p:cNvSpPr>
          <p:nvPr/>
        </p:nvSpPr>
        <p:spPr>
          <a:xfrm xmlns:a="http://schemas.openxmlformats.org/drawingml/2006/main">
            <a:off x="3095625" y="13239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2D607A"/>
                </a:solidFill>
                <a:latin typeface="Inter"/>
                <a:ea typeface="Inter"/>
                <a:cs typeface="Inter"/>
              </a:defRPr>
            </a:pPr>
            <a:r>
              <a:rPr sz="1725" b="1">
                <a:solidFill>
                  <a:srgbClr val="2D607A"/>
                </a:solidFill>
                <a:latin typeface="Inter"/>
                <a:ea typeface="Inter"/>
                <a:cs typeface="Inter"/>
              </a:rPr>
              <a:t>What the doctor needs to do</a:t>
            </a:r>
          </a:p>
        </p:txBody>
      </p:sp>
      <p:sp>
        <p:nvSpPr>
          <p:cNvPr id="9" name="content-18">
            <a:extLst xmlns:a="http://schemas.openxmlformats.org/drawingml/2006/main">
              <a:ext uri="{FF2B5EF4-FFF2-40B4-BE49-F238E27FC236}">
                <a16:creationId xmlns:a16="http://schemas.microsoft.com/office/drawing/2014/main" id="{EE79469A-4EE8-4D73-B084-6874B8300F68}"/>
              </a:ext>
            </a:extLst>
          </p:cNvPr>
          <p:cNvSpPr>
            <a:spLocks xmlns:a="http://schemas.openxmlformats.org/drawingml/2006/main" noGrp="1"/>
          </p:cNvSpPr>
          <p:nvPr/>
        </p:nvSpPr>
        <p:spPr>
          <a:xfrm xmlns:a="http://schemas.openxmlformats.org/drawingml/2006/main">
            <a:off x="400050" y="5838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Peer collaboration is an optional module that users can disable</a:t>
            </a:r>
          </a:p>
        </p:txBody>
      </p:sp>
    </p:spTree>
    <p:extLst>
      <p:ext uri="{BB962C8B-B14F-4D97-AF65-F5344CB8AC3E}">
        <p14:creationId xmlns:p14="http://schemas.microsoft.com/office/powerpoint/2010/main" val="29158774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15" y="6279928"/>
            <a:ext cx="518922" cy="241268"/>
          </a:xfrm>
        </p:spPr>
        <p:txBody>
          <a:bodyPr xmlns:a="http://schemas.openxmlformats.org/drawingml/2006/main"/>
          <a:lstStyle xmlns:a="http://schemas.openxmlformats.org/drawingml/2006/main"/>
          <a:p xmlns:a="http://schemas.openxmlformats.org/drawingml/2006/main">
            <a:pPr algn="r">
              <a:buNone/>
              <a:defRPr sz="1100">
                <a:solidFill>
                  <a:srgbClr val="546B77"/>
                </a:solidFill>
                <a:latin typeface="Inter"/>
                <a:ea typeface="Inter"/>
                <a:cs typeface="Inter"/>
              </a:defRPr>
            </a:pPr>
            <a:fld id="{EFD6AB9A-5F9E-5F59-51AB-3C8734130965}" type="slidenum">
              <a:rPr sz="1100">
                <a:solidFill>
                  <a:srgbClr val="546B77"/>
                </a:solidFill>
                <a:latin typeface="Inter"/>
                <a:ea typeface="Inter"/>
                <a:cs typeface="Inter"/>
              </a:rPr>
              <a:t>4</a:t>
            </a:fld>
            <a:endParaRPr sz="1100"/>
          </a:p>
        </p:txBody>
      </p:sp>
      <p:sp>
        <p:nvSpPr>
          <p:cNvPr id="11" name="Title Reused">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668" y="344043"/>
            <a:ext cx="11404568" cy="904875"/>
          </a:xfrm>
        </p:spPr>
        <p:txBody>
          <a:bodyPr xmlns:a="http://schemas.openxmlformats.org/drawingml/2006/main"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Consultation and record review workflow</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content-19">
            <a:extLst xmlns:a="http://schemas.openxmlformats.org/drawingml/2006/main">
              <a:ext uri="{FF2B5EF4-FFF2-40B4-BE49-F238E27FC236}">
                <a16:creationId xmlns:a16="http://schemas.microsoft.com/office/drawing/2014/main" id="{8EC8FA4B-F3DE-4E56-89E5-38605CE4FD89}"/>
              </a:ext>
            </a:extLst>
          </p:cNvPr>
          <p:cNvSpPr>
            <a:spLocks xmlns:a="http://schemas.openxmlformats.org/drawingml/2006/main" noGrp="1"/>
          </p:cNvSpPr>
          <p:nvPr/>
        </p:nvSpPr>
        <p:spPr>
          <a:xfrm xmlns:a="http://schemas.openxmlformats.org/drawingml/2006/main">
            <a:off x="400050" y="145732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2D607A"/>
                </a:solidFill>
                <a:latin typeface="Inter"/>
                <a:ea typeface="Inter"/>
                <a:cs typeface="Inter"/>
              </a:defRPr>
            </a:pPr>
            <a:r>
              <a:rPr sz="1950" b="1">
                <a:solidFill>
                  <a:srgbClr val="2D607A"/>
                </a:solidFill>
                <a:latin typeface="Inter"/>
                <a:ea typeface="Inter"/>
                <a:cs typeface="Inter"/>
              </a:rPr>
              <a:t>Patient requests</a:t>
            </a:r>
          </a:p>
        </p:txBody>
      </p:sp>
      <p:sp>
        <p:nvSpPr>
          <p:cNvPr id="13" name="node-20">
            <a:extLst xmlns:a="http://schemas.openxmlformats.org/drawingml/2006/main">
              <a:ext uri="{FF2B5EF4-FFF2-40B4-BE49-F238E27FC236}">
                <a16:creationId xmlns:a16="http://schemas.microsoft.com/office/drawing/2014/main" id="{77B079F4-3CA4-4F16-9811-96F3EDD231FB}"/>
              </a:ext>
            </a:extLst>
          </p:cNvPr>
          <p:cNvSpPr>
            <a:spLocks xmlns:a="http://schemas.openxmlformats.org/drawingml/2006/main" noGrp="1"/>
          </p:cNvSpPr>
          <p:nvPr/>
        </p:nvSpPr>
        <p:spPr>
          <a:xfrm xmlns:a="http://schemas.openxmlformats.org/drawingml/2006/main">
            <a:off x="2590800" y="1438275"/>
            <a:ext cx="2152650"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Waiting</a:t>
            </a:r>
          </a:p>
        </p:txBody>
      </p:sp>
      <p:sp>
        <p:nvSpPr>
          <p:cNvPr id="14" name="node-21">
            <a:extLst xmlns:a="http://schemas.openxmlformats.org/drawingml/2006/main">
              <a:ext uri="{FF2B5EF4-FFF2-40B4-BE49-F238E27FC236}">
                <a16:creationId xmlns:a16="http://schemas.microsoft.com/office/drawing/2014/main" id="{747B6301-AE2B-4594-B661-7A11FEBD4981}"/>
              </a:ext>
            </a:extLst>
          </p:cNvPr>
          <p:cNvSpPr>
            <a:spLocks xmlns:a="http://schemas.openxmlformats.org/drawingml/2006/main" noGrp="1"/>
          </p:cNvSpPr>
          <p:nvPr/>
        </p:nvSpPr>
        <p:spPr>
          <a:xfrm xmlns:a="http://schemas.openxmlformats.org/drawingml/2006/main">
            <a:off x="6124575" y="1438275"/>
            <a:ext cx="2152650"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In progress</a:t>
            </a:r>
          </a:p>
        </p:txBody>
      </p:sp>
      <p:sp>
        <p:nvSpPr>
          <p:cNvPr id="15" name="node-22">
            <a:extLst xmlns:a="http://schemas.openxmlformats.org/drawingml/2006/main">
              <a:ext uri="{FF2B5EF4-FFF2-40B4-BE49-F238E27FC236}">
                <a16:creationId xmlns:a16="http://schemas.microsoft.com/office/drawing/2014/main" id="{13483490-85D3-42D2-B666-E808EB74A9C2}"/>
              </a:ext>
            </a:extLst>
          </p:cNvPr>
          <p:cNvSpPr>
            <a:spLocks xmlns:a="http://schemas.openxmlformats.org/drawingml/2006/main" noGrp="1"/>
          </p:cNvSpPr>
          <p:nvPr/>
        </p:nvSpPr>
        <p:spPr>
          <a:xfrm xmlns:a="http://schemas.openxmlformats.org/drawingml/2006/main">
            <a:off x="9639300" y="1438275"/>
            <a:ext cx="2152650"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Completed</a:t>
            </a:r>
          </a:p>
        </p:txBody>
      </p:sp>
      <p:cxnSp>
        <p:nvCxnSpPr>
          <p:cNvPr id="68" name=""/>
          <p:cNvCxnSpPr>
            <a:stCxn xmlns:a="http://schemas.openxmlformats.org/drawingml/2006/main" id="13" idx="3"/>
            <a:endCxn xmlns:a="http://schemas.openxmlformats.org/drawingml/2006/main" id="14" idx="1"/>
          </p:cNvCxnSpPr>
          <p:nvPr/>
        </p:nvCxnSpPr>
        <p:spPr>
          <a:xfrm xmlns:a="http://schemas.openxmlformats.org/drawingml/2006/main">
            <a:off x="4743450" y="1762125"/>
            <a:ext cx="1381125"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69" name=""/>
          <p:cNvCxnSpPr>
            <a:stCxn xmlns:a="http://schemas.openxmlformats.org/drawingml/2006/main" id="14" idx="3"/>
            <a:endCxn xmlns:a="http://schemas.openxmlformats.org/drawingml/2006/main" id="15" idx="1"/>
          </p:cNvCxnSpPr>
          <p:nvPr/>
        </p:nvCxnSpPr>
        <p:spPr>
          <a:xfrm xmlns:a="http://schemas.openxmlformats.org/drawingml/2006/main">
            <a:off x="8277225" y="1762125"/>
            <a:ext cx="1362075" cy="0"/>
          </a:xfrm>
          <a:prstGeom xmlns:a="http://schemas.openxmlformats.org/drawingml/2006/main" prst="straightConnector1">
            <a:avLst/>
          </a:prstGeom>
          <a:ln xmlns:a="http://schemas.openxmlformats.org/drawingml/2006/main" w="19050">
            <a:solidFill>
              <a:srgbClr val="2D607A"/>
            </a:solidFill>
            <a:tailEnd type="arrow" w="med" len="med"/>
          </a:ln>
        </p:spPr>
      </p:cxnSp>
      <p:sp>
        <p:nvSpPr>
          <p:cNvPr id="18" name="content-23">
            <a:extLst xmlns:a="http://schemas.openxmlformats.org/drawingml/2006/main">
              <a:ext uri="{FF2B5EF4-FFF2-40B4-BE49-F238E27FC236}">
                <a16:creationId xmlns:a16="http://schemas.microsoft.com/office/drawing/2014/main" id="{450FC95F-EBD4-40F8-802C-68E5DD460A41}"/>
              </a:ext>
            </a:extLst>
          </p:cNvPr>
          <p:cNvSpPr>
            <a:spLocks xmlns:a="http://schemas.openxmlformats.org/drawingml/2006/main" noGrp="1"/>
          </p:cNvSpPr>
          <p:nvPr/>
        </p:nvSpPr>
        <p:spPr>
          <a:xfrm xmlns:a="http://schemas.openxmlformats.org/drawingml/2006/main">
            <a:off x="4714875" y="114300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46B77"/>
                </a:solidFill>
                <a:latin typeface="Inter"/>
                <a:ea typeface="Inter"/>
                <a:cs typeface="Inter"/>
              </a:defRPr>
            </a:pPr>
            <a:r>
              <a:rPr sz="1650" b="0">
                <a:solidFill>
                  <a:srgbClr val="546B77"/>
                </a:solidFill>
                <a:latin typeface="Inter"/>
                <a:ea typeface="Inter"/>
                <a:cs typeface="Inter"/>
              </a:rPr>
              <a:t>Doctor accepts</a:t>
            </a:r>
          </a:p>
        </p:txBody>
      </p:sp>
      <p:sp>
        <p:nvSpPr>
          <p:cNvPr id="19" name="content-24">
            <a:extLst xmlns:a="http://schemas.openxmlformats.org/drawingml/2006/main">
              <a:ext uri="{FF2B5EF4-FFF2-40B4-BE49-F238E27FC236}">
                <a16:creationId xmlns:a16="http://schemas.microsoft.com/office/drawing/2014/main" id="{C16A762F-043A-477E-9BA5-97D00A07175C}"/>
              </a:ext>
            </a:extLst>
          </p:cNvPr>
          <p:cNvSpPr>
            <a:spLocks xmlns:a="http://schemas.openxmlformats.org/drawingml/2006/main" noGrp="1"/>
          </p:cNvSpPr>
          <p:nvPr/>
        </p:nvSpPr>
        <p:spPr>
          <a:xfrm xmlns:a="http://schemas.openxmlformats.org/drawingml/2006/main">
            <a:off x="8296275" y="1143000"/>
            <a:ext cx="13239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46B77"/>
                </a:solidFill>
                <a:latin typeface="Inter"/>
                <a:ea typeface="Inter"/>
                <a:cs typeface="Inter"/>
              </a:defRPr>
            </a:pPr>
            <a:r>
              <a:rPr sz="1650" b="0">
                <a:solidFill>
                  <a:srgbClr val="546B77"/>
                </a:solidFill>
                <a:latin typeface="Inter"/>
                <a:ea typeface="Inter"/>
                <a:cs typeface="Inter"/>
              </a:rPr>
              <a:t>Auto-save</a:t>
            </a:r>
          </a:p>
        </p:txBody>
      </p:sp>
      <p:sp>
        <p:nvSpPr>
          <p:cNvPr id="20" name="content-25">
            <a:extLst xmlns:a="http://schemas.openxmlformats.org/drawingml/2006/main">
              <a:ext uri="{FF2B5EF4-FFF2-40B4-BE49-F238E27FC236}">
                <a16:creationId xmlns:a16="http://schemas.microsoft.com/office/drawing/2014/main" id="{C371A1DF-0CF6-4B9F-9121-97A2FEC4FB8D}"/>
              </a:ext>
            </a:extLst>
          </p:cNvPr>
          <p:cNvSpPr>
            <a:spLocks xmlns:a="http://schemas.openxmlformats.org/drawingml/2006/main" noGrp="1"/>
          </p:cNvSpPr>
          <p:nvPr/>
        </p:nvSpPr>
        <p:spPr>
          <a:xfrm xmlns:a="http://schemas.openxmlformats.org/drawingml/2006/main">
            <a:off x="6124575" y="2171700"/>
            <a:ext cx="304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46B77"/>
                </a:solidFill>
                <a:latin typeface="Inter"/>
                <a:ea typeface="Inter"/>
                <a:cs typeface="Inter"/>
              </a:defRPr>
            </a:pPr>
            <a:r>
              <a:rPr sz="1650" b="0">
                <a:solidFill>
                  <a:srgbClr val="546B77"/>
                </a:solidFill>
                <a:latin typeface="Inter"/>
                <a:ea typeface="Inter"/>
                <a:cs typeface="Inter"/>
              </a:rPr>
              <a:t>Text/images or video</a:t>
            </a:r>
          </a:p>
          <a:p xmlns:a="http://schemas.openxmlformats.org/drawingml/2006/main">
            <a:pPr algn="l">
              <a:buNone/>
              <a:defRPr sz="1650" b="0">
                <a:solidFill>
                  <a:srgbClr val="546B77"/>
                </a:solidFill>
                <a:latin typeface="Inter"/>
                <a:ea typeface="Inter"/>
                <a:cs typeface="Inter"/>
              </a:defRPr>
            </a:pPr>
            <a:r>
              <a:rPr sz="1650" b="0">
                <a:solidFill>
                  <a:srgbClr val="546B77"/>
                </a:solidFill>
                <a:latin typeface="Inter"/>
                <a:ea typeface="Inter"/>
                <a:cs typeface="Inter"/>
              </a:rPr>
              <a:t>Recording follows policy</a:t>
            </a:r>
          </a:p>
        </p:txBody>
      </p:sp>
      <p:sp>
        <p:nvSpPr>
          <p:cNvPr id="21" name="content-26">
            <a:extLst xmlns:a="http://schemas.openxmlformats.org/drawingml/2006/main">
              <a:ext uri="{FF2B5EF4-FFF2-40B4-BE49-F238E27FC236}">
                <a16:creationId xmlns:a16="http://schemas.microsoft.com/office/drawing/2014/main" id="{550C2D95-EF67-437D-B7AE-33C2E35DF4EC}"/>
              </a:ext>
            </a:extLst>
          </p:cNvPr>
          <p:cNvSpPr>
            <a:spLocks xmlns:a="http://schemas.openxmlformats.org/drawingml/2006/main" noGrp="1"/>
          </p:cNvSpPr>
          <p:nvPr/>
        </p:nvSpPr>
        <p:spPr>
          <a:xfrm xmlns:a="http://schemas.openxmlformats.org/drawingml/2006/main">
            <a:off x="400050" y="3295650"/>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2D607A"/>
                </a:solidFill>
                <a:latin typeface="Inter"/>
                <a:ea typeface="Inter"/>
                <a:cs typeface="Inter"/>
              </a:defRPr>
            </a:pPr>
            <a:r>
              <a:rPr sz="1950" b="1">
                <a:solidFill>
                  <a:srgbClr val="2D607A"/>
                </a:solidFill>
                <a:latin typeface="Inter"/>
                <a:ea typeface="Inter"/>
                <a:cs typeface="Inter"/>
              </a:rPr>
              <a:t>Structured record</a:t>
            </a:r>
          </a:p>
        </p:txBody>
      </p:sp>
      <p:sp>
        <p:nvSpPr>
          <p:cNvPr id="22" name="node-27">
            <a:extLst xmlns:a="http://schemas.openxmlformats.org/drawingml/2006/main">
              <a:ext uri="{FF2B5EF4-FFF2-40B4-BE49-F238E27FC236}">
                <a16:creationId xmlns:a16="http://schemas.microsoft.com/office/drawing/2014/main" id="{66926D54-E56F-47B4-BA6F-DEF5B78F275D}"/>
              </a:ext>
            </a:extLst>
          </p:cNvPr>
          <p:cNvSpPr>
            <a:spLocks xmlns:a="http://schemas.openxmlformats.org/drawingml/2006/main" noGrp="1"/>
          </p:cNvSpPr>
          <p:nvPr/>
        </p:nvSpPr>
        <p:spPr>
          <a:xfrm xmlns:a="http://schemas.openxmlformats.org/drawingml/2006/main">
            <a:off x="2590800" y="3248025"/>
            <a:ext cx="1952625" cy="70485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Draft</a:t>
            </a:r>
          </a:p>
        </p:txBody>
      </p:sp>
      <p:sp>
        <p:nvSpPr>
          <p:cNvPr id="23" name="node-28">
            <a:extLst xmlns:a="http://schemas.openxmlformats.org/drawingml/2006/main">
              <a:ext uri="{FF2B5EF4-FFF2-40B4-BE49-F238E27FC236}">
                <a16:creationId xmlns:a16="http://schemas.microsoft.com/office/drawing/2014/main" id="{00AAC0EA-B148-4A8E-9C68-358FB689C8AF}"/>
              </a:ext>
            </a:extLst>
          </p:cNvPr>
          <p:cNvSpPr>
            <a:spLocks xmlns:a="http://schemas.openxmlformats.org/drawingml/2006/main" noGrp="1"/>
          </p:cNvSpPr>
          <p:nvPr/>
        </p:nvSpPr>
        <p:spPr>
          <a:xfrm xmlns:a="http://schemas.openxmlformats.org/drawingml/2006/main">
            <a:off x="5010150" y="3248025"/>
            <a:ext cx="1952625" cy="70485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Submitted</a:t>
            </a:r>
          </a:p>
        </p:txBody>
      </p:sp>
      <p:sp>
        <p:nvSpPr>
          <p:cNvPr id="24" name="node-29">
            <a:extLst xmlns:a="http://schemas.openxmlformats.org/drawingml/2006/main">
              <a:ext uri="{FF2B5EF4-FFF2-40B4-BE49-F238E27FC236}">
                <a16:creationId xmlns:a16="http://schemas.microsoft.com/office/drawing/2014/main" id="{51FB5D5F-584A-4BB0-A2BC-F27A4EDB420C}"/>
              </a:ext>
            </a:extLst>
          </p:cNvPr>
          <p:cNvSpPr>
            <a:spLocks xmlns:a="http://schemas.openxmlformats.org/drawingml/2006/main" noGrp="1"/>
          </p:cNvSpPr>
          <p:nvPr/>
        </p:nvSpPr>
        <p:spPr>
          <a:xfrm xmlns:a="http://schemas.openxmlformats.org/drawingml/2006/main">
            <a:off x="7429500" y="3248025"/>
            <a:ext cx="1952625" cy="70485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Senior review</a:t>
            </a:r>
          </a:p>
        </p:txBody>
      </p:sp>
      <p:sp>
        <p:nvSpPr>
          <p:cNvPr id="25" name="node-30">
            <a:extLst xmlns:a="http://schemas.openxmlformats.org/drawingml/2006/main">
              <a:ext uri="{FF2B5EF4-FFF2-40B4-BE49-F238E27FC236}">
                <a16:creationId xmlns:a16="http://schemas.microsoft.com/office/drawing/2014/main" id="{CA4E7107-1321-4A60-B4DC-90EE686C4485}"/>
              </a:ext>
            </a:extLst>
          </p:cNvPr>
          <p:cNvSpPr>
            <a:spLocks xmlns:a="http://schemas.openxmlformats.org/drawingml/2006/main" noGrp="1"/>
          </p:cNvSpPr>
          <p:nvPr/>
        </p:nvSpPr>
        <p:spPr>
          <a:xfrm xmlns:a="http://schemas.openxmlformats.org/drawingml/2006/main">
            <a:off x="9848850" y="3248025"/>
            <a:ext cx="1943100" cy="704850"/>
          </a:xfrm>
          <a:prstGeom xmlns:a="http://schemas.openxmlformats.org/drawingml/2006/main" prst="rect">
            <a:avLst/>
          </a:prstGeom>
          <a:solidFill xmlns:a="http://schemas.openxmlformats.org/drawingml/2006/main">
            <a:srgbClr val="2D607A"/>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FFFFFF"/>
                </a:solidFill>
                <a:latin typeface="Inter"/>
                <a:ea typeface="Inter"/>
                <a:cs typeface="Inter"/>
              </a:defRPr>
            </a:pPr>
            <a:r>
              <a:rPr sz="1875" b="0">
                <a:solidFill>
                  <a:srgbClr val="FFFFFF"/>
                </a:solidFill>
                <a:latin typeface="Inter"/>
                <a:ea typeface="Inter"/>
                <a:cs typeface="Inter"/>
              </a:rPr>
              <a:t>Archived</a:t>
            </a:r>
          </a:p>
        </p:txBody>
      </p:sp>
      <p:cxnSp>
        <p:nvCxnSpPr>
          <p:cNvPr id="78" name=""/>
          <p:cNvCxnSpPr>
            <a:stCxn xmlns:a="http://schemas.openxmlformats.org/drawingml/2006/main" id="22" idx="3"/>
            <a:endCxn xmlns:a="http://schemas.openxmlformats.org/drawingml/2006/main" id="23" idx="1"/>
          </p:cNvCxnSpPr>
          <p:nvPr/>
        </p:nvCxnSpPr>
        <p:spPr>
          <a:xfrm xmlns:a="http://schemas.openxmlformats.org/drawingml/2006/main">
            <a:off x="4543425" y="3600450"/>
            <a:ext cx="466725"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79" name=""/>
          <p:cNvCxnSpPr>
            <a:stCxn xmlns:a="http://schemas.openxmlformats.org/drawingml/2006/main" id="23" idx="3"/>
            <a:endCxn xmlns:a="http://schemas.openxmlformats.org/drawingml/2006/main" id="24" idx="1"/>
          </p:cNvCxnSpPr>
          <p:nvPr/>
        </p:nvCxnSpPr>
        <p:spPr>
          <a:xfrm xmlns:a="http://schemas.openxmlformats.org/drawingml/2006/main">
            <a:off x="6962775" y="3600450"/>
            <a:ext cx="466725"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80" name=""/>
          <p:cNvCxnSpPr>
            <a:stCxn xmlns:a="http://schemas.openxmlformats.org/drawingml/2006/main" id="24" idx="3"/>
            <a:endCxn xmlns:a="http://schemas.openxmlformats.org/drawingml/2006/main" id="25" idx="1"/>
          </p:cNvCxnSpPr>
          <p:nvPr/>
        </p:nvCxnSpPr>
        <p:spPr>
          <a:xfrm xmlns:a="http://schemas.openxmlformats.org/drawingml/2006/main">
            <a:off x="9382125" y="3600450"/>
            <a:ext cx="466725" cy="0"/>
          </a:xfrm>
          <a:prstGeom xmlns:a="http://schemas.openxmlformats.org/drawingml/2006/main" prst="straightConnector1">
            <a:avLst/>
          </a:prstGeom>
          <a:ln xmlns:a="http://schemas.openxmlformats.org/drawingml/2006/main" w="19050">
            <a:solidFill>
              <a:srgbClr val="2D607A"/>
            </a:solidFill>
            <a:tailEnd type="arrow" w="med" len="med"/>
          </a:ln>
        </p:spPr>
      </p:cxnSp>
      <p:sp>
        <p:nvSpPr>
          <p:cNvPr id="29" name="line-31">
            <a:extLst xmlns:a="http://schemas.openxmlformats.org/drawingml/2006/main">
              <a:ext uri="{FF2B5EF4-FFF2-40B4-BE49-F238E27FC236}">
                <a16:creationId xmlns:a16="http://schemas.microsoft.com/office/drawing/2014/main" id="{6F1338EA-CDEE-4D44-A814-A956A6BAA267}"/>
              </a:ext>
            </a:extLst>
          </p:cNvPr>
          <p:cNvSpPr>
            <a:spLocks xmlns:a="http://schemas.openxmlformats.org/drawingml/2006/main" noGrp="1"/>
          </p:cNvSpPr>
          <p:nvPr/>
        </p:nvSpPr>
        <p:spPr>
          <a:xfrm xmlns:a="http://schemas.openxmlformats.org/drawingml/2006/main">
            <a:off x="8410575" y="3952875"/>
            <a:ext cx="0" cy="4476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30" name="line-32">
            <a:extLst xmlns:a="http://schemas.openxmlformats.org/drawingml/2006/main">
              <a:ext uri="{FF2B5EF4-FFF2-40B4-BE49-F238E27FC236}">
                <a16:creationId xmlns:a16="http://schemas.microsoft.com/office/drawing/2014/main" id="{1740F02F-9E9F-4D8D-AFD6-DE3F73D0C2C0}"/>
              </a:ext>
            </a:extLst>
          </p:cNvPr>
          <p:cNvSpPr>
            <a:spLocks xmlns:a="http://schemas.openxmlformats.org/drawingml/2006/main" noGrp="1"/>
          </p:cNvSpPr>
          <p:nvPr/>
        </p:nvSpPr>
        <p:spPr>
          <a:xfrm xmlns:a="http://schemas.openxmlformats.org/drawingml/2006/main">
            <a:off x="3571875" y="4400550"/>
            <a:ext cx="48387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31" name="content-33">
            <a:extLst xmlns:a="http://schemas.openxmlformats.org/drawingml/2006/main">
              <a:ext uri="{FF2B5EF4-FFF2-40B4-BE49-F238E27FC236}">
                <a16:creationId xmlns:a16="http://schemas.microsoft.com/office/drawing/2014/main" id="{9DE373F4-803E-44CC-85FB-203546CA7D71}"/>
              </a:ext>
            </a:extLst>
          </p:cNvPr>
          <p:cNvSpPr>
            <a:spLocks xmlns:a="http://schemas.openxmlformats.org/drawingml/2006/main" noGrp="1"/>
          </p:cNvSpPr>
          <p:nvPr/>
        </p:nvSpPr>
        <p:spPr>
          <a:xfrm xmlns:a="http://schemas.openxmlformats.org/drawingml/2006/main">
            <a:off x="3562350" y="4391025"/>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84" name=""/>
          <p:cNvCxnSpPr>
            <a:stCxn xmlns:a="http://schemas.openxmlformats.org/drawingml/2006/main" id="31" idx="0"/>
            <a:endCxn xmlns:a="http://schemas.openxmlformats.org/drawingml/2006/main" id="22" idx="2"/>
          </p:cNvCxnSpPr>
          <p:nvPr/>
        </p:nvCxnSpPr>
        <p:spPr>
          <a:xfrm xmlns:a="http://schemas.openxmlformats.org/drawingml/2006/main" flipH="1" flipV="1">
            <a:off x="3567113" y="3952875"/>
            <a:ext cx="4763" cy="438150"/>
          </a:xfrm>
          <a:prstGeom xmlns:a="http://schemas.openxmlformats.org/drawingml/2006/main" prst="bentConnector4">
            <a:avLst>
              <a:gd name="adj1" fmla="val 0"/>
              <a:gd name="adj2" fmla="val 50000"/>
            </a:avLst>
          </a:prstGeom>
          <a:ln xmlns:a="http://schemas.openxmlformats.org/drawingml/2006/main" w="19050">
            <a:solidFill>
              <a:srgbClr val="2D607A"/>
            </a:solidFill>
            <a:tailEnd type="arrow" w="med" len="med"/>
          </a:ln>
        </p:spPr>
      </p:cxnSp>
      <p:sp>
        <p:nvSpPr>
          <p:cNvPr id="33" name="content-34">
            <a:extLst xmlns:a="http://schemas.openxmlformats.org/drawingml/2006/main">
              <a:ext uri="{FF2B5EF4-FFF2-40B4-BE49-F238E27FC236}">
                <a16:creationId xmlns:a16="http://schemas.microsoft.com/office/drawing/2014/main" id="{4277BB05-838F-49B4-BF97-A65B7B8A7D2B}"/>
              </a:ext>
            </a:extLst>
          </p:cNvPr>
          <p:cNvSpPr>
            <a:spLocks xmlns:a="http://schemas.openxmlformats.org/drawingml/2006/main" noGrp="1"/>
          </p:cNvSpPr>
          <p:nvPr/>
        </p:nvSpPr>
        <p:spPr>
          <a:xfrm xmlns:a="http://schemas.openxmlformats.org/drawingml/2006/main">
            <a:off x="5133975" y="4467225"/>
            <a:ext cx="2171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A46039"/>
                </a:solidFill>
                <a:latin typeface="Inter"/>
                <a:ea typeface="Inter"/>
                <a:cs typeface="Inter"/>
              </a:defRPr>
            </a:pPr>
            <a:r>
              <a:rPr sz="1575" b="0">
                <a:solidFill>
                  <a:srgbClr val="A46039"/>
                </a:solidFill>
                <a:latin typeface="Inter"/>
                <a:ea typeface="Inter"/>
                <a:cs typeface="Inter"/>
              </a:rPr>
              <a:t>Return to draft</a:t>
            </a:r>
          </a:p>
        </p:txBody>
      </p:sp>
      <p:sp>
        <p:nvSpPr>
          <p:cNvPr id="34" name="content-35">
            <a:extLst xmlns:a="http://schemas.openxmlformats.org/drawingml/2006/main">
              <a:ext uri="{FF2B5EF4-FFF2-40B4-BE49-F238E27FC236}">
                <a16:creationId xmlns:a16="http://schemas.microsoft.com/office/drawing/2014/main" id="{CB63C083-61F7-46CD-A4DE-F14830C32242}"/>
              </a:ext>
            </a:extLst>
          </p:cNvPr>
          <p:cNvSpPr>
            <a:spLocks xmlns:a="http://schemas.openxmlformats.org/drawingml/2006/main" noGrp="1"/>
          </p:cNvSpPr>
          <p:nvPr/>
        </p:nvSpPr>
        <p:spPr>
          <a:xfrm xmlns:a="http://schemas.openxmlformats.org/drawingml/2006/main">
            <a:off x="400050" y="5019675"/>
            <a:ext cx="2047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2D607A"/>
                </a:solidFill>
                <a:latin typeface="Inter"/>
                <a:ea typeface="Inter"/>
                <a:cs typeface="Inter"/>
              </a:defRPr>
            </a:pPr>
            <a:r>
              <a:rPr sz="1875" b="1">
                <a:solidFill>
                  <a:srgbClr val="2D607A"/>
                </a:solidFill>
                <a:latin typeface="Inter"/>
                <a:ea typeface="Inter"/>
                <a:cs typeface="Inter"/>
              </a:rPr>
              <a:t>Separate order lifecycle</a:t>
            </a:r>
          </a:p>
        </p:txBody>
      </p:sp>
      <p:sp>
        <p:nvSpPr>
          <p:cNvPr id="35" name="content-36">
            <a:extLst xmlns:a="http://schemas.openxmlformats.org/drawingml/2006/main">
              <a:ext uri="{FF2B5EF4-FFF2-40B4-BE49-F238E27FC236}">
                <a16:creationId xmlns:a16="http://schemas.microsoft.com/office/drawing/2014/main" id="{C20CCA8B-1497-48DA-9EA8-9B822AA887D5}"/>
              </a:ext>
            </a:extLst>
          </p:cNvPr>
          <p:cNvSpPr>
            <a:spLocks xmlns:a="http://schemas.openxmlformats.org/drawingml/2006/main" noGrp="1"/>
          </p:cNvSpPr>
          <p:nvPr/>
        </p:nvSpPr>
        <p:spPr>
          <a:xfrm xmlns:a="http://schemas.openxmlformats.org/drawingml/2006/main">
            <a:off x="2590800" y="4981575"/>
            <a:ext cx="920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C38"/>
                </a:solidFill>
                <a:latin typeface="Inter"/>
                <a:ea typeface="Inter"/>
                <a:cs typeface="Inter"/>
              </a:defRPr>
            </a:pPr>
            <a:r>
              <a:rPr sz="1800" b="0">
                <a:solidFill>
                  <a:srgbClr val="142C38"/>
                </a:solidFill>
                <a:latin typeface="Inter"/>
                <a:ea typeface="Inter"/>
                <a:cs typeface="Inter"/>
              </a:rPr>
              <a:t>Create, revise and stop actions retain versions</a:t>
            </a:r>
          </a:p>
        </p:txBody>
      </p:sp>
      <p:sp>
        <p:nvSpPr>
          <p:cNvPr id="36" name="content-37">
            <a:extLst xmlns:a="http://schemas.openxmlformats.org/drawingml/2006/main">
              <a:ext uri="{FF2B5EF4-FFF2-40B4-BE49-F238E27FC236}">
                <a16:creationId xmlns:a16="http://schemas.microsoft.com/office/drawing/2014/main" id="{56CB740A-DF84-4554-A16E-D6DC055123E0}"/>
              </a:ext>
            </a:extLst>
          </p:cNvPr>
          <p:cNvSpPr>
            <a:spLocks xmlns:a="http://schemas.openxmlformats.org/drawingml/2006/main" noGrp="1"/>
          </p:cNvSpPr>
          <p:nvPr/>
        </p:nvSpPr>
        <p:spPr>
          <a:xfrm xmlns:a="http://schemas.openxmlformats.org/drawingml/2006/main">
            <a:off x="400050" y="5838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Design rule: complete documentation after the session, archive only after approval</a:t>
            </a:r>
          </a:p>
        </p:txBody>
      </p:sp>
    </p:spTree>
    <p:extLst>
      <p:ext uri="{BB962C8B-B14F-4D97-AF65-F5344CB8AC3E}">
        <p14:creationId xmlns:p14="http://schemas.microsoft.com/office/powerpoint/2010/main" val="344633891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7F3FA98E-8546-AC84-6BD4-8DF0BEBBB87D}"/>
              </a:ext>
            </a:extLst>
          </p:cNvPr>
          <p:cNvSpPr>
            <a:spLocks xmlns:a="http://schemas.openxmlformats.org/drawingml/2006/main" noGrp="1"/>
          </p:cNvSpPr>
          <p:nvPr>
            <p:ph type="sldNum" idx="4"/>
          </p:nvPr>
        </p:nvSpPr>
        <p:spPr>
          <a:xfrm xmlns:a="http://schemas.openxmlformats.org/drawingml/2006/main">
            <a:off x="11279315" y="6279928"/>
            <a:ext cx="518922" cy="241268"/>
          </a:xfrm>
        </p:spPr>
        <p:txBody>
          <a:bodyPr xmlns:a="http://schemas.openxmlformats.org/drawingml/2006/main"/>
          <a:lstStyle xmlns:a="http://schemas.openxmlformats.org/drawingml/2006/main"/>
          <a:p xmlns:a="http://schemas.openxmlformats.org/drawingml/2006/main">
            <a:pPr algn="r">
              <a:buNone/>
              <a:defRPr sz="1100">
                <a:solidFill>
                  <a:srgbClr val="546B77"/>
                </a:solidFill>
                <a:latin typeface="Inter"/>
                <a:ea typeface="Inter"/>
                <a:cs typeface="Inter"/>
              </a:defRPr>
            </a:pPr>
            <a:fld id="{EE5B3003-2C54-13C6-9832-7637201064DE}" type="slidenum">
              <a:rPr sz="1100">
                <a:solidFill>
                  <a:srgbClr val="546B77"/>
                </a:solidFill>
                <a:latin typeface="Inter"/>
                <a:ea typeface="Inter"/>
                <a:cs typeface="Inter"/>
              </a:rPr>
              <a:t>5</a:t>
            </a:fld>
            <a:endParaRPr sz="1100"/>
          </a:p>
        </p:txBody>
      </p:sp>
      <p:sp>
        <p:nvSpPr>
          <p:cNvPr id="11" name="Title Reused">
            <a:extLst xmlns:a="http://schemas.openxmlformats.org/drawingml/2006/main">
              <a:ext uri="{FF2B5EF4-FFF2-40B4-BE49-F238E27FC236}">
                <a16:creationId xmlns:a16="http://schemas.microsoft.com/office/drawing/2014/main" id="{D802DC3F-F6C4-90E8-847D-BA0C2E4445D3}"/>
              </a:ext>
            </a:extLst>
          </p:cNvPr>
          <p:cNvSpPr>
            <a:spLocks xmlns:a="http://schemas.openxmlformats.org/drawingml/2006/main" noGrp="1"/>
          </p:cNvSpPr>
          <p:nvPr>
            <p:ph type="title" idx="0"/>
          </p:nvPr>
        </p:nvSpPr>
        <p:spPr>
          <a:xfrm xmlns:a="http://schemas.openxmlformats.org/drawingml/2006/main">
            <a:off x="393668" y="344043"/>
            <a:ext cx="11404568" cy="904875"/>
          </a:xfrm>
        </p:spPr>
        <p:txBody>
          <a:bodyPr xmlns:a="http://schemas.openxmlformats.org/drawingml/2006/main"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Expert consultation and continuing care</a:t>
            </a:r>
          </a:p>
        </p:txBody>
      </p:sp>
      <p:sp>
        <p:nvSpPr>
          <p:cNvPr id="7" name="Footer Placeholder 6">
            <a:extLst xmlns:a="http://schemas.openxmlformats.org/drawingml/2006/main">
              <a:ext uri="{FF2B5EF4-FFF2-40B4-BE49-F238E27FC236}">
                <a16:creationId xmlns:a16="http://schemas.microsoft.com/office/drawing/2014/main" id="{0AD2B367-4B64-657F-20CC-D17632C47D9A}"/>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content-38">
            <a:extLst xmlns:a="http://schemas.openxmlformats.org/drawingml/2006/main">
              <a:ext uri="{FF2B5EF4-FFF2-40B4-BE49-F238E27FC236}">
                <a16:creationId xmlns:a16="http://schemas.microsoft.com/office/drawing/2014/main" id="{74B47331-706A-407C-958B-8AA1D74CD476}"/>
              </a:ext>
            </a:extLst>
          </p:cNvPr>
          <p:cNvSpPr>
            <a:spLocks xmlns:a="http://schemas.openxmlformats.org/drawingml/2006/main" noGrp="1"/>
          </p:cNvSpPr>
          <p:nvPr/>
        </p:nvSpPr>
        <p:spPr>
          <a:xfrm xmlns:a="http://schemas.openxmlformats.org/drawingml/2006/main">
            <a:off x="400050" y="1438275"/>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2D607A"/>
                </a:solidFill>
                <a:latin typeface="Inter"/>
                <a:ea typeface="Inter"/>
                <a:cs typeface="Inter"/>
              </a:defRPr>
            </a:pPr>
            <a:r>
              <a:rPr sz="2100" b="1">
                <a:solidFill>
                  <a:srgbClr val="2D607A"/>
                </a:solidFill>
                <a:latin typeface="Inter"/>
                <a:ea typeface="Inter"/>
                <a:cs typeface="Inter"/>
              </a:rPr>
              <a:t>Remote consultation</a:t>
            </a:r>
          </a:p>
        </p:txBody>
      </p:sp>
      <p:sp>
        <p:nvSpPr>
          <p:cNvPr id="13" name="node-39">
            <a:extLst xmlns:a="http://schemas.openxmlformats.org/drawingml/2006/main">
              <a:ext uri="{FF2B5EF4-FFF2-40B4-BE49-F238E27FC236}">
                <a16:creationId xmlns:a16="http://schemas.microsoft.com/office/drawing/2014/main" id="{FFC9B8C7-2FC2-4A85-9AA5-7E727213442C}"/>
              </a:ext>
            </a:extLst>
          </p:cNvPr>
          <p:cNvSpPr>
            <a:spLocks xmlns:a="http://schemas.openxmlformats.org/drawingml/2006/main" noGrp="1"/>
          </p:cNvSpPr>
          <p:nvPr/>
        </p:nvSpPr>
        <p:spPr>
          <a:xfrm xmlns:a="http://schemas.openxmlformats.org/drawingml/2006/main">
            <a:off x="2667000" y="1476375"/>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Request / invite</a:t>
            </a:r>
          </a:p>
        </p:txBody>
      </p:sp>
      <p:sp>
        <p:nvSpPr>
          <p:cNvPr id="14" name="node-40">
            <a:extLst xmlns:a="http://schemas.openxmlformats.org/drawingml/2006/main">
              <a:ext uri="{FF2B5EF4-FFF2-40B4-BE49-F238E27FC236}">
                <a16:creationId xmlns:a16="http://schemas.microsoft.com/office/drawing/2014/main" id="{F3CD5A06-34B9-420B-A441-5A6722403367}"/>
              </a:ext>
            </a:extLst>
          </p:cNvPr>
          <p:cNvSpPr>
            <a:spLocks xmlns:a="http://schemas.openxmlformats.org/drawingml/2006/main" noGrp="1"/>
          </p:cNvSpPr>
          <p:nvPr/>
        </p:nvSpPr>
        <p:spPr>
          <a:xfrm xmlns:a="http://schemas.openxmlformats.org/drawingml/2006/main">
            <a:off x="5000625" y="1476375"/>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Scoped access</a:t>
            </a:r>
          </a:p>
        </p:txBody>
      </p:sp>
      <p:sp>
        <p:nvSpPr>
          <p:cNvPr id="15" name="node-41">
            <a:extLst xmlns:a="http://schemas.openxmlformats.org/drawingml/2006/main">
              <a:ext uri="{FF2B5EF4-FFF2-40B4-BE49-F238E27FC236}">
                <a16:creationId xmlns:a16="http://schemas.microsoft.com/office/drawing/2014/main" id="{89136F95-D092-4207-8F9D-F317A057062B}"/>
              </a:ext>
            </a:extLst>
          </p:cNvPr>
          <p:cNvSpPr>
            <a:spLocks xmlns:a="http://schemas.openxmlformats.org/drawingml/2006/main" noGrp="1"/>
          </p:cNvSpPr>
          <p:nvPr/>
        </p:nvSpPr>
        <p:spPr>
          <a:xfrm xmlns:a="http://schemas.openxmlformats.org/drawingml/2006/main">
            <a:off x="7334250" y="1476375"/>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Expert discussion</a:t>
            </a:r>
          </a:p>
        </p:txBody>
      </p:sp>
      <p:sp>
        <p:nvSpPr>
          <p:cNvPr id="16" name="node-42">
            <a:extLst xmlns:a="http://schemas.openxmlformats.org/drawingml/2006/main">
              <a:ext uri="{FF2B5EF4-FFF2-40B4-BE49-F238E27FC236}">
                <a16:creationId xmlns:a16="http://schemas.microsoft.com/office/drawing/2014/main" id="{4CF84353-022F-4FF2-8757-C959BB12E4C8}"/>
              </a:ext>
            </a:extLst>
          </p:cNvPr>
          <p:cNvSpPr>
            <a:spLocks xmlns:a="http://schemas.openxmlformats.org/drawingml/2006/main" noGrp="1"/>
          </p:cNvSpPr>
          <p:nvPr/>
        </p:nvSpPr>
        <p:spPr>
          <a:xfrm xmlns:a="http://schemas.openxmlformats.org/drawingml/2006/main">
            <a:off x="9667875" y="1476375"/>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Confirm report</a:t>
            </a:r>
          </a:p>
        </p:txBody>
      </p:sp>
      <p:cxnSp>
        <p:nvCxnSpPr>
          <p:cNvPr id="67" name=""/>
          <p:cNvCxnSpPr>
            <a:stCxn xmlns:a="http://schemas.openxmlformats.org/drawingml/2006/main" id="13" idx="3"/>
            <a:endCxn xmlns:a="http://schemas.openxmlformats.org/drawingml/2006/main" id="14" idx="1"/>
          </p:cNvCxnSpPr>
          <p:nvPr/>
        </p:nvCxnSpPr>
        <p:spPr>
          <a:xfrm xmlns:a="http://schemas.openxmlformats.org/drawingml/2006/main">
            <a:off x="4791075" y="1800225"/>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68" name=""/>
          <p:cNvCxnSpPr>
            <a:stCxn xmlns:a="http://schemas.openxmlformats.org/drawingml/2006/main" id="14" idx="3"/>
            <a:endCxn xmlns:a="http://schemas.openxmlformats.org/drawingml/2006/main" id="15" idx="1"/>
          </p:cNvCxnSpPr>
          <p:nvPr/>
        </p:nvCxnSpPr>
        <p:spPr>
          <a:xfrm xmlns:a="http://schemas.openxmlformats.org/drawingml/2006/main">
            <a:off x="7124700" y="1800225"/>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69" name=""/>
          <p:cNvCxnSpPr>
            <a:stCxn xmlns:a="http://schemas.openxmlformats.org/drawingml/2006/main" id="15" idx="3"/>
            <a:endCxn xmlns:a="http://schemas.openxmlformats.org/drawingml/2006/main" id="16" idx="1"/>
          </p:cNvCxnSpPr>
          <p:nvPr/>
        </p:nvCxnSpPr>
        <p:spPr>
          <a:xfrm xmlns:a="http://schemas.openxmlformats.org/drawingml/2006/main">
            <a:off x="9458325" y="1800225"/>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sp>
        <p:nvSpPr>
          <p:cNvPr id="20" name="content-43">
            <a:extLst xmlns:a="http://schemas.openxmlformats.org/drawingml/2006/main">
              <a:ext uri="{FF2B5EF4-FFF2-40B4-BE49-F238E27FC236}">
                <a16:creationId xmlns:a16="http://schemas.microsoft.com/office/drawing/2014/main" id="{9A51996F-DC24-4A5F-A02D-074094F164DF}"/>
              </a:ext>
            </a:extLst>
          </p:cNvPr>
          <p:cNvSpPr>
            <a:spLocks xmlns:a="http://schemas.openxmlformats.org/drawingml/2006/main" noGrp="1"/>
          </p:cNvSpPr>
          <p:nvPr/>
        </p:nvSpPr>
        <p:spPr>
          <a:xfrm xmlns:a="http://schemas.openxmlformats.org/drawingml/2006/main">
            <a:off x="2667000" y="2324100"/>
            <a:ext cx="91249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Upload records and images, compile discussion findings into a draft report</a:t>
            </a:r>
          </a:p>
        </p:txBody>
      </p:sp>
      <p:sp>
        <p:nvSpPr>
          <p:cNvPr id="21" name="content-44">
            <a:extLst xmlns:a="http://schemas.openxmlformats.org/drawingml/2006/main">
              <a:ext uri="{FF2B5EF4-FFF2-40B4-BE49-F238E27FC236}">
                <a16:creationId xmlns:a16="http://schemas.microsoft.com/office/drawing/2014/main" id="{161D0ACF-F88A-400D-BCF9-6902E035F13F}"/>
              </a:ext>
            </a:extLst>
          </p:cNvPr>
          <p:cNvSpPr>
            <a:spLocks xmlns:a="http://schemas.openxmlformats.org/drawingml/2006/main" noGrp="1"/>
          </p:cNvSpPr>
          <p:nvPr/>
        </p:nvSpPr>
        <p:spPr>
          <a:xfrm xmlns:a="http://schemas.openxmlformats.org/drawingml/2006/main">
            <a:off x="400050" y="3581400"/>
            <a:ext cx="223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2D607A"/>
                </a:solidFill>
                <a:latin typeface="Inter"/>
                <a:ea typeface="Inter"/>
                <a:cs typeface="Inter"/>
              </a:defRPr>
            </a:pPr>
            <a:r>
              <a:rPr sz="2100" b="1">
                <a:solidFill>
                  <a:srgbClr val="2D607A"/>
                </a:solidFill>
                <a:latin typeface="Inter"/>
                <a:ea typeface="Inter"/>
                <a:cs typeface="Inter"/>
              </a:rPr>
              <a:t>Health management</a:t>
            </a:r>
          </a:p>
        </p:txBody>
      </p:sp>
      <p:sp>
        <p:nvSpPr>
          <p:cNvPr id="22" name="node-45">
            <a:extLst xmlns:a="http://schemas.openxmlformats.org/drawingml/2006/main">
              <a:ext uri="{FF2B5EF4-FFF2-40B4-BE49-F238E27FC236}">
                <a16:creationId xmlns:a16="http://schemas.microsoft.com/office/drawing/2014/main" id="{9CED2D9C-07E4-43E9-9769-B6FC25333EC8}"/>
              </a:ext>
            </a:extLst>
          </p:cNvPr>
          <p:cNvSpPr>
            <a:spLocks xmlns:a="http://schemas.openxmlformats.org/drawingml/2006/main" noGrp="1"/>
          </p:cNvSpPr>
          <p:nvPr/>
        </p:nvSpPr>
        <p:spPr>
          <a:xfrm xmlns:a="http://schemas.openxmlformats.org/drawingml/2006/main">
            <a:off x="2667000" y="3619500"/>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Create plan</a:t>
            </a:r>
          </a:p>
        </p:txBody>
      </p:sp>
      <p:sp>
        <p:nvSpPr>
          <p:cNvPr id="23" name="node-46">
            <a:extLst xmlns:a="http://schemas.openxmlformats.org/drawingml/2006/main">
              <a:ext uri="{FF2B5EF4-FFF2-40B4-BE49-F238E27FC236}">
                <a16:creationId xmlns:a16="http://schemas.microsoft.com/office/drawing/2014/main" id="{C72A1154-547F-4673-A5C4-B739687885C2}"/>
              </a:ext>
            </a:extLst>
          </p:cNvPr>
          <p:cNvSpPr>
            <a:spLocks xmlns:a="http://schemas.openxmlformats.org/drawingml/2006/main" noGrp="1"/>
          </p:cNvSpPr>
          <p:nvPr/>
        </p:nvSpPr>
        <p:spPr>
          <a:xfrm xmlns:a="http://schemas.openxmlformats.org/drawingml/2006/main">
            <a:off x="5000625" y="3619500"/>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Receive readings</a:t>
            </a:r>
          </a:p>
        </p:txBody>
      </p:sp>
      <p:sp>
        <p:nvSpPr>
          <p:cNvPr id="24" name="node-47">
            <a:extLst xmlns:a="http://schemas.openxmlformats.org/drawingml/2006/main">
              <a:ext uri="{FF2B5EF4-FFF2-40B4-BE49-F238E27FC236}">
                <a16:creationId xmlns:a16="http://schemas.microsoft.com/office/drawing/2014/main" id="{A8E85841-AC52-481B-B592-4B84EC26D70F}"/>
              </a:ext>
            </a:extLst>
          </p:cNvPr>
          <p:cNvSpPr>
            <a:spLocks xmlns:a="http://schemas.openxmlformats.org/drawingml/2006/main" noGrp="1"/>
          </p:cNvSpPr>
          <p:nvPr/>
        </p:nvSpPr>
        <p:spPr>
          <a:xfrm xmlns:a="http://schemas.openxmlformats.org/drawingml/2006/main">
            <a:off x="7334250" y="3619500"/>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Notify patient</a:t>
            </a:r>
          </a:p>
        </p:txBody>
      </p:sp>
      <p:sp>
        <p:nvSpPr>
          <p:cNvPr id="25" name="node-48">
            <a:extLst xmlns:a="http://schemas.openxmlformats.org/drawingml/2006/main">
              <a:ext uri="{FF2B5EF4-FFF2-40B4-BE49-F238E27FC236}">
                <a16:creationId xmlns:a16="http://schemas.microsoft.com/office/drawing/2014/main" id="{55452177-5BD7-4F9C-BA4B-A4FE5C72EA1A}"/>
              </a:ext>
            </a:extLst>
          </p:cNvPr>
          <p:cNvSpPr>
            <a:spLocks xmlns:a="http://schemas.openxmlformats.org/drawingml/2006/main" noGrp="1"/>
          </p:cNvSpPr>
          <p:nvPr/>
        </p:nvSpPr>
        <p:spPr>
          <a:xfrm xmlns:a="http://schemas.openxmlformats.org/drawingml/2006/main">
            <a:off x="9667875" y="3619500"/>
            <a:ext cx="212407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Assess and revise</a:t>
            </a:r>
          </a:p>
        </p:txBody>
      </p:sp>
      <p:cxnSp>
        <p:nvCxnSpPr>
          <p:cNvPr id="76" name=""/>
          <p:cNvCxnSpPr>
            <a:stCxn xmlns:a="http://schemas.openxmlformats.org/drawingml/2006/main" id="22" idx="3"/>
            <a:endCxn xmlns:a="http://schemas.openxmlformats.org/drawingml/2006/main" id="23" idx="1"/>
          </p:cNvCxnSpPr>
          <p:nvPr/>
        </p:nvCxnSpPr>
        <p:spPr>
          <a:xfrm xmlns:a="http://schemas.openxmlformats.org/drawingml/2006/main">
            <a:off x="4791075" y="3943350"/>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77" name=""/>
          <p:cNvCxnSpPr>
            <a:stCxn xmlns:a="http://schemas.openxmlformats.org/drawingml/2006/main" id="23" idx="3"/>
            <a:endCxn xmlns:a="http://schemas.openxmlformats.org/drawingml/2006/main" id="24" idx="1"/>
          </p:cNvCxnSpPr>
          <p:nvPr/>
        </p:nvCxnSpPr>
        <p:spPr>
          <a:xfrm xmlns:a="http://schemas.openxmlformats.org/drawingml/2006/main">
            <a:off x="7124700" y="3943350"/>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cxnSp>
        <p:nvCxnSpPr>
          <p:cNvPr id="78" name=""/>
          <p:cNvCxnSpPr>
            <a:stCxn xmlns:a="http://schemas.openxmlformats.org/drawingml/2006/main" id="24" idx="3"/>
            <a:endCxn xmlns:a="http://schemas.openxmlformats.org/drawingml/2006/main" id="25" idx="1"/>
          </p:cNvCxnSpPr>
          <p:nvPr/>
        </p:nvCxnSpPr>
        <p:spPr>
          <a:xfrm xmlns:a="http://schemas.openxmlformats.org/drawingml/2006/main">
            <a:off x="9458325" y="3943350"/>
            <a:ext cx="209550" cy="0"/>
          </a:xfrm>
          <a:prstGeom xmlns:a="http://schemas.openxmlformats.org/drawingml/2006/main" prst="straightConnector1">
            <a:avLst/>
          </a:prstGeom>
          <a:ln xmlns:a="http://schemas.openxmlformats.org/drawingml/2006/main" w="19050">
            <a:solidFill>
              <a:srgbClr val="2D607A"/>
            </a:solidFill>
            <a:tailEnd type="arrow" w="med" len="med"/>
          </a:ln>
        </p:spPr>
      </p:cxnSp>
      <p:sp>
        <p:nvSpPr>
          <p:cNvPr id="29" name="line-49">
            <a:extLst xmlns:a="http://schemas.openxmlformats.org/drawingml/2006/main">
              <a:ext uri="{FF2B5EF4-FFF2-40B4-BE49-F238E27FC236}">
                <a16:creationId xmlns:a16="http://schemas.microsoft.com/office/drawing/2014/main" id="{C2067627-65E7-4803-A540-758480B34558}"/>
              </a:ext>
            </a:extLst>
          </p:cNvPr>
          <p:cNvSpPr>
            <a:spLocks xmlns:a="http://schemas.openxmlformats.org/drawingml/2006/main" noGrp="1"/>
          </p:cNvSpPr>
          <p:nvPr/>
        </p:nvSpPr>
        <p:spPr>
          <a:xfrm xmlns:a="http://schemas.openxmlformats.org/drawingml/2006/main">
            <a:off x="10725150" y="4267200"/>
            <a:ext cx="0" cy="35242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30" name="line-50">
            <a:extLst xmlns:a="http://schemas.openxmlformats.org/drawingml/2006/main">
              <a:ext uri="{FF2B5EF4-FFF2-40B4-BE49-F238E27FC236}">
                <a16:creationId xmlns:a16="http://schemas.microsoft.com/office/drawing/2014/main" id="{8A0222F4-3E4B-4368-A2E8-2083B5181C6D}"/>
              </a:ext>
            </a:extLst>
          </p:cNvPr>
          <p:cNvSpPr>
            <a:spLocks xmlns:a="http://schemas.openxmlformats.org/drawingml/2006/main" noGrp="1"/>
          </p:cNvSpPr>
          <p:nvPr/>
        </p:nvSpPr>
        <p:spPr>
          <a:xfrm xmlns:a="http://schemas.openxmlformats.org/drawingml/2006/main">
            <a:off x="3724275" y="4619625"/>
            <a:ext cx="700087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31" name="content-51">
            <a:extLst xmlns:a="http://schemas.openxmlformats.org/drawingml/2006/main">
              <a:ext uri="{FF2B5EF4-FFF2-40B4-BE49-F238E27FC236}">
                <a16:creationId xmlns:a16="http://schemas.microsoft.com/office/drawing/2014/main" id="{4292CC48-6AB5-414F-ABEC-271639025313}"/>
              </a:ext>
            </a:extLst>
          </p:cNvPr>
          <p:cNvSpPr>
            <a:spLocks xmlns:a="http://schemas.openxmlformats.org/drawingml/2006/main" noGrp="1"/>
          </p:cNvSpPr>
          <p:nvPr/>
        </p:nvSpPr>
        <p:spPr>
          <a:xfrm xmlns:a="http://schemas.openxmlformats.org/drawingml/2006/main">
            <a:off x="3714750" y="4610100"/>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r>
              <a:t/>
            </a:r>
          </a:p>
        </p:txBody>
      </p:sp>
      <p:cxnSp>
        <p:nvCxnSpPr>
          <p:cNvPr id="82" name=""/>
          <p:cNvCxnSpPr>
            <a:stCxn xmlns:a="http://schemas.openxmlformats.org/drawingml/2006/main" id="31" idx="0"/>
            <a:endCxn xmlns:a="http://schemas.openxmlformats.org/drawingml/2006/main" id="22" idx="2"/>
          </p:cNvCxnSpPr>
          <p:nvPr/>
        </p:nvCxnSpPr>
        <p:spPr>
          <a:xfrm xmlns:a="http://schemas.openxmlformats.org/drawingml/2006/main" flipV="1">
            <a:off x="3724275" y="4267200"/>
            <a:ext cx="4763" cy="342900"/>
          </a:xfrm>
          <a:prstGeom xmlns:a="http://schemas.openxmlformats.org/drawingml/2006/main" prst="bentConnector4">
            <a:avLst>
              <a:gd name="adj1" fmla="val 0"/>
              <a:gd name="adj2" fmla="val 50000"/>
            </a:avLst>
          </a:prstGeom>
          <a:ln xmlns:a="http://schemas.openxmlformats.org/drawingml/2006/main" w="19050">
            <a:solidFill>
              <a:srgbClr val="2D607A"/>
            </a:solidFill>
            <a:tailEnd type="arrow" w="med" len="med"/>
          </a:ln>
        </p:spPr>
      </p:cxnSp>
      <p:sp>
        <p:nvSpPr>
          <p:cNvPr id="33" name="content-52">
            <a:extLst xmlns:a="http://schemas.openxmlformats.org/drawingml/2006/main">
              <a:ext uri="{FF2B5EF4-FFF2-40B4-BE49-F238E27FC236}">
                <a16:creationId xmlns:a16="http://schemas.microsoft.com/office/drawing/2014/main" id="{9BF4E5BD-D264-4BD3-8A76-4BE5F4D511B0}"/>
              </a:ext>
            </a:extLst>
          </p:cNvPr>
          <p:cNvSpPr>
            <a:spLocks xmlns:a="http://schemas.openxmlformats.org/drawingml/2006/main" noGrp="1"/>
          </p:cNvSpPr>
          <p:nvPr/>
        </p:nvSpPr>
        <p:spPr>
          <a:xfrm xmlns:a="http://schemas.openxmlformats.org/drawingml/2006/main">
            <a:off x="2667000" y="4829175"/>
            <a:ext cx="91249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46B77"/>
                </a:solidFill>
                <a:latin typeface="Inter"/>
                <a:ea typeface="Inter"/>
                <a:cs typeface="Inter"/>
              </a:defRPr>
            </a:pPr>
            <a:r>
              <a:rPr sz="1800" b="0">
                <a:solidFill>
                  <a:srgbClr val="546B77"/>
                </a:solidFill>
                <a:latin typeface="Inter"/>
                <a:ea typeface="Inter"/>
                <a:cs typeface="Inter"/>
              </a:rPr>
              <a:t>Display validated readings such as blood pressure and glucose, retry failed reminder jobs</a:t>
            </a:r>
          </a:p>
        </p:txBody>
      </p:sp>
      <p:sp>
        <p:nvSpPr>
          <p:cNvPr id="34" name="content-53">
            <a:extLst xmlns:a="http://schemas.openxmlformats.org/drawingml/2006/main">
              <a:ext uri="{FF2B5EF4-FFF2-40B4-BE49-F238E27FC236}">
                <a16:creationId xmlns:a16="http://schemas.microsoft.com/office/drawing/2014/main" id="{D9FA6D4B-2FBF-450C-B6D6-D7267F96BF1E}"/>
              </a:ext>
            </a:extLst>
          </p:cNvPr>
          <p:cNvSpPr>
            <a:spLocks xmlns:a="http://schemas.openxmlformats.org/drawingml/2006/main" noGrp="1"/>
          </p:cNvSpPr>
          <p:nvPr/>
        </p:nvSpPr>
        <p:spPr>
          <a:xfrm xmlns:a="http://schemas.openxmlformats.org/drawingml/2006/main">
            <a:off x="400050" y="5838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Design rule: doctors confirm reports and use assessments to update the next care plan</a:t>
            </a:r>
          </a:p>
        </p:txBody>
      </p:sp>
    </p:spTree>
    <p:extLst>
      <p:ext uri="{BB962C8B-B14F-4D97-AF65-F5344CB8AC3E}">
        <p14:creationId xmlns:p14="http://schemas.microsoft.com/office/powerpoint/2010/main" val="16784133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3D911AFA-A941-75BF-FE8A-5289E197747C}"/>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6</a:t>
            </a:fld>
            <a:endParaRPr/>
          </a:p>
        </p:txBody>
      </p:sp>
      <p:sp>
        <p:nvSpPr>
          <p:cNvPr id="533" name="Title Reused">
            <a:extLst xmlns:a="http://schemas.openxmlformats.org/drawingml/2006/main">
              <a:ext uri="{FF2B5EF4-FFF2-40B4-BE49-F238E27FC236}">
                <a16:creationId xmlns:a16="http://schemas.microsoft.com/office/drawing/2014/main" id="{4C055269-43CF-5537-A1B0-DC932A8FB188}"/>
              </a:ext>
            </a:extLst>
          </p:cNvPr>
          <p:cNvSpPr>
            <a:spLocks xmlns:a="http://schemas.openxmlformats.org/drawingml/2006/main" noGrp="1"/>
          </p:cNvSpPr>
          <p:nvPr>
            <p:ph type="title" idx="0"/>
          </p:nvPr>
        </p:nvSpPr>
        <p:spPr>
          <a:xfrm xmlns:a="http://schemas.openxmlformats.org/drawingml/2006/main">
            <a:off x="393668" y="344043"/>
            <a:ext cx="11404568" cy="9048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Windows desktop with embedded services</a:t>
            </a:r>
            <a:endParaRPr/>
          </a:p>
        </p:txBody>
      </p:sp>
      <p:sp>
        <p:nvSpPr>
          <p:cNvPr id="4" name="Footer Placeholder 3">
            <a:extLst xmlns:a="http://schemas.openxmlformats.org/drawingml/2006/main">
              <a:ext uri="{FF2B5EF4-FFF2-40B4-BE49-F238E27FC236}">
                <a16:creationId xmlns:a16="http://schemas.microsoft.com/office/drawing/2014/main" id="{74612A72-3676-A3F7-8578-975B86130C86}"/>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34" name="node-54">
            <a:extLst xmlns:a="http://schemas.openxmlformats.org/drawingml/2006/main">
              <a:ext uri="{FF2B5EF4-FFF2-40B4-BE49-F238E27FC236}">
                <a16:creationId xmlns:a16="http://schemas.microsoft.com/office/drawing/2014/main" id="{314ADA3F-7D23-447B-9C60-EF8CE630AD6C}"/>
              </a:ext>
            </a:extLst>
          </p:cNvPr>
          <p:cNvSpPr>
            <a:spLocks xmlns:a="http://schemas.openxmlformats.org/drawingml/2006/main" noGrp="1"/>
          </p:cNvSpPr>
          <p:nvPr/>
        </p:nvSpPr>
        <p:spPr>
          <a:xfrm xmlns:a="http://schemas.openxmlformats.org/drawingml/2006/main">
            <a:off x="400050" y="1371600"/>
            <a:ext cx="4143375" cy="533400"/>
          </a:xfrm>
          <a:prstGeom xmlns:a="http://schemas.openxmlformats.org/drawingml/2006/main" prst="rect">
            <a:avLst/>
          </a:prstGeom>
          <a:solidFill xmlns:a="http://schemas.openxmlformats.org/drawingml/2006/main">
            <a:srgbClr val="2D607A"/>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FFFFFF"/>
                </a:solidFill>
                <a:latin typeface="Inter"/>
                <a:ea typeface="Inter"/>
                <a:cs typeface="Inter"/>
              </a:defRPr>
            </a:pPr>
            <a:r>
              <a:rPr sz="1875" b="0">
                <a:solidFill>
                  <a:srgbClr val="FFFFFF"/>
                </a:solidFill>
                <a:latin typeface="Inter"/>
                <a:ea typeface="Inter"/>
                <a:cs typeface="Inter"/>
              </a:rPr>
              <a:t>React desktop renderer</a:t>
            </a:r>
          </a:p>
        </p:txBody>
      </p:sp>
      <p:sp>
        <p:nvSpPr>
          <p:cNvPr id="535" name="node-55">
            <a:extLst xmlns:a="http://schemas.openxmlformats.org/drawingml/2006/main">
              <a:ext uri="{FF2B5EF4-FFF2-40B4-BE49-F238E27FC236}">
                <a16:creationId xmlns:a16="http://schemas.microsoft.com/office/drawing/2014/main" id="{3D2B4E7D-752C-41A1-B528-91348D6ED9B7}"/>
              </a:ext>
            </a:extLst>
          </p:cNvPr>
          <p:cNvSpPr>
            <a:spLocks xmlns:a="http://schemas.openxmlformats.org/drawingml/2006/main" noGrp="1"/>
          </p:cNvSpPr>
          <p:nvPr/>
        </p:nvSpPr>
        <p:spPr>
          <a:xfrm xmlns:a="http://schemas.openxmlformats.org/drawingml/2006/main">
            <a:off x="4781550" y="1371600"/>
            <a:ext cx="4152900" cy="53340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Electron main process</a:t>
            </a:r>
          </a:p>
        </p:txBody>
      </p:sp>
      <p:sp>
        <p:nvSpPr>
          <p:cNvPr id="536" name="node-56">
            <a:extLst xmlns:a="http://schemas.openxmlformats.org/drawingml/2006/main">
              <a:ext uri="{FF2B5EF4-FFF2-40B4-BE49-F238E27FC236}">
                <a16:creationId xmlns:a16="http://schemas.microsoft.com/office/drawing/2014/main" id="{9321DF4A-84FD-4220-BA99-4621CC38AC49}"/>
              </a:ext>
            </a:extLst>
          </p:cNvPr>
          <p:cNvSpPr>
            <a:spLocks xmlns:a="http://schemas.openxmlformats.org/drawingml/2006/main" noGrp="1"/>
          </p:cNvSpPr>
          <p:nvPr/>
        </p:nvSpPr>
        <p:spPr>
          <a:xfrm xmlns:a="http://schemas.openxmlformats.org/drawingml/2006/main">
            <a:off x="400050" y="2238375"/>
            <a:ext cx="8534400" cy="4953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carelink://app/api/v1</a:t>
            </a:r>
          </a:p>
        </p:txBody>
      </p:sp>
      <p:cxnSp>
        <p:nvCxnSpPr>
          <p:cNvPr id="584" name=""/>
          <p:cNvCxnSpPr>
            <a:stCxn xmlns:a="http://schemas.openxmlformats.org/drawingml/2006/main" id="534" idx="2"/>
            <a:endCxn xmlns:a="http://schemas.openxmlformats.org/drawingml/2006/main" id="536" idx="0"/>
          </p:cNvCxnSpPr>
          <p:nvPr/>
        </p:nvCxnSpPr>
        <p:spPr>
          <a:xfrm xmlns:a="http://schemas.openxmlformats.org/drawingml/2006/main">
            <a:off x="2471738" y="1905000"/>
            <a:ext cx="2195513" cy="333375"/>
          </a:xfrm>
          <a:prstGeom xmlns:a="http://schemas.openxmlformats.org/drawingml/2006/main" prst="bentConnector4">
            <a:avLst>
              <a:gd name="adj1" fmla="val 0"/>
              <a:gd name="adj2" fmla="val 50000"/>
            </a:avLst>
          </a:prstGeom>
          <a:ln xmlns:a="http://schemas.openxmlformats.org/drawingml/2006/main" w="19050">
            <a:solidFill>
              <a:srgbClr val="2D607A"/>
            </a:solidFill>
            <a:tailEnd type="arrow" w="med" len="med"/>
          </a:ln>
        </p:spPr>
      </p:cxnSp>
      <p:cxnSp>
        <p:nvCxnSpPr>
          <p:cNvPr id="585" name=""/>
          <p:cNvCxnSpPr>
            <a:stCxn xmlns:a="http://schemas.openxmlformats.org/drawingml/2006/main" id="535" idx="2"/>
            <a:endCxn xmlns:a="http://schemas.openxmlformats.org/drawingml/2006/main" id="536" idx="0"/>
          </p:cNvCxnSpPr>
          <p:nvPr/>
        </p:nvCxnSpPr>
        <p:spPr>
          <a:xfrm xmlns:a="http://schemas.openxmlformats.org/drawingml/2006/main" flipH="1">
            <a:off x="4667250" y="1905000"/>
            <a:ext cx="2190750" cy="333375"/>
          </a:xfrm>
          <a:prstGeom xmlns:a="http://schemas.openxmlformats.org/drawingml/2006/main" prst="bentConnector4">
            <a:avLst>
              <a:gd name="adj1" fmla="val 0"/>
              <a:gd name="adj2" fmla="val 50000"/>
            </a:avLst>
          </a:prstGeom>
          <a:ln xmlns:a="http://schemas.openxmlformats.org/drawingml/2006/main" w="19050">
            <a:solidFill>
              <a:srgbClr val="2D607A"/>
            </a:solidFill>
            <a:tailEnd type="arrow" w="med" len="med"/>
          </a:ln>
        </p:spPr>
      </p:cxnSp>
      <p:sp>
        <p:nvSpPr>
          <p:cNvPr id="539" name="content-57">
            <a:extLst xmlns:a="http://schemas.openxmlformats.org/drawingml/2006/main">
              <a:ext uri="{FF2B5EF4-FFF2-40B4-BE49-F238E27FC236}">
                <a16:creationId xmlns:a16="http://schemas.microsoft.com/office/drawing/2014/main" id="{29B32F6E-7216-4047-B910-BFA7B005BBE4}"/>
              </a:ext>
            </a:extLst>
          </p:cNvPr>
          <p:cNvSpPr>
            <a:spLocks xmlns:a="http://schemas.openxmlformats.org/drawingml/2006/main" noGrp="1"/>
          </p:cNvSpPr>
          <p:nvPr/>
        </p:nvSpPr>
        <p:spPr>
          <a:xfrm xmlns:a="http://schemas.openxmlformats.org/drawingml/2006/main">
            <a:off x="666750" y="281940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46B77"/>
                </a:solidFill>
                <a:latin typeface="Inter"/>
                <a:ea typeface="Inter"/>
                <a:cs typeface="Inter"/>
              </a:defRPr>
            </a:pPr>
            <a:r>
              <a:rPr sz="1650" b="0">
                <a:solidFill>
                  <a:srgbClr val="546B77"/>
                </a:solidFill>
                <a:latin typeface="Inter"/>
                <a:ea typeface="Inter"/>
                <a:cs typeface="Inter"/>
              </a:rPr>
              <a:t>Embedded Fastify via app.inject; no HTTP listener</a:t>
            </a:r>
          </a:p>
        </p:txBody>
      </p:sp>
      <p:sp>
        <p:nvSpPr>
          <p:cNvPr id="540" name="content-58">
            <a:extLst xmlns:a="http://schemas.openxmlformats.org/drawingml/2006/main">
              <a:ext uri="{FF2B5EF4-FFF2-40B4-BE49-F238E27FC236}">
                <a16:creationId xmlns:a16="http://schemas.microsoft.com/office/drawing/2014/main" id="{C63355D9-42E4-4A0E-98E9-7166F2C9ED59}"/>
              </a:ext>
            </a:extLst>
          </p:cNvPr>
          <p:cNvSpPr>
            <a:spLocks xmlns:a="http://schemas.openxmlformats.org/drawingml/2006/main" noGrp="1"/>
          </p:cNvSpPr>
          <p:nvPr/>
        </p:nvSpPr>
        <p:spPr>
          <a:xfrm xmlns:a="http://schemas.openxmlformats.org/drawingml/2006/main">
            <a:off x="400050" y="3238500"/>
            <a:ext cx="853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1">
                <a:solidFill>
                  <a:srgbClr val="2D607A"/>
                </a:solidFill>
                <a:latin typeface="Inter"/>
                <a:ea typeface="Inter"/>
                <a:cs typeface="Inter"/>
              </a:defRPr>
            </a:pPr>
            <a:r>
              <a:rPr sz="1575" b="1">
                <a:solidFill>
                  <a:srgbClr val="2D607A"/>
                </a:solidFill>
                <a:latin typeface="Inter"/>
                <a:ea typeface="Inter"/>
                <a:cs typeface="Inter"/>
              </a:rPr>
              <a:t>Owned domain modules with synthetic read views</a:t>
            </a:r>
          </a:p>
        </p:txBody>
      </p:sp>
      <p:sp>
        <p:nvSpPr>
          <p:cNvPr id="541" name="node-59">
            <a:extLst xmlns:a="http://schemas.openxmlformats.org/drawingml/2006/main">
              <a:ext uri="{FF2B5EF4-FFF2-40B4-BE49-F238E27FC236}">
                <a16:creationId xmlns:a16="http://schemas.microsoft.com/office/drawing/2014/main" id="{2D37EA87-2BE2-4C88-88F0-B70C73BF30CD}"/>
              </a:ext>
            </a:extLst>
          </p:cNvPr>
          <p:cNvSpPr>
            <a:spLocks xmlns:a="http://schemas.openxmlformats.org/drawingml/2006/main" noGrp="1"/>
          </p:cNvSpPr>
          <p:nvPr/>
        </p:nvSpPr>
        <p:spPr>
          <a:xfrm xmlns:a="http://schemas.openxmlformats.org/drawingml/2006/main">
            <a:off x="400050" y="3657600"/>
            <a:ext cx="199072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Patients and health</a:t>
            </a:r>
          </a:p>
        </p:txBody>
      </p:sp>
      <p:sp>
        <p:nvSpPr>
          <p:cNvPr id="542" name="node-60">
            <a:extLst xmlns:a="http://schemas.openxmlformats.org/drawingml/2006/main">
              <a:ext uri="{FF2B5EF4-FFF2-40B4-BE49-F238E27FC236}">
                <a16:creationId xmlns:a16="http://schemas.microsoft.com/office/drawing/2014/main" id="{9C42B9A2-8ED9-43C4-BC73-7E27E4A8D91B}"/>
              </a:ext>
            </a:extLst>
          </p:cNvPr>
          <p:cNvSpPr>
            <a:spLocks xmlns:a="http://schemas.openxmlformats.org/drawingml/2006/main" noGrp="1"/>
          </p:cNvSpPr>
          <p:nvPr/>
        </p:nvSpPr>
        <p:spPr>
          <a:xfrm xmlns:a="http://schemas.openxmlformats.org/drawingml/2006/main">
            <a:off x="2581275" y="3657600"/>
            <a:ext cx="199072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Consultations</a:t>
            </a:r>
          </a:p>
        </p:txBody>
      </p:sp>
      <p:sp>
        <p:nvSpPr>
          <p:cNvPr id="543" name="node-61">
            <a:extLst xmlns:a="http://schemas.openxmlformats.org/drawingml/2006/main">
              <a:ext uri="{FF2B5EF4-FFF2-40B4-BE49-F238E27FC236}">
                <a16:creationId xmlns:a16="http://schemas.microsoft.com/office/drawing/2014/main" id="{F7E88954-04F6-4630-9F44-B2FA4FF89958}"/>
              </a:ext>
            </a:extLst>
          </p:cNvPr>
          <p:cNvSpPr>
            <a:spLocks xmlns:a="http://schemas.openxmlformats.org/drawingml/2006/main" noGrp="1"/>
          </p:cNvSpPr>
          <p:nvPr/>
        </p:nvSpPr>
        <p:spPr>
          <a:xfrm xmlns:a="http://schemas.openxmlformats.org/drawingml/2006/main">
            <a:off x="4762500" y="3657600"/>
            <a:ext cx="199072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Records and orders</a:t>
            </a:r>
          </a:p>
        </p:txBody>
      </p:sp>
      <p:sp>
        <p:nvSpPr>
          <p:cNvPr id="544" name="node-62">
            <a:extLst xmlns:a="http://schemas.openxmlformats.org/drawingml/2006/main">
              <a:ext uri="{FF2B5EF4-FFF2-40B4-BE49-F238E27FC236}">
                <a16:creationId xmlns:a16="http://schemas.microsoft.com/office/drawing/2014/main" id="{75291FBF-0B57-4A34-8C6B-01D8F0D69CD7}"/>
              </a:ext>
            </a:extLst>
          </p:cNvPr>
          <p:cNvSpPr>
            <a:spLocks xmlns:a="http://schemas.openxmlformats.org/drawingml/2006/main" noGrp="1"/>
          </p:cNvSpPr>
          <p:nvPr/>
        </p:nvSpPr>
        <p:spPr>
          <a:xfrm xmlns:a="http://schemas.openxmlformats.org/drawingml/2006/main">
            <a:off x="6943725" y="3657600"/>
            <a:ext cx="1990725" cy="64770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Identity and audit</a:t>
            </a:r>
          </a:p>
        </p:txBody>
      </p:sp>
      <p:sp>
        <p:nvSpPr>
          <p:cNvPr id="545" name="line-63">
            <a:extLst xmlns:a="http://schemas.openxmlformats.org/drawingml/2006/main">
              <a:ext uri="{FF2B5EF4-FFF2-40B4-BE49-F238E27FC236}">
                <a16:creationId xmlns:a16="http://schemas.microsoft.com/office/drawing/2014/main" id="{63421884-F76C-4ABB-AACE-7DA18B850BE5}"/>
              </a:ext>
            </a:extLst>
          </p:cNvPr>
          <p:cNvSpPr>
            <a:spLocks xmlns:a="http://schemas.openxmlformats.org/drawingml/2006/main" noGrp="1"/>
          </p:cNvSpPr>
          <p:nvPr/>
        </p:nvSpPr>
        <p:spPr>
          <a:xfrm xmlns:a="http://schemas.openxmlformats.org/drawingml/2006/main">
            <a:off x="2390775" y="3981450"/>
            <a:ext cx="1905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6" name="line-64">
            <a:extLst xmlns:a="http://schemas.openxmlformats.org/drawingml/2006/main">
              <a:ext uri="{FF2B5EF4-FFF2-40B4-BE49-F238E27FC236}">
                <a16:creationId xmlns:a16="http://schemas.microsoft.com/office/drawing/2014/main" id="{29163190-5F58-483F-BCE0-402B221780EC}"/>
              </a:ext>
            </a:extLst>
          </p:cNvPr>
          <p:cNvSpPr>
            <a:spLocks xmlns:a="http://schemas.openxmlformats.org/drawingml/2006/main" noGrp="1"/>
          </p:cNvSpPr>
          <p:nvPr/>
        </p:nvSpPr>
        <p:spPr>
          <a:xfrm xmlns:a="http://schemas.openxmlformats.org/drawingml/2006/main">
            <a:off x="4572000" y="3981450"/>
            <a:ext cx="1905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7" name="line-65">
            <a:extLst xmlns:a="http://schemas.openxmlformats.org/drawingml/2006/main">
              <a:ext uri="{FF2B5EF4-FFF2-40B4-BE49-F238E27FC236}">
                <a16:creationId xmlns:a16="http://schemas.microsoft.com/office/drawing/2014/main" id="{0577D826-DE74-45A9-8F5F-10945BAEB592}"/>
              </a:ext>
            </a:extLst>
          </p:cNvPr>
          <p:cNvSpPr>
            <a:spLocks xmlns:a="http://schemas.openxmlformats.org/drawingml/2006/main" noGrp="1"/>
          </p:cNvSpPr>
          <p:nvPr/>
        </p:nvSpPr>
        <p:spPr>
          <a:xfrm xmlns:a="http://schemas.openxmlformats.org/drawingml/2006/main">
            <a:off x="6753225" y="3981450"/>
            <a:ext cx="1905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8" name="line-66">
            <a:extLst xmlns:a="http://schemas.openxmlformats.org/drawingml/2006/main">
              <a:ext uri="{FF2B5EF4-FFF2-40B4-BE49-F238E27FC236}">
                <a16:creationId xmlns:a16="http://schemas.microsoft.com/office/drawing/2014/main" id="{778E0946-CA6D-4286-954D-3CF8F0F7FAD4}"/>
              </a:ext>
            </a:extLst>
          </p:cNvPr>
          <p:cNvSpPr>
            <a:spLocks xmlns:a="http://schemas.openxmlformats.org/drawingml/2006/main" noGrp="1"/>
          </p:cNvSpPr>
          <p:nvPr/>
        </p:nvSpPr>
        <p:spPr>
          <a:xfrm xmlns:a="http://schemas.openxmlformats.org/drawingml/2006/main">
            <a:off x="4667250" y="3143250"/>
            <a:ext cx="0" cy="43815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9" name="line-67">
            <a:extLst xmlns:a="http://schemas.openxmlformats.org/drawingml/2006/main">
              <a:ext uri="{FF2B5EF4-FFF2-40B4-BE49-F238E27FC236}">
                <a16:creationId xmlns:a16="http://schemas.microsoft.com/office/drawing/2014/main" id="{A996C74F-94E3-408F-BB2B-4A053BC738AC}"/>
              </a:ext>
            </a:extLst>
          </p:cNvPr>
          <p:cNvSpPr>
            <a:spLocks xmlns:a="http://schemas.openxmlformats.org/drawingml/2006/main" noGrp="1"/>
          </p:cNvSpPr>
          <p:nvPr/>
        </p:nvSpPr>
        <p:spPr>
          <a:xfrm xmlns:a="http://schemas.openxmlformats.org/drawingml/2006/main">
            <a:off x="1390650" y="3581400"/>
            <a:ext cx="654367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0" name="line-68">
            <a:extLst xmlns:a="http://schemas.openxmlformats.org/drawingml/2006/main">
              <a:ext uri="{FF2B5EF4-FFF2-40B4-BE49-F238E27FC236}">
                <a16:creationId xmlns:a16="http://schemas.microsoft.com/office/drawing/2014/main" id="{BF8AB9D3-404E-4B17-8200-0574A2FBB33C}"/>
              </a:ext>
            </a:extLst>
          </p:cNvPr>
          <p:cNvSpPr>
            <a:spLocks xmlns:a="http://schemas.openxmlformats.org/drawingml/2006/main" noGrp="1"/>
          </p:cNvSpPr>
          <p:nvPr/>
        </p:nvSpPr>
        <p:spPr>
          <a:xfrm xmlns:a="http://schemas.openxmlformats.org/drawingml/2006/main">
            <a:off x="1390650" y="3581400"/>
            <a:ext cx="0" cy="7620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1" name="line-69">
            <a:extLst xmlns:a="http://schemas.openxmlformats.org/drawingml/2006/main">
              <a:ext uri="{FF2B5EF4-FFF2-40B4-BE49-F238E27FC236}">
                <a16:creationId xmlns:a16="http://schemas.microsoft.com/office/drawing/2014/main" id="{99394E9A-F1DC-4ECA-BB3B-7B28A8477665}"/>
              </a:ext>
            </a:extLst>
          </p:cNvPr>
          <p:cNvSpPr>
            <a:spLocks xmlns:a="http://schemas.openxmlformats.org/drawingml/2006/main" noGrp="1"/>
          </p:cNvSpPr>
          <p:nvPr/>
        </p:nvSpPr>
        <p:spPr>
          <a:xfrm xmlns:a="http://schemas.openxmlformats.org/drawingml/2006/main">
            <a:off x="3571875" y="3581400"/>
            <a:ext cx="0" cy="7620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2" name="line-70">
            <a:extLst xmlns:a="http://schemas.openxmlformats.org/drawingml/2006/main">
              <a:ext uri="{FF2B5EF4-FFF2-40B4-BE49-F238E27FC236}">
                <a16:creationId xmlns:a16="http://schemas.microsoft.com/office/drawing/2014/main" id="{DF6274D8-A7DA-42AD-8153-C45842E3A34B}"/>
              </a:ext>
            </a:extLst>
          </p:cNvPr>
          <p:cNvSpPr>
            <a:spLocks xmlns:a="http://schemas.openxmlformats.org/drawingml/2006/main" noGrp="1"/>
          </p:cNvSpPr>
          <p:nvPr/>
        </p:nvSpPr>
        <p:spPr>
          <a:xfrm xmlns:a="http://schemas.openxmlformats.org/drawingml/2006/main">
            <a:off x="5753100" y="3581400"/>
            <a:ext cx="0" cy="7620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3" name="line-71">
            <a:extLst xmlns:a="http://schemas.openxmlformats.org/drawingml/2006/main">
              <a:ext uri="{FF2B5EF4-FFF2-40B4-BE49-F238E27FC236}">
                <a16:creationId xmlns:a16="http://schemas.microsoft.com/office/drawing/2014/main" id="{F1AFE1D1-C32F-409A-AE33-3776E0DE3C3A}"/>
              </a:ext>
            </a:extLst>
          </p:cNvPr>
          <p:cNvSpPr>
            <a:spLocks xmlns:a="http://schemas.openxmlformats.org/drawingml/2006/main" noGrp="1"/>
          </p:cNvSpPr>
          <p:nvPr/>
        </p:nvSpPr>
        <p:spPr>
          <a:xfrm xmlns:a="http://schemas.openxmlformats.org/drawingml/2006/main">
            <a:off x="7934325" y="3581400"/>
            <a:ext cx="0" cy="7620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4" name="node-72">
            <a:extLst xmlns:a="http://schemas.openxmlformats.org/drawingml/2006/main">
              <a:ext uri="{FF2B5EF4-FFF2-40B4-BE49-F238E27FC236}">
                <a16:creationId xmlns:a16="http://schemas.microsoft.com/office/drawing/2014/main" id="{A21C57F6-FD50-4489-983F-29745DD52D9E}"/>
              </a:ext>
            </a:extLst>
          </p:cNvPr>
          <p:cNvSpPr>
            <a:spLocks xmlns:a="http://schemas.openxmlformats.org/drawingml/2006/main" noGrp="1"/>
          </p:cNvSpPr>
          <p:nvPr/>
        </p:nvSpPr>
        <p:spPr>
          <a:xfrm xmlns:a="http://schemas.openxmlformats.org/drawingml/2006/main">
            <a:off x="400050" y="4762500"/>
            <a:ext cx="2743200" cy="55245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Local SQLite database</a:t>
            </a:r>
          </a:p>
        </p:txBody>
      </p:sp>
      <p:sp>
        <p:nvSpPr>
          <p:cNvPr id="555" name="content-73">
            <a:extLst xmlns:a="http://schemas.openxmlformats.org/drawingml/2006/main">
              <a:ext uri="{FF2B5EF4-FFF2-40B4-BE49-F238E27FC236}">
                <a16:creationId xmlns:a16="http://schemas.microsoft.com/office/drawing/2014/main" id="{0A6E8A95-9F19-4C97-8DEA-812023EA13EB}"/>
              </a:ext>
            </a:extLst>
          </p:cNvPr>
          <p:cNvSpPr>
            <a:spLocks xmlns:a="http://schemas.openxmlformats.org/drawingml/2006/main" noGrp="1"/>
          </p:cNvSpPr>
          <p:nvPr/>
        </p:nvSpPr>
        <p:spPr>
          <a:xfrm xmlns:a="http://schemas.openxmlformats.org/drawingml/2006/main">
            <a:off x="447675" y="53911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546B77"/>
                </a:solidFill>
                <a:latin typeface="Inter"/>
                <a:ea typeface="Inter"/>
                <a:cs typeface="Inter"/>
              </a:defRPr>
            </a:pPr>
            <a:r>
              <a:rPr sz="1575" b="0">
                <a:solidFill>
                  <a:srgbClr val="546B77"/>
                </a:solidFill>
                <a:latin typeface="Inter"/>
                <a:ea typeface="Inter"/>
                <a:cs typeface="Inter"/>
              </a:rPr>
              <a:t>userData/data/doctor.sqlite</a:t>
            </a:r>
          </a:p>
        </p:txBody>
      </p:sp>
      <p:sp>
        <p:nvSpPr>
          <p:cNvPr id="556" name="node-74">
            <a:extLst xmlns:a="http://schemas.openxmlformats.org/drawingml/2006/main">
              <a:ext uri="{FF2B5EF4-FFF2-40B4-BE49-F238E27FC236}">
                <a16:creationId xmlns:a16="http://schemas.microsoft.com/office/drawing/2014/main" id="{A410A075-3583-4DEA-92CC-F14A01B6C012}"/>
              </a:ext>
            </a:extLst>
          </p:cNvPr>
          <p:cNvSpPr>
            <a:spLocks xmlns:a="http://schemas.openxmlformats.org/drawingml/2006/main" noGrp="1"/>
          </p:cNvSpPr>
          <p:nvPr/>
        </p:nvSpPr>
        <p:spPr>
          <a:xfrm xmlns:a="http://schemas.openxmlformats.org/drawingml/2006/main">
            <a:off x="3295650" y="4762500"/>
            <a:ext cx="2743200" cy="55245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Storage (planned)</a:t>
            </a:r>
          </a:p>
        </p:txBody>
      </p:sp>
      <p:sp>
        <p:nvSpPr>
          <p:cNvPr id="557" name="content-75">
            <a:extLst xmlns:a="http://schemas.openxmlformats.org/drawingml/2006/main">
              <a:ext uri="{FF2B5EF4-FFF2-40B4-BE49-F238E27FC236}">
                <a16:creationId xmlns:a16="http://schemas.microsoft.com/office/drawing/2014/main" id="{257C2714-6331-4B79-8D9E-906785AB7F90}"/>
              </a:ext>
            </a:extLst>
          </p:cNvPr>
          <p:cNvSpPr>
            <a:spLocks xmlns:a="http://schemas.openxmlformats.org/drawingml/2006/main" noGrp="1"/>
          </p:cNvSpPr>
          <p:nvPr/>
        </p:nvSpPr>
        <p:spPr>
          <a:xfrm xmlns:a="http://schemas.openxmlformats.org/drawingml/2006/main">
            <a:off x="3343275" y="53911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546B77"/>
                </a:solidFill>
                <a:latin typeface="Inter"/>
                <a:ea typeface="Inter"/>
                <a:cs typeface="Inter"/>
              </a:defRPr>
            </a:pPr>
            <a:r>
              <a:rPr sz="1575" b="0">
                <a:solidFill>
                  <a:srgbClr val="546B77"/>
                </a:solidFill>
                <a:latin typeface="Inter"/>
                <a:ea typeface="Inter"/>
                <a:cs typeface="Inter"/>
              </a:rPr>
              <a:t>Images, files and recordings</a:t>
            </a:r>
          </a:p>
        </p:txBody>
      </p:sp>
      <p:sp>
        <p:nvSpPr>
          <p:cNvPr id="558" name="node-76">
            <a:extLst xmlns:a="http://schemas.openxmlformats.org/drawingml/2006/main">
              <a:ext uri="{FF2B5EF4-FFF2-40B4-BE49-F238E27FC236}">
                <a16:creationId xmlns:a16="http://schemas.microsoft.com/office/drawing/2014/main" id="{2BB2BC71-C115-4BAA-9602-C5B12A4B9969}"/>
              </a:ext>
            </a:extLst>
          </p:cNvPr>
          <p:cNvSpPr>
            <a:spLocks xmlns:a="http://schemas.openxmlformats.org/drawingml/2006/main" noGrp="1"/>
          </p:cNvSpPr>
          <p:nvPr/>
        </p:nvSpPr>
        <p:spPr>
          <a:xfrm xmlns:a="http://schemas.openxmlformats.org/drawingml/2006/main">
            <a:off x="6191250" y="4762500"/>
            <a:ext cx="2743200" cy="55245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725" b="0">
                <a:solidFill>
                  <a:srgbClr val="142C38"/>
                </a:solidFill>
                <a:latin typeface="Inter"/>
                <a:ea typeface="Inter"/>
                <a:cs typeface="Inter"/>
              </a:defRPr>
            </a:pPr>
            <a:r>
              <a:rPr sz="1725" b="0">
                <a:solidFill>
                  <a:srgbClr val="142C38"/>
                </a:solidFill>
                <a:latin typeface="Inter"/>
                <a:ea typeface="Inter"/>
                <a:cs typeface="Inter"/>
              </a:rPr>
              <a:t>Workers (planned)</a:t>
            </a:r>
          </a:p>
        </p:txBody>
      </p:sp>
      <p:sp>
        <p:nvSpPr>
          <p:cNvPr id="559" name="content-77">
            <a:extLst xmlns:a="http://schemas.openxmlformats.org/drawingml/2006/main">
              <a:ext uri="{FF2B5EF4-FFF2-40B4-BE49-F238E27FC236}">
                <a16:creationId xmlns:a16="http://schemas.microsoft.com/office/drawing/2014/main" id="{363E33B8-5D3E-4C48-A26E-2A78FBB04325}"/>
              </a:ext>
            </a:extLst>
          </p:cNvPr>
          <p:cNvSpPr>
            <a:spLocks xmlns:a="http://schemas.openxmlformats.org/drawingml/2006/main" noGrp="1"/>
          </p:cNvSpPr>
          <p:nvPr/>
        </p:nvSpPr>
        <p:spPr>
          <a:xfrm xmlns:a="http://schemas.openxmlformats.org/drawingml/2006/main">
            <a:off x="6238875" y="53911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75" b="0">
                <a:solidFill>
                  <a:srgbClr val="546B77"/>
                </a:solidFill>
                <a:latin typeface="Inter"/>
                <a:ea typeface="Inter"/>
                <a:cs typeface="Inter"/>
              </a:defRPr>
            </a:pPr>
            <a:r>
              <a:rPr sz="1575" b="0">
                <a:solidFill>
                  <a:srgbClr val="546B77"/>
                </a:solidFill>
                <a:latin typeface="Inter"/>
                <a:ea typeface="Inter"/>
                <a:cs typeface="Inter"/>
              </a:rPr>
              <a:t>Notifications, exports and retries</a:t>
            </a:r>
          </a:p>
        </p:txBody>
      </p:sp>
      <p:sp>
        <p:nvSpPr>
          <p:cNvPr id="560" name="line-78">
            <a:extLst xmlns:a="http://schemas.openxmlformats.org/drawingml/2006/main">
              <a:ext uri="{FF2B5EF4-FFF2-40B4-BE49-F238E27FC236}">
                <a16:creationId xmlns:a16="http://schemas.microsoft.com/office/drawing/2014/main" id="{63B122B9-115D-44FD-93E1-E99BE678E2DB}"/>
              </a:ext>
            </a:extLst>
          </p:cNvPr>
          <p:cNvSpPr>
            <a:spLocks xmlns:a="http://schemas.openxmlformats.org/drawingml/2006/main" noGrp="1"/>
          </p:cNvSpPr>
          <p:nvPr/>
        </p:nvSpPr>
        <p:spPr>
          <a:xfrm xmlns:a="http://schemas.openxmlformats.org/drawingml/2006/main">
            <a:off x="4667250" y="4305300"/>
            <a:ext cx="0" cy="23812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1" name="line-79">
            <a:extLst xmlns:a="http://schemas.openxmlformats.org/drawingml/2006/main">
              <a:ext uri="{FF2B5EF4-FFF2-40B4-BE49-F238E27FC236}">
                <a16:creationId xmlns:a16="http://schemas.microsoft.com/office/drawing/2014/main" id="{595CF58A-0471-4EBC-879C-223EE11EB65E}"/>
              </a:ext>
            </a:extLst>
          </p:cNvPr>
          <p:cNvSpPr>
            <a:spLocks xmlns:a="http://schemas.openxmlformats.org/drawingml/2006/main" noGrp="1"/>
          </p:cNvSpPr>
          <p:nvPr/>
        </p:nvSpPr>
        <p:spPr>
          <a:xfrm xmlns:a="http://schemas.openxmlformats.org/drawingml/2006/main">
            <a:off x="1771650" y="4543425"/>
            <a:ext cx="579120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2" name="line-80">
            <a:extLst xmlns:a="http://schemas.openxmlformats.org/drawingml/2006/main">
              <a:ext uri="{FF2B5EF4-FFF2-40B4-BE49-F238E27FC236}">
                <a16:creationId xmlns:a16="http://schemas.microsoft.com/office/drawing/2014/main" id="{393EE5A0-9F15-4950-831E-42609FA7BC4B}"/>
              </a:ext>
            </a:extLst>
          </p:cNvPr>
          <p:cNvSpPr>
            <a:spLocks xmlns:a="http://schemas.openxmlformats.org/drawingml/2006/main" noGrp="1"/>
          </p:cNvSpPr>
          <p:nvPr/>
        </p:nvSpPr>
        <p:spPr>
          <a:xfrm xmlns:a="http://schemas.openxmlformats.org/drawingml/2006/main">
            <a:off x="1771650" y="4543425"/>
            <a:ext cx="0" cy="2190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3" name="line-81">
            <a:extLst xmlns:a="http://schemas.openxmlformats.org/drawingml/2006/main">
              <a:ext uri="{FF2B5EF4-FFF2-40B4-BE49-F238E27FC236}">
                <a16:creationId xmlns:a16="http://schemas.microsoft.com/office/drawing/2014/main" id="{D6FD6D7A-4370-4653-9929-C0D5E9F95B85}"/>
              </a:ext>
            </a:extLst>
          </p:cNvPr>
          <p:cNvSpPr>
            <a:spLocks xmlns:a="http://schemas.openxmlformats.org/drawingml/2006/main" noGrp="1"/>
          </p:cNvSpPr>
          <p:nvPr/>
        </p:nvSpPr>
        <p:spPr>
          <a:xfrm xmlns:a="http://schemas.openxmlformats.org/drawingml/2006/main">
            <a:off x="4667250" y="4543425"/>
            <a:ext cx="0" cy="2190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4" name="line-82">
            <a:extLst xmlns:a="http://schemas.openxmlformats.org/drawingml/2006/main">
              <a:ext uri="{FF2B5EF4-FFF2-40B4-BE49-F238E27FC236}">
                <a16:creationId xmlns:a16="http://schemas.microsoft.com/office/drawing/2014/main" id="{6A1D9765-2AB6-4660-A85C-7AE2806AF2A3}"/>
              </a:ext>
            </a:extLst>
          </p:cNvPr>
          <p:cNvSpPr>
            <a:spLocks xmlns:a="http://schemas.openxmlformats.org/drawingml/2006/main" noGrp="1"/>
          </p:cNvSpPr>
          <p:nvPr/>
        </p:nvSpPr>
        <p:spPr>
          <a:xfrm xmlns:a="http://schemas.openxmlformats.org/drawingml/2006/main">
            <a:off x="7562850" y="4543425"/>
            <a:ext cx="0" cy="2190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5" name="node-83">
            <a:extLst xmlns:a="http://schemas.openxmlformats.org/drawingml/2006/main">
              <a:ext uri="{FF2B5EF4-FFF2-40B4-BE49-F238E27FC236}">
                <a16:creationId xmlns:a16="http://schemas.microsoft.com/office/drawing/2014/main" id="{0D248E11-15A6-4934-84B2-15BA313EA89A}"/>
              </a:ext>
            </a:extLst>
          </p:cNvPr>
          <p:cNvSpPr>
            <a:spLocks xmlns:a="http://schemas.openxmlformats.org/drawingml/2006/main" noGrp="1"/>
          </p:cNvSpPr>
          <p:nvPr/>
        </p:nvSpPr>
        <p:spPr>
          <a:xfrm xmlns:a="http://schemas.openxmlformats.org/drawingml/2006/main">
            <a:off x="9324975" y="2238375"/>
            <a:ext cx="2466975" cy="733425"/>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Provider ports (planned)</a:t>
            </a:r>
          </a:p>
        </p:txBody>
      </p:sp>
      <p:sp>
        <p:nvSpPr>
          <p:cNvPr id="566" name="line-84">
            <a:extLst xmlns:a="http://schemas.openxmlformats.org/drawingml/2006/main">
              <a:ext uri="{FF2B5EF4-FFF2-40B4-BE49-F238E27FC236}">
                <a16:creationId xmlns:a16="http://schemas.microsoft.com/office/drawing/2014/main" id="{781F1FCD-83FE-496E-9E20-CBA92AE91A04}"/>
              </a:ext>
            </a:extLst>
          </p:cNvPr>
          <p:cNvSpPr>
            <a:spLocks xmlns:a="http://schemas.openxmlformats.org/drawingml/2006/main" noGrp="1"/>
          </p:cNvSpPr>
          <p:nvPr/>
        </p:nvSpPr>
        <p:spPr>
          <a:xfrm xmlns:a="http://schemas.openxmlformats.org/drawingml/2006/main">
            <a:off x="8934450" y="2486025"/>
            <a:ext cx="3905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67" name="content-85">
            <a:extLst xmlns:a="http://schemas.openxmlformats.org/drawingml/2006/main">
              <a:ext uri="{FF2B5EF4-FFF2-40B4-BE49-F238E27FC236}">
                <a16:creationId xmlns:a16="http://schemas.microsoft.com/office/drawing/2014/main" id="{5B637D00-8B6B-4A7B-B4F4-EBAE3606A059}"/>
              </a:ext>
            </a:extLst>
          </p:cNvPr>
          <p:cNvSpPr>
            <a:spLocks xmlns:a="http://schemas.openxmlformats.org/drawingml/2006/main" noGrp="1"/>
          </p:cNvSpPr>
          <p:nvPr/>
        </p:nvSpPr>
        <p:spPr>
          <a:xfrm xmlns:a="http://schemas.openxmlformats.org/drawingml/2006/main">
            <a:off x="9391650" y="3219450"/>
            <a:ext cx="23336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546B77"/>
                </a:solidFill>
                <a:latin typeface="Inter"/>
                <a:ea typeface="Inter"/>
                <a:cs typeface="Inter"/>
              </a:defRPr>
            </a:pPr>
            <a:r>
              <a:rPr sz="1800" b="0">
                <a:solidFill>
                  <a:srgbClr val="546B77"/>
                </a:solidFill>
                <a:latin typeface="Inter"/>
                <a:ea typeface="Inter"/>
                <a:cs typeface="Inter"/>
              </a:rPr>
              <a:t>Identity / hospital / device</a:t>
            </a:r>
          </a:p>
          <a:p xmlns:a="http://schemas.openxmlformats.org/drawingml/2006/main">
            <a:pPr algn="ctr">
              <a:buNone/>
              <a:defRPr sz="1800" b="0">
                <a:solidFill>
                  <a:srgbClr val="546B77"/>
                </a:solidFill>
                <a:latin typeface="Inter"/>
                <a:ea typeface="Inter"/>
                <a:cs typeface="Inter"/>
              </a:defRPr>
            </a:pPr>
            <a:r>
              <a:rPr sz="1800" b="0">
                <a:solidFill>
                  <a:srgbClr val="546B77"/>
                </a:solidFill>
                <a:latin typeface="Inter"/>
                <a:ea typeface="Inter"/>
                <a:cs typeface="Inter"/>
              </a:rPr>
              <a:t>RTC / recording / messages</a:t>
            </a:r>
          </a:p>
        </p:txBody>
      </p:sp>
      <p:sp>
        <p:nvSpPr>
          <p:cNvPr id="568" name="content-86">
            <a:extLst xmlns:a="http://schemas.openxmlformats.org/drawingml/2006/main">
              <a:ext uri="{FF2B5EF4-FFF2-40B4-BE49-F238E27FC236}">
                <a16:creationId xmlns:a16="http://schemas.microsoft.com/office/drawing/2014/main" id="{27D27A9C-D7CF-4208-9E35-6FE385AA24DE}"/>
              </a:ext>
            </a:extLst>
          </p:cNvPr>
          <p:cNvSpPr>
            <a:spLocks xmlns:a="http://schemas.openxmlformats.org/drawingml/2006/main" noGrp="1"/>
          </p:cNvSpPr>
          <p:nvPr/>
        </p:nvSpPr>
        <p:spPr>
          <a:xfrm xmlns:a="http://schemas.openxmlformats.org/drawingml/2006/main">
            <a:off x="400050" y="5962650"/>
            <a:ext cx="10839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75" b="0">
                <a:solidFill>
                  <a:srgbClr val="2D607A"/>
                </a:solidFill>
                <a:latin typeface="Inter"/>
                <a:ea typeface="Inter"/>
                <a:cs typeface="Inter"/>
              </a:defRPr>
            </a:pPr>
            <a:r>
              <a:rPr sz="1575" b="0">
                <a:solidFill>
                  <a:srgbClr val="2D607A"/>
                </a:solidFill>
                <a:latin typeface="Inter"/>
                <a:ea typeface="Inter"/>
                <a:cs typeface="Inter"/>
              </a:rPr>
              <a:t>One desktop app; domain-owned APIs and catalogs; clinical writes are reserved</a:t>
            </a:r>
          </a:p>
        </p:txBody>
      </p:sp>
      <p:sp>
        <p:nvSpPr>
          <p:cNvPr id="569" name="content-87">
            <a:extLst xmlns:a="http://schemas.openxmlformats.org/drawingml/2006/main">
              <a:ext uri="{FF2B5EF4-FFF2-40B4-BE49-F238E27FC236}">
                <a16:creationId xmlns:a16="http://schemas.microsoft.com/office/drawing/2014/main" id="{593BFA8A-11FC-4498-9BE8-FA2BCD9E0E33}"/>
              </a:ext>
            </a:extLst>
          </p:cNvPr>
          <p:cNvSpPr>
            <a:spLocks xmlns:a="http://schemas.openxmlformats.org/drawingml/2006/main" noGrp="1"/>
          </p:cNvSpPr>
          <p:nvPr/>
        </p:nvSpPr>
        <p:spPr>
          <a:xfrm xmlns:a="http://schemas.openxmlformats.org/drawingml/2006/main">
            <a:off x="9534525" y="1571625"/>
            <a:ext cx="2266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buNone/>
              <a:defRPr sz="1500" b="0">
                <a:solidFill>
                  <a:srgbClr val="546B77"/>
                </a:solidFill>
                <a:latin typeface="Inter"/>
                <a:ea typeface="Inter"/>
                <a:cs typeface="Inter"/>
              </a:defRPr>
            </a:pPr>
            <a:r>
              <a:rPr sz="1500" b="0">
                <a:solidFill>
                  <a:srgbClr val="546B77"/>
                </a:solidFill>
                <a:latin typeface="Inter"/>
                <a:ea typeface="Inter"/>
                <a:cs typeface="Inter"/>
              </a:rPr>
              <a:t>Desktop framework v0.2</a:t>
            </a:r>
          </a:p>
        </p:txBody>
      </p:sp>
    </p:spTree>
    <p:extLst>
      <p:ext uri="{BB962C8B-B14F-4D97-AF65-F5344CB8AC3E}">
        <p14:creationId xmlns:p14="http://schemas.microsoft.com/office/powerpoint/2010/main" val="365731922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787BCE7D-BEA2-12A4-00CE-1447A3C11BCB}"/>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7</a:t>
            </a:fld>
            <a:endParaRPr/>
          </a:p>
        </p:txBody>
      </p:sp>
      <p:sp>
        <p:nvSpPr>
          <p:cNvPr id="533" name="Title Reused">
            <a:extLst xmlns:a="http://schemas.openxmlformats.org/drawingml/2006/main">
              <a:ext uri="{FF2B5EF4-FFF2-40B4-BE49-F238E27FC236}">
                <a16:creationId xmlns:a16="http://schemas.microsoft.com/office/drawing/2014/main" id="{451E053B-8CD7-DAF7-BA60-B58D00D61D06}"/>
              </a:ext>
            </a:extLst>
          </p:cNvPr>
          <p:cNvSpPr>
            <a:spLocks xmlns:a="http://schemas.openxmlformats.org/drawingml/2006/main" noGrp="1"/>
          </p:cNvSpPr>
          <p:nvPr>
            <p:ph type="title" idx="0"/>
          </p:nvPr>
        </p:nvSpPr>
        <p:spPr>
          <a:xfrm xmlns:a="http://schemas.openxmlformats.org/drawingml/2006/main">
            <a:off x="393668" y="344043"/>
            <a:ext cx="11404568" cy="9048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Authorization on every data access</a:t>
            </a:r>
            <a:endParaRPr/>
          </a:p>
        </p:txBody>
      </p:sp>
      <p:sp>
        <p:nvSpPr>
          <p:cNvPr id="4" name="Footer Placeholder 3">
            <a:extLst xmlns:a="http://schemas.openxmlformats.org/drawingml/2006/main">
              <a:ext uri="{FF2B5EF4-FFF2-40B4-BE49-F238E27FC236}">
                <a16:creationId xmlns:a16="http://schemas.microsoft.com/office/drawing/2014/main" id="{8C44867F-CEA9-06EF-47ED-8F63A6DAE6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34" name="node-88">
            <a:extLst xmlns:a="http://schemas.openxmlformats.org/drawingml/2006/main">
              <a:ext uri="{FF2B5EF4-FFF2-40B4-BE49-F238E27FC236}">
                <a16:creationId xmlns:a16="http://schemas.microsoft.com/office/drawing/2014/main" id="{FE993DD9-49B9-43F2-8B8B-87E1CC101222}"/>
              </a:ext>
            </a:extLst>
          </p:cNvPr>
          <p:cNvSpPr>
            <a:spLocks xmlns:a="http://schemas.openxmlformats.org/drawingml/2006/main" noGrp="1"/>
          </p:cNvSpPr>
          <p:nvPr/>
        </p:nvSpPr>
        <p:spPr>
          <a:xfrm xmlns:a="http://schemas.openxmlformats.org/drawingml/2006/main">
            <a:off x="400050" y="1562100"/>
            <a:ext cx="2495550" cy="752475"/>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Role allows action</a:t>
            </a:r>
          </a:p>
        </p:txBody>
      </p:sp>
      <p:sp>
        <p:nvSpPr>
          <p:cNvPr id="535" name="node-89">
            <a:extLst xmlns:a="http://schemas.openxmlformats.org/drawingml/2006/main">
              <a:ext uri="{FF2B5EF4-FFF2-40B4-BE49-F238E27FC236}">
                <a16:creationId xmlns:a16="http://schemas.microsoft.com/office/drawing/2014/main" id="{9C799D2B-C353-4516-9729-59CC7756958B}"/>
              </a:ext>
            </a:extLst>
          </p:cNvPr>
          <p:cNvSpPr>
            <a:spLocks xmlns:a="http://schemas.openxmlformats.org/drawingml/2006/main" noGrp="1"/>
          </p:cNvSpPr>
          <p:nvPr/>
        </p:nvSpPr>
        <p:spPr>
          <a:xfrm xmlns:a="http://schemas.openxmlformats.org/drawingml/2006/main">
            <a:off x="3305175" y="1562100"/>
            <a:ext cx="2495550" cy="752475"/>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Patient permits scope</a:t>
            </a:r>
          </a:p>
        </p:txBody>
      </p:sp>
      <p:sp>
        <p:nvSpPr>
          <p:cNvPr id="536" name="node-90">
            <a:extLst xmlns:a="http://schemas.openxmlformats.org/drawingml/2006/main">
              <a:ext uri="{FF2B5EF4-FFF2-40B4-BE49-F238E27FC236}">
                <a16:creationId xmlns:a16="http://schemas.microsoft.com/office/drawing/2014/main" id="{9E99E342-56E5-43F8-BF43-A78880958FAF}"/>
              </a:ext>
            </a:extLst>
          </p:cNvPr>
          <p:cNvSpPr>
            <a:spLocks xmlns:a="http://schemas.openxmlformats.org/drawingml/2006/main" noGrp="1"/>
          </p:cNvSpPr>
          <p:nvPr/>
        </p:nvSpPr>
        <p:spPr>
          <a:xfrm xmlns:a="http://schemas.openxmlformats.org/drawingml/2006/main">
            <a:off x="6210300" y="1562100"/>
            <a:ext cx="2495550" cy="752475"/>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Task access is valid</a:t>
            </a:r>
          </a:p>
        </p:txBody>
      </p:sp>
      <p:sp>
        <p:nvSpPr>
          <p:cNvPr id="537" name="node-91">
            <a:extLst xmlns:a="http://schemas.openxmlformats.org/drawingml/2006/main">
              <a:ext uri="{FF2B5EF4-FFF2-40B4-BE49-F238E27FC236}">
                <a16:creationId xmlns:a16="http://schemas.microsoft.com/office/drawing/2014/main" id="{E955194D-B831-475C-8A1F-AC21EDF9E1A0}"/>
              </a:ext>
            </a:extLst>
          </p:cNvPr>
          <p:cNvSpPr>
            <a:spLocks xmlns:a="http://schemas.openxmlformats.org/drawingml/2006/main" noGrp="1"/>
          </p:cNvSpPr>
          <p:nvPr/>
        </p:nvSpPr>
        <p:spPr>
          <a:xfrm xmlns:a="http://schemas.openxmlformats.org/drawingml/2006/main">
            <a:off x="9525000" y="1562100"/>
            <a:ext cx="2266950" cy="752475"/>
          </a:xfrm>
          <a:prstGeom xmlns:a="http://schemas.openxmlformats.org/drawingml/2006/main" prst="rect">
            <a:avLst/>
          </a:prstGeom>
          <a:solidFill xmlns:a="http://schemas.openxmlformats.org/drawingml/2006/main">
            <a:srgbClr val="2D607A"/>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1">
                <a:solidFill>
                  <a:srgbClr val="FFFFFF"/>
                </a:solidFill>
                <a:latin typeface="Inter"/>
                <a:ea typeface="Inter"/>
                <a:cs typeface="Inter"/>
              </a:defRPr>
            </a:pPr>
            <a:r>
              <a:rPr sz="1875" b="1">
                <a:solidFill>
                  <a:srgbClr val="FFFFFF"/>
                </a:solidFill>
                <a:latin typeface="Inter"/>
                <a:ea typeface="Inter"/>
                <a:cs typeface="Inter"/>
              </a:rPr>
              <a:t>Access granted</a:t>
            </a:r>
          </a:p>
        </p:txBody>
      </p:sp>
      <p:sp>
        <p:nvSpPr>
          <p:cNvPr id="538" name="content-92">
            <a:extLst xmlns:a="http://schemas.openxmlformats.org/drawingml/2006/main">
              <a:ext uri="{FF2B5EF4-FFF2-40B4-BE49-F238E27FC236}">
                <a16:creationId xmlns:a16="http://schemas.microsoft.com/office/drawing/2014/main" id="{59BAE316-1104-403E-88BF-5B2E29267385}"/>
              </a:ext>
            </a:extLst>
          </p:cNvPr>
          <p:cNvSpPr>
            <a:spLocks xmlns:a="http://schemas.openxmlformats.org/drawingml/2006/main" noGrp="1"/>
          </p:cNvSpPr>
          <p:nvPr/>
        </p:nvSpPr>
        <p:spPr>
          <a:xfrm xmlns:a="http://schemas.openxmlformats.org/drawingml/2006/main">
            <a:off x="2895600" y="1714500"/>
            <a:ext cx="409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AND</a:t>
            </a:r>
          </a:p>
        </p:txBody>
      </p:sp>
      <p:sp>
        <p:nvSpPr>
          <p:cNvPr id="539" name="content-93">
            <a:extLst xmlns:a="http://schemas.openxmlformats.org/drawingml/2006/main">
              <a:ext uri="{FF2B5EF4-FFF2-40B4-BE49-F238E27FC236}">
                <a16:creationId xmlns:a16="http://schemas.microsoft.com/office/drawing/2014/main" id="{EA599E21-89AA-4C08-B11C-AA30500023CC}"/>
              </a:ext>
            </a:extLst>
          </p:cNvPr>
          <p:cNvSpPr>
            <a:spLocks xmlns:a="http://schemas.openxmlformats.org/drawingml/2006/main" noGrp="1"/>
          </p:cNvSpPr>
          <p:nvPr/>
        </p:nvSpPr>
        <p:spPr>
          <a:xfrm xmlns:a="http://schemas.openxmlformats.org/drawingml/2006/main">
            <a:off x="5800725" y="1714500"/>
            <a:ext cx="409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AND</a:t>
            </a:r>
          </a:p>
        </p:txBody>
      </p:sp>
      <p:sp>
        <p:nvSpPr>
          <p:cNvPr id="540" name="content-94">
            <a:extLst xmlns:a="http://schemas.openxmlformats.org/drawingml/2006/main">
              <a:ext uri="{FF2B5EF4-FFF2-40B4-BE49-F238E27FC236}">
                <a16:creationId xmlns:a16="http://schemas.microsoft.com/office/drawing/2014/main" id="{C9432DFF-A70F-4BDE-B8B5-95F8C52D30AC}"/>
              </a:ext>
            </a:extLst>
          </p:cNvPr>
          <p:cNvSpPr>
            <a:spLocks xmlns:a="http://schemas.openxmlformats.org/drawingml/2006/main" noGrp="1"/>
          </p:cNvSpPr>
          <p:nvPr/>
        </p:nvSpPr>
        <p:spPr>
          <a:xfrm xmlns:a="http://schemas.openxmlformats.org/drawingml/2006/main">
            <a:off x="8705850" y="1714500"/>
            <a:ext cx="819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0">
                <a:solidFill>
                  <a:srgbClr val="2D607A"/>
                </a:solidFill>
                <a:latin typeface="Inter"/>
                <a:ea typeface="Inter"/>
                <a:cs typeface="Inter"/>
              </a:defRPr>
            </a:pPr>
            <a:r>
              <a:rPr sz="2100" b="0">
                <a:solidFill>
                  <a:srgbClr val="2D607A"/>
                </a:solidFill>
                <a:latin typeface="Inter"/>
                <a:ea typeface="Inter"/>
                <a:cs typeface="Inter"/>
              </a:rPr>
              <a:t>=</a:t>
            </a:r>
          </a:p>
        </p:txBody>
      </p:sp>
      <p:sp>
        <p:nvSpPr>
          <p:cNvPr id="541" name="content-95">
            <a:extLst xmlns:a="http://schemas.openxmlformats.org/drawingml/2006/main">
              <a:ext uri="{FF2B5EF4-FFF2-40B4-BE49-F238E27FC236}">
                <a16:creationId xmlns:a16="http://schemas.microsoft.com/office/drawing/2014/main" id="{2B3B77F9-6FF8-44F5-ABEB-FFFFF669F3C8}"/>
              </a:ext>
            </a:extLst>
          </p:cNvPr>
          <p:cNvSpPr>
            <a:spLocks xmlns:a="http://schemas.openxmlformats.org/drawingml/2006/main" noGrp="1"/>
          </p:cNvSpPr>
          <p:nvPr/>
        </p:nvSpPr>
        <p:spPr>
          <a:xfrm xmlns:a="http://schemas.openxmlformats.org/drawingml/2006/main">
            <a:off x="400050" y="2476500"/>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0">
                <a:solidFill>
                  <a:srgbClr val="546B77"/>
                </a:solidFill>
                <a:latin typeface="Inter"/>
                <a:ea typeface="Inter"/>
                <a:cs typeface="Inter"/>
              </a:defRPr>
            </a:pPr>
            <a:r>
              <a:rPr sz="1725" b="0">
                <a:solidFill>
                  <a:srgbClr val="546B77"/>
                </a:solidFill>
                <a:latin typeface="Inter"/>
                <a:ea typeface="Inter"/>
                <a:cs typeface="Inter"/>
              </a:rPr>
              <a:t>Temporary consultation access also requires an active task grant</a:t>
            </a:r>
          </a:p>
        </p:txBody>
      </p:sp>
      <p:sp>
        <p:nvSpPr>
          <p:cNvPr id="542" name="content-96">
            <a:extLst xmlns:a="http://schemas.openxmlformats.org/drawingml/2006/main">
              <a:ext uri="{FF2B5EF4-FFF2-40B4-BE49-F238E27FC236}">
                <a16:creationId xmlns:a16="http://schemas.microsoft.com/office/drawing/2014/main" id="{12B26B50-78E8-4291-9217-8FDA0EBE023E}"/>
              </a:ext>
            </a:extLst>
          </p:cNvPr>
          <p:cNvSpPr>
            <a:spLocks xmlns:a="http://schemas.openxmlformats.org/drawingml/2006/main" noGrp="1"/>
          </p:cNvSpPr>
          <p:nvPr/>
        </p:nvSpPr>
        <p:spPr>
          <a:xfrm xmlns:a="http://schemas.openxmlformats.org/drawingml/2006/main">
            <a:off x="400050" y="3314700"/>
            <a:ext cx="4191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1">
                <a:solidFill>
                  <a:srgbClr val="2D607A"/>
                </a:solidFill>
                <a:latin typeface="Inter"/>
                <a:ea typeface="Inter"/>
                <a:cs typeface="Inter"/>
              </a:defRPr>
            </a:pPr>
            <a:r>
              <a:rPr sz="2025" b="1">
                <a:solidFill>
                  <a:srgbClr val="2D607A"/>
                </a:solidFill>
                <a:latin typeface="Inter"/>
                <a:ea typeface="Inter"/>
                <a:cs typeface="Inter"/>
              </a:rPr>
              <a:t>Task closes / grant expires / grant is revoked</a:t>
            </a:r>
          </a:p>
        </p:txBody>
      </p:sp>
      <p:sp>
        <p:nvSpPr>
          <p:cNvPr id="543" name="content-97">
            <a:extLst xmlns:a="http://schemas.openxmlformats.org/drawingml/2006/main">
              <a:ext uri="{FF2B5EF4-FFF2-40B4-BE49-F238E27FC236}">
                <a16:creationId xmlns:a16="http://schemas.microsoft.com/office/drawing/2014/main" id="{44A7D57E-C73F-44E1-8FF4-A3D73852060E}"/>
              </a:ext>
            </a:extLst>
          </p:cNvPr>
          <p:cNvSpPr>
            <a:spLocks xmlns:a="http://schemas.openxmlformats.org/drawingml/2006/main" noGrp="1"/>
          </p:cNvSpPr>
          <p:nvPr/>
        </p:nvSpPr>
        <p:spPr>
          <a:xfrm xmlns:a="http://schemas.openxmlformats.org/drawingml/2006/main">
            <a:off x="4895850" y="3276600"/>
            <a:ext cx="689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Deny the next request, including file access and export</a:t>
            </a:r>
          </a:p>
        </p:txBody>
      </p:sp>
      <p:sp>
        <p:nvSpPr>
          <p:cNvPr id="544" name="content-98">
            <a:extLst xmlns:a="http://schemas.openxmlformats.org/drawingml/2006/main">
              <a:ext uri="{FF2B5EF4-FFF2-40B4-BE49-F238E27FC236}">
                <a16:creationId xmlns:a16="http://schemas.microsoft.com/office/drawing/2014/main" id="{FA3E4834-F731-4860-A58B-B1627C4FD582}"/>
              </a:ext>
            </a:extLst>
          </p:cNvPr>
          <p:cNvSpPr>
            <a:spLocks xmlns:a="http://schemas.openxmlformats.org/drawingml/2006/main" noGrp="1"/>
          </p:cNvSpPr>
          <p:nvPr/>
        </p:nvSpPr>
        <p:spPr>
          <a:xfrm xmlns:a="http://schemas.openxmlformats.org/drawingml/2006/main">
            <a:off x="400050" y="45624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2D607A"/>
                </a:solidFill>
                <a:latin typeface="Inter"/>
                <a:ea typeface="Inter"/>
                <a:cs typeface="Inter"/>
              </a:defRPr>
            </a:pPr>
            <a:r>
              <a:rPr sz="1875" b="1">
                <a:solidFill>
                  <a:srgbClr val="2D607A"/>
                </a:solidFill>
                <a:latin typeface="Inter"/>
                <a:ea typeface="Inter"/>
                <a:cs typeface="Inter"/>
              </a:rPr>
              <a:t>Doctors inspect their own actions</a:t>
            </a:r>
          </a:p>
        </p:txBody>
      </p:sp>
      <p:sp>
        <p:nvSpPr>
          <p:cNvPr id="545" name="content-99">
            <a:extLst xmlns:a="http://schemas.openxmlformats.org/drawingml/2006/main">
              <a:ext uri="{FF2B5EF4-FFF2-40B4-BE49-F238E27FC236}">
                <a16:creationId xmlns:a16="http://schemas.microsoft.com/office/drawing/2014/main" id="{798A68BC-1338-4B26-895A-9E9303107EFA}"/>
              </a:ext>
            </a:extLst>
          </p:cNvPr>
          <p:cNvSpPr>
            <a:spLocks xmlns:a="http://schemas.openxmlformats.org/drawingml/2006/main" noGrp="1"/>
          </p:cNvSpPr>
          <p:nvPr/>
        </p:nvSpPr>
        <p:spPr>
          <a:xfrm xmlns:a="http://schemas.openxmlformats.org/drawingml/2006/main">
            <a:off x="5257800" y="4562475"/>
            <a:ext cx="6534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2D607A"/>
                </a:solidFill>
                <a:latin typeface="Inter"/>
                <a:ea typeface="Inter"/>
                <a:cs typeface="Inter"/>
              </a:defRPr>
            </a:pPr>
            <a:r>
              <a:rPr sz="1875" b="1">
                <a:solidFill>
                  <a:srgbClr val="2D607A"/>
                </a:solidFill>
                <a:latin typeface="Inter"/>
                <a:ea typeface="Inter"/>
                <a:cs typeface="Inter"/>
              </a:rPr>
              <a:t>Authorized administrators inspect platform audits</a:t>
            </a:r>
          </a:p>
        </p:txBody>
      </p:sp>
      <p:sp>
        <p:nvSpPr>
          <p:cNvPr id="546" name="content-100">
            <a:extLst xmlns:a="http://schemas.openxmlformats.org/drawingml/2006/main">
              <a:ext uri="{FF2B5EF4-FFF2-40B4-BE49-F238E27FC236}">
                <a16:creationId xmlns:a16="http://schemas.microsoft.com/office/drawing/2014/main" id="{080F5A7B-FD4E-4451-B43D-ACD9AC3DECAA}"/>
              </a:ext>
            </a:extLst>
          </p:cNvPr>
          <p:cNvSpPr>
            <a:spLocks xmlns:a="http://schemas.openxmlformats.org/drawingml/2006/main" noGrp="1"/>
          </p:cNvSpPr>
          <p:nvPr/>
        </p:nvSpPr>
        <p:spPr>
          <a:xfrm xmlns:a="http://schemas.openxmlformats.org/drawingml/2006/main">
            <a:off x="400050" y="5133975"/>
            <a:ext cx="11391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C38"/>
                </a:solidFill>
                <a:latin typeface="Inter"/>
                <a:ea typeface="Inter"/>
                <a:cs typeface="Inter"/>
              </a:defRPr>
            </a:pPr>
            <a:r>
              <a:rPr sz="1800" b="0">
                <a:solidFill>
                  <a:srgbClr val="142C38"/>
                </a:solidFill>
                <a:latin typeface="Inter"/>
                <a:ea typeface="Inter"/>
                <a:cs typeface="Inter"/>
              </a:rPr>
              <a:t>Logs capture actor, time, object, action and outcome</a:t>
            </a:r>
          </a:p>
        </p:txBody>
      </p:sp>
      <p:sp>
        <p:nvSpPr>
          <p:cNvPr id="547" name="content-101">
            <a:extLst xmlns:a="http://schemas.openxmlformats.org/drawingml/2006/main">
              <a:ext uri="{FF2B5EF4-FFF2-40B4-BE49-F238E27FC236}">
                <a16:creationId xmlns:a16="http://schemas.microsoft.com/office/drawing/2014/main" id="{8997A04C-EEF7-46B4-A886-F8C5879EC0D8}"/>
              </a:ext>
            </a:extLst>
          </p:cNvPr>
          <p:cNvSpPr>
            <a:spLocks xmlns:a="http://schemas.openxmlformats.org/drawingml/2006/main" noGrp="1"/>
          </p:cNvSpPr>
          <p:nvPr/>
        </p:nvSpPr>
        <p:spPr>
          <a:xfrm xmlns:a="http://schemas.openxmlformats.org/drawingml/2006/main">
            <a:off x="400050" y="5838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Design measures: encryption in transit and at rest, sensitive-field masking and anomaly monitoring</a:t>
            </a:r>
          </a:p>
        </p:txBody>
      </p:sp>
    </p:spTree>
    <p:extLst>
      <p:ext uri="{BB962C8B-B14F-4D97-AF65-F5344CB8AC3E}">
        <p14:creationId xmlns:p14="http://schemas.microsoft.com/office/powerpoint/2010/main" val="33318791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fld id="{00000000-1234-1234-1234-123412341234}" type="slidenum">
              <a:t>13</a:t>
            </a:fld>
            <a:endParaRPr/>
          </a:p>
        </p:txBody>
      </p:sp>
      <p:sp>
        <p:nvSpPr>
          <p:cNvPr id="533" name="Title Reused">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668" y="344043"/>
            <a:ext cx="11404568" cy="90487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Patient IDs connect records and versions</a:t>
            </a:r>
            <a:endParaRP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34" name="node-102">
            <a:extLst xmlns:a="http://schemas.openxmlformats.org/drawingml/2006/main">
              <a:ext uri="{FF2B5EF4-FFF2-40B4-BE49-F238E27FC236}">
                <a16:creationId xmlns:a16="http://schemas.microsoft.com/office/drawing/2014/main" id="{0269AD84-5ED1-407E-A2D9-831DAB81836F}"/>
              </a:ext>
            </a:extLst>
          </p:cNvPr>
          <p:cNvSpPr>
            <a:spLocks xmlns:a="http://schemas.openxmlformats.org/drawingml/2006/main" noGrp="1"/>
          </p:cNvSpPr>
          <p:nvPr/>
        </p:nvSpPr>
        <p:spPr>
          <a:xfrm xmlns:a="http://schemas.openxmlformats.org/drawingml/2006/main">
            <a:off x="400050" y="2619375"/>
            <a:ext cx="2057400" cy="923925"/>
          </a:xfrm>
          <a:prstGeom xmlns:a="http://schemas.openxmlformats.org/drawingml/2006/main" prst="rect">
            <a:avLst/>
          </a:prstGeom>
          <a:solidFill xmlns:a="http://schemas.openxmlformats.org/drawingml/2006/main">
            <a:srgbClr val="2D607A"/>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2175" b="1">
                <a:solidFill>
                  <a:srgbClr val="FFFFFF"/>
                </a:solidFill>
                <a:latin typeface="Inter"/>
                <a:ea typeface="Inter"/>
                <a:cs typeface="Inter"/>
              </a:defRPr>
            </a:pPr>
            <a:r>
              <a:rPr sz="2175" b="1">
                <a:solidFill>
                  <a:srgbClr val="FFFFFF"/>
                </a:solidFill>
                <a:latin typeface="Inter"/>
                <a:ea typeface="Inter"/>
                <a:cs typeface="Inter"/>
              </a:rPr>
              <a:t>Patient</a:t>
            </a:r>
          </a:p>
        </p:txBody>
      </p:sp>
      <p:sp>
        <p:nvSpPr>
          <p:cNvPr id="535" name="content-103">
            <a:extLst xmlns:a="http://schemas.openxmlformats.org/drawingml/2006/main">
              <a:ext uri="{FF2B5EF4-FFF2-40B4-BE49-F238E27FC236}">
                <a16:creationId xmlns:a16="http://schemas.microsoft.com/office/drawing/2014/main" id="{9364F11B-1C1D-41C6-AD1E-572919C2C5BC}"/>
              </a:ext>
            </a:extLst>
          </p:cNvPr>
          <p:cNvSpPr>
            <a:spLocks xmlns:a="http://schemas.openxmlformats.org/drawingml/2006/main" noGrp="1"/>
          </p:cNvSpPr>
          <p:nvPr/>
        </p:nvSpPr>
        <p:spPr>
          <a:xfrm xmlns:a="http://schemas.openxmlformats.org/drawingml/2006/main">
            <a:off x="485775" y="3600450"/>
            <a:ext cx="188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546B77"/>
                </a:solidFill>
                <a:latin typeface="Inter"/>
                <a:ea typeface="Inter"/>
                <a:cs typeface="Inter"/>
              </a:defRPr>
            </a:pPr>
            <a:r>
              <a:rPr sz="1500" b="0">
                <a:solidFill>
                  <a:srgbClr val="546B77"/>
                </a:solidFill>
                <a:latin typeface="Inter"/>
                <a:ea typeface="Inter"/>
                <a:cs typeface="Inter"/>
              </a:rPr>
              <a:t>patient_id</a:t>
            </a:r>
          </a:p>
        </p:txBody>
      </p:sp>
      <p:sp>
        <p:nvSpPr>
          <p:cNvPr id="536" name="node-104">
            <a:extLst xmlns:a="http://schemas.openxmlformats.org/drawingml/2006/main">
              <a:ext uri="{FF2B5EF4-FFF2-40B4-BE49-F238E27FC236}">
                <a16:creationId xmlns:a16="http://schemas.microsoft.com/office/drawing/2014/main" id="{E24D4AC8-2A3E-4716-BBA9-22EFABB237A0}"/>
              </a:ext>
            </a:extLst>
          </p:cNvPr>
          <p:cNvSpPr>
            <a:spLocks xmlns:a="http://schemas.openxmlformats.org/drawingml/2006/main" noGrp="1"/>
          </p:cNvSpPr>
          <p:nvPr/>
        </p:nvSpPr>
        <p:spPr>
          <a:xfrm xmlns:a="http://schemas.openxmlformats.org/drawingml/2006/main">
            <a:off x="3733800" y="1619250"/>
            <a:ext cx="2809875" cy="781050"/>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Care encounter</a:t>
            </a:r>
          </a:p>
        </p:txBody>
      </p:sp>
      <p:sp>
        <p:nvSpPr>
          <p:cNvPr id="537" name="content-105">
            <a:extLst xmlns:a="http://schemas.openxmlformats.org/drawingml/2006/main">
              <a:ext uri="{FF2B5EF4-FFF2-40B4-BE49-F238E27FC236}">
                <a16:creationId xmlns:a16="http://schemas.microsoft.com/office/drawing/2014/main" id="{F6D3BD9B-FA1E-454E-8C75-972ED0B87A1A}"/>
              </a:ext>
            </a:extLst>
          </p:cNvPr>
          <p:cNvSpPr>
            <a:spLocks xmlns:a="http://schemas.openxmlformats.org/drawingml/2006/main" noGrp="1"/>
          </p:cNvSpPr>
          <p:nvPr/>
        </p:nvSpPr>
        <p:spPr>
          <a:xfrm xmlns:a="http://schemas.openxmlformats.org/drawingml/2006/main">
            <a:off x="3838575" y="2447925"/>
            <a:ext cx="2609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500" b="0">
                <a:solidFill>
                  <a:srgbClr val="546B77"/>
                </a:solidFill>
                <a:latin typeface="Inter"/>
                <a:ea typeface="Inter"/>
                <a:cs typeface="Inter"/>
              </a:defRPr>
            </a:pPr>
            <a:r>
              <a:rPr sz="1500" b="0">
                <a:solidFill>
                  <a:srgbClr val="546B77"/>
                </a:solidFill>
                <a:latin typeface="Inter"/>
                <a:ea typeface="Inter"/>
                <a:cs typeface="Inter"/>
              </a:rPr>
              <a:t>encounter_id</a:t>
            </a:r>
          </a:p>
        </p:txBody>
      </p:sp>
      <p:sp>
        <p:nvSpPr>
          <p:cNvPr id="538" name="node-106">
            <a:extLst xmlns:a="http://schemas.openxmlformats.org/drawingml/2006/main">
              <a:ext uri="{FF2B5EF4-FFF2-40B4-BE49-F238E27FC236}">
                <a16:creationId xmlns:a16="http://schemas.microsoft.com/office/drawing/2014/main" id="{A7AF18F4-97A7-4F45-B31A-95A3D8032E36}"/>
              </a:ext>
            </a:extLst>
          </p:cNvPr>
          <p:cNvSpPr>
            <a:spLocks xmlns:a="http://schemas.openxmlformats.org/drawingml/2006/main" noGrp="1"/>
          </p:cNvSpPr>
          <p:nvPr/>
        </p:nvSpPr>
        <p:spPr>
          <a:xfrm xmlns:a="http://schemas.openxmlformats.org/drawingml/2006/main">
            <a:off x="8039100" y="1362075"/>
            <a:ext cx="3752850" cy="70485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Record / order versions</a:t>
            </a:r>
          </a:p>
        </p:txBody>
      </p:sp>
      <p:sp>
        <p:nvSpPr>
          <p:cNvPr id="539" name="node-107">
            <a:extLst xmlns:a="http://schemas.openxmlformats.org/drawingml/2006/main">
              <a:ext uri="{FF2B5EF4-FFF2-40B4-BE49-F238E27FC236}">
                <a16:creationId xmlns:a16="http://schemas.microsoft.com/office/drawing/2014/main" id="{63F67DEA-B9AF-43E4-A660-5D12760502B5}"/>
              </a:ext>
            </a:extLst>
          </p:cNvPr>
          <p:cNvSpPr>
            <a:spLocks xmlns:a="http://schemas.openxmlformats.org/drawingml/2006/main" noGrp="1"/>
          </p:cNvSpPr>
          <p:nvPr/>
        </p:nvSpPr>
        <p:spPr>
          <a:xfrm xmlns:a="http://schemas.openxmlformats.org/drawingml/2006/main">
            <a:off x="8039100" y="2324100"/>
            <a:ext cx="3752850" cy="704850"/>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00" b="0">
                <a:solidFill>
                  <a:srgbClr val="142C38"/>
                </a:solidFill>
                <a:latin typeface="Inter"/>
                <a:ea typeface="Inter"/>
                <a:cs typeface="Inter"/>
              </a:defRPr>
            </a:pPr>
            <a:r>
              <a:rPr sz="1800" b="0">
                <a:solidFill>
                  <a:srgbClr val="142C38"/>
                </a:solidFill>
                <a:latin typeface="Inter"/>
                <a:ea typeface="Inter"/>
                <a:cs typeface="Inter"/>
              </a:rPr>
              <a:t>Consultation files / reports</a:t>
            </a:r>
          </a:p>
        </p:txBody>
      </p:sp>
      <p:sp>
        <p:nvSpPr>
          <p:cNvPr id="540" name="line-108">
            <a:extLst xmlns:a="http://schemas.openxmlformats.org/drawingml/2006/main">
              <a:ext uri="{FF2B5EF4-FFF2-40B4-BE49-F238E27FC236}">
                <a16:creationId xmlns:a16="http://schemas.microsoft.com/office/drawing/2014/main" id="{C2A8C0A7-D3FA-41AD-883C-8B54DEFFCC15}"/>
              </a:ext>
            </a:extLst>
          </p:cNvPr>
          <p:cNvSpPr>
            <a:spLocks xmlns:a="http://schemas.openxmlformats.org/drawingml/2006/main" noGrp="1"/>
          </p:cNvSpPr>
          <p:nvPr/>
        </p:nvSpPr>
        <p:spPr>
          <a:xfrm xmlns:a="http://schemas.openxmlformats.org/drawingml/2006/main">
            <a:off x="2457450" y="3076575"/>
            <a:ext cx="6572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1" name="line-109">
            <a:extLst xmlns:a="http://schemas.openxmlformats.org/drawingml/2006/main">
              <a:ext uri="{FF2B5EF4-FFF2-40B4-BE49-F238E27FC236}">
                <a16:creationId xmlns:a16="http://schemas.microsoft.com/office/drawing/2014/main" id="{207E0B2E-D29C-4951-B619-A5214D74232C}"/>
              </a:ext>
            </a:extLst>
          </p:cNvPr>
          <p:cNvSpPr>
            <a:spLocks xmlns:a="http://schemas.openxmlformats.org/drawingml/2006/main" noGrp="1"/>
          </p:cNvSpPr>
          <p:nvPr/>
        </p:nvSpPr>
        <p:spPr>
          <a:xfrm xmlns:a="http://schemas.openxmlformats.org/drawingml/2006/main">
            <a:off x="3114675" y="2009775"/>
            <a:ext cx="0" cy="277177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2" name="line-110">
            <a:extLst xmlns:a="http://schemas.openxmlformats.org/drawingml/2006/main">
              <a:ext uri="{FF2B5EF4-FFF2-40B4-BE49-F238E27FC236}">
                <a16:creationId xmlns:a16="http://schemas.microsoft.com/office/drawing/2014/main" id="{0FC83DD6-A0F4-4776-951D-55F0C2D4C0F5}"/>
              </a:ext>
            </a:extLst>
          </p:cNvPr>
          <p:cNvSpPr>
            <a:spLocks xmlns:a="http://schemas.openxmlformats.org/drawingml/2006/main" noGrp="1"/>
          </p:cNvSpPr>
          <p:nvPr/>
        </p:nvSpPr>
        <p:spPr>
          <a:xfrm xmlns:a="http://schemas.openxmlformats.org/drawingml/2006/main">
            <a:off x="3114675" y="2009775"/>
            <a:ext cx="6191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3" name="line-111">
            <a:extLst xmlns:a="http://schemas.openxmlformats.org/drawingml/2006/main">
              <a:ext uri="{FF2B5EF4-FFF2-40B4-BE49-F238E27FC236}">
                <a16:creationId xmlns:a16="http://schemas.microsoft.com/office/drawing/2014/main" id="{03805805-A52C-46CB-B629-497471A309B2}"/>
              </a:ext>
            </a:extLst>
          </p:cNvPr>
          <p:cNvSpPr>
            <a:spLocks xmlns:a="http://schemas.openxmlformats.org/drawingml/2006/main" noGrp="1"/>
          </p:cNvSpPr>
          <p:nvPr/>
        </p:nvSpPr>
        <p:spPr>
          <a:xfrm xmlns:a="http://schemas.openxmlformats.org/drawingml/2006/main">
            <a:off x="6543675" y="2009775"/>
            <a:ext cx="75247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4" name="line-112">
            <a:extLst xmlns:a="http://schemas.openxmlformats.org/drawingml/2006/main">
              <a:ext uri="{FF2B5EF4-FFF2-40B4-BE49-F238E27FC236}">
                <a16:creationId xmlns:a16="http://schemas.microsoft.com/office/drawing/2014/main" id="{026B683D-7E77-4348-87A7-8AF11A2AF46D}"/>
              </a:ext>
            </a:extLst>
          </p:cNvPr>
          <p:cNvSpPr>
            <a:spLocks xmlns:a="http://schemas.openxmlformats.org/drawingml/2006/main" noGrp="1"/>
          </p:cNvSpPr>
          <p:nvPr/>
        </p:nvSpPr>
        <p:spPr>
          <a:xfrm xmlns:a="http://schemas.openxmlformats.org/drawingml/2006/main">
            <a:off x="7296150" y="1714500"/>
            <a:ext cx="0" cy="962025"/>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5" name="line-113">
            <a:extLst xmlns:a="http://schemas.openxmlformats.org/drawingml/2006/main">
              <a:ext uri="{FF2B5EF4-FFF2-40B4-BE49-F238E27FC236}">
                <a16:creationId xmlns:a16="http://schemas.microsoft.com/office/drawing/2014/main" id="{E42AD910-1DDD-4E49-8628-770EC67F8D46}"/>
              </a:ext>
            </a:extLst>
          </p:cNvPr>
          <p:cNvSpPr>
            <a:spLocks xmlns:a="http://schemas.openxmlformats.org/drawingml/2006/main" noGrp="1"/>
          </p:cNvSpPr>
          <p:nvPr/>
        </p:nvSpPr>
        <p:spPr>
          <a:xfrm xmlns:a="http://schemas.openxmlformats.org/drawingml/2006/main">
            <a:off x="7296150" y="1714500"/>
            <a:ext cx="74295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6" name="line-114">
            <a:extLst xmlns:a="http://schemas.openxmlformats.org/drawingml/2006/main">
              <a:ext uri="{FF2B5EF4-FFF2-40B4-BE49-F238E27FC236}">
                <a16:creationId xmlns:a16="http://schemas.microsoft.com/office/drawing/2014/main" id="{E99D6EB7-BAB6-435E-90C8-48CEE341348B}"/>
              </a:ext>
            </a:extLst>
          </p:cNvPr>
          <p:cNvSpPr>
            <a:spLocks xmlns:a="http://schemas.openxmlformats.org/drawingml/2006/main" noGrp="1"/>
          </p:cNvSpPr>
          <p:nvPr/>
        </p:nvSpPr>
        <p:spPr>
          <a:xfrm xmlns:a="http://schemas.openxmlformats.org/drawingml/2006/main">
            <a:off x="7296150" y="2676525"/>
            <a:ext cx="742950"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47" name="content-115">
            <a:extLst xmlns:a="http://schemas.openxmlformats.org/drawingml/2006/main">
              <a:ext uri="{FF2B5EF4-FFF2-40B4-BE49-F238E27FC236}">
                <a16:creationId xmlns:a16="http://schemas.microsoft.com/office/drawing/2014/main" id="{2F6D91C4-163B-4690-B3CA-64764BE1EB21}"/>
              </a:ext>
            </a:extLst>
          </p:cNvPr>
          <p:cNvSpPr>
            <a:spLocks xmlns:a="http://schemas.openxmlformats.org/drawingml/2006/main" noGrp="1"/>
          </p:cNvSpPr>
          <p:nvPr/>
        </p:nvSpPr>
        <p:spPr>
          <a:xfrm xmlns:a="http://schemas.openxmlformats.org/drawingml/2006/main">
            <a:off x="3143250" y="1666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48" name="content-116">
            <a:extLst xmlns:a="http://schemas.openxmlformats.org/drawingml/2006/main">
              <a:ext uri="{FF2B5EF4-FFF2-40B4-BE49-F238E27FC236}">
                <a16:creationId xmlns:a16="http://schemas.microsoft.com/office/drawing/2014/main" id="{B46DDDDD-F1BB-4D4E-942C-79001A226FF0}"/>
              </a:ext>
            </a:extLst>
          </p:cNvPr>
          <p:cNvSpPr>
            <a:spLocks xmlns:a="http://schemas.openxmlformats.org/drawingml/2006/main" noGrp="1"/>
          </p:cNvSpPr>
          <p:nvPr/>
        </p:nvSpPr>
        <p:spPr>
          <a:xfrm xmlns:a="http://schemas.openxmlformats.org/drawingml/2006/main">
            <a:off x="7391400" y="13430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49" name="content-117">
            <a:extLst xmlns:a="http://schemas.openxmlformats.org/drawingml/2006/main">
              <a:ext uri="{FF2B5EF4-FFF2-40B4-BE49-F238E27FC236}">
                <a16:creationId xmlns:a16="http://schemas.microsoft.com/office/drawing/2014/main" id="{F12DC737-C065-4C00-973A-EACA70782058}"/>
              </a:ext>
            </a:extLst>
          </p:cNvPr>
          <p:cNvSpPr>
            <a:spLocks xmlns:a="http://schemas.openxmlformats.org/drawingml/2006/main" noGrp="1"/>
          </p:cNvSpPr>
          <p:nvPr/>
        </p:nvSpPr>
        <p:spPr>
          <a:xfrm xmlns:a="http://schemas.openxmlformats.org/drawingml/2006/main">
            <a:off x="7391400" y="231457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50" name="node-118">
            <a:extLst xmlns:a="http://schemas.openxmlformats.org/drawingml/2006/main">
              <a:ext uri="{FF2B5EF4-FFF2-40B4-BE49-F238E27FC236}">
                <a16:creationId xmlns:a16="http://schemas.microsoft.com/office/drawing/2014/main" id="{0B1FCB6C-C841-4A66-91C3-D9906FCBC867}"/>
              </a:ext>
            </a:extLst>
          </p:cNvPr>
          <p:cNvSpPr>
            <a:spLocks xmlns:a="http://schemas.openxmlformats.org/drawingml/2006/main" noGrp="1"/>
          </p:cNvSpPr>
          <p:nvPr/>
        </p:nvSpPr>
        <p:spPr>
          <a:xfrm xmlns:a="http://schemas.openxmlformats.org/drawingml/2006/main">
            <a:off x="3733800" y="3362325"/>
            <a:ext cx="2809875" cy="714375"/>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Measurements</a:t>
            </a:r>
          </a:p>
        </p:txBody>
      </p:sp>
      <p:sp>
        <p:nvSpPr>
          <p:cNvPr id="551" name="node-119">
            <a:extLst xmlns:a="http://schemas.openxmlformats.org/drawingml/2006/main">
              <a:ext uri="{FF2B5EF4-FFF2-40B4-BE49-F238E27FC236}">
                <a16:creationId xmlns:a16="http://schemas.microsoft.com/office/drawing/2014/main" id="{56ED0231-DF1D-41BE-9BE3-4A85414B1847}"/>
              </a:ext>
            </a:extLst>
          </p:cNvPr>
          <p:cNvSpPr>
            <a:spLocks xmlns:a="http://schemas.openxmlformats.org/drawingml/2006/main" noGrp="1"/>
          </p:cNvSpPr>
          <p:nvPr/>
        </p:nvSpPr>
        <p:spPr>
          <a:xfrm xmlns:a="http://schemas.openxmlformats.org/drawingml/2006/main">
            <a:off x="3733800" y="4429125"/>
            <a:ext cx="2809875" cy="714375"/>
          </a:xfrm>
          <a:prstGeom xmlns:a="http://schemas.openxmlformats.org/drawingml/2006/main" prst="rect">
            <a:avLst/>
          </a:prstGeom>
          <a:solidFill xmlns:a="http://schemas.openxmlformats.org/drawingml/2006/main">
            <a:srgbClr val="DFF2FC"/>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Plans and assessments</a:t>
            </a:r>
          </a:p>
        </p:txBody>
      </p:sp>
      <p:sp>
        <p:nvSpPr>
          <p:cNvPr id="552" name="node-120">
            <a:extLst xmlns:a="http://schemas.openxmlformats.org/drawingml/2006/main">
              <a:ext uri="{FF2B5EF4-FFF2-40B4-BE49-F238E27FC236}">
                <a16:creationId xmlns:a16="http://schemas.microsoft.com/office/drawing/2014/main" id="{B3C80916-EDB2-4645-BFB1-2EE376E0A3EF}"/>
              </a:ext>
            </a:extLst>
          </p:cNvPr>
          <p:cNvSpPr>
            <a:spLocks xmlns:a="http://schemas.openxmlformats.org/drawingml/2006/main" noGrp="1"/>
          </p:cNvSpPr>
          <p:nvPr/>
        </p:nvSpPr>
        <p:spPr>
          <a:xfrm xmlns:a="http://schemas.openxmlformats.org/drawingml/2006/main">
            <a:off x="8039100" y="4429125"/>
            <a:ext cx="3752850" cy="714375"/>
          </a:xfrm>
          <a:prstGeom xmlns:a="http://schemas.openxmlformats.org/drawingml/2006/main" prst="rect">
            <a:avLst/>
          </a:prstGeom>
          <a:solidFill xmlns:a="http://schemas.openxmlformats.org/drawingml/2006/main">
            <a:srgbClr val="F3F7F9"/>
          </a:solidFill>
          <a:ln xmlns:a="http://schemas.openxmlformats.org/drawingml/2006/main" w="9525">
            <a:solidFill>
              <a:srgbClr val="9DB8C6"/>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buNone/>
              <a:defRPr sz="1875" b="0">
                <a:solidFill>
                  <a:srgbClr val="142C38"/>
                </a:solidFill>
                <a:latin typeface="Inter"/>
                <a:ea typeface="Inter"/>
                <a:cs typeface="Inter"/>
              </a:defRPr>
            </a:pPr>
            <a:r>
              <a:rPr sz="1875" b="0">
                <a:solidFill>
                  <a:srgbClr val="142C38"/>
                </a:solidFill>
                <a:latin typeface="Inter"/>
                <a:ea typeface="Inter"/>
                <a:cs typeface="Inter"/>
              </a:rPr>
              <a:t>Reminder jobs</a:t>
            </a:r>
          </a:p>
        </p:txBody>
      </p:sp>
      <p:sp>
        <p:nvSpPr>
          <p:cNvPr id="553" name="line-121">
            <a:extLst xmlns:a="http://schemas.openxmlformats.org/drawingml/2006/main">
              <a:ext uri="{FF2B5EF4-FFF2-40B4-BE49-F238E27FC236}">
                <a16:creationId xmlns:a16="http://schemas.microsoft.com/office/drawing/2014/main" id="{8E19F9C4-C76E-477A-916A-4CF4B2169B6B}"/>
              </a:ext>
            </a:extLst>
          </p:cNvPr>
          <p:cNvSpPr>
            <a:spLocks xmlns:a="http://schemas.openxmlformats.org/drawingml/2006/main" noGrp="1"/>
          </p:cNvSpPr>
          <p:nvPr/>
        </p:nvSpPr>
        <p:spPr>
          <a:xfrm xmlns:a="http://schemas.openxmlformats.org/drawingml/2006/main">
            <a:off x="3114675" y="3714750"/>
            <a:ext cx="6191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4" name="line-122">
            <a:extLst xmlns:a="http://schemas.openxmlformats.org/drawingml/2006/main">
              <a:ext uri="{FF2B5EF4-FFF2-40B4-BE49-F238E27FC236}">
                <a16:creationId xmlns:a16="http://schemas.microsoft.com/office/drawing/2014/main" id="{FC03B3D7-35E7-4B75-91E5-36E93A43244E}"/>
              </a:ext>
            </a:extLst>
          </p:cNvPr>
          <p:cNvSpPr>
            <a:spLocks xmlns:a="http://schemas.openxmlformats.org/drawingml/2006/main" noGrp="1"/>
          </p:cNvSpPr>
          <p:nvPr/>
        </p:nvSpPr>
        <p:spPr>
          <a:xfrm xmlns:a="http://schemas.openxmlformats.org/drawingml/2006/main">
            <a:off x="3114675" y="4781550"/>
            <a:ext cx="6191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5" name="line-123">
            <a:extLst xmlns:a="http://schemas.openxmlformats.org/drawingml/2006/main">
              <a:ext uri="{FF2B5EF4-FFF2-40B4-BE49-F238E27FC236}">
                <a16:creationId xmlns:a16="http://schemas.microsoft.com/office/drawing/2014/main" id="{2AF73FD7-56B4-4DBD-BFF0-5F7151994B92}"/>
              </a:ext>
            </a:extLst>
          </p:cNvPr>
          <p:cNvSpPr>
            <a:spLocks xmlns:a="http://schemas.openxmlformats.org/drawingml/2006/main" noGrp="1"/>
          </p:cNvSpPr>
          <p:nvPr/>
        </p:nvSpPr>
        <p:spPr>
          <a:xfrm xmlns:a="http://schemas.openxmlformats.org/drawingml/2006/main">
            <a:off x="6543675" y="4781550"/>
            <a:ext cx="1495425" cy="0"/>
          </a:xfrm>
          <a:prstGeom xmlns:a="http://schemas.openxmlformats.org/drawingml/2006/main" prst="line">
            <a:avLst/>
          </a:prstGeom>
          <a:noFill xmlns:a="http://schemas.openxmlformats.org/drawingml/2006/main"/>
          <a:ln xmlns:a="http://schemas.openxmlformats.org/drawingml/2006/main" w="19050">
            <a:solidFill>
              <a:srgbClr val="9DB8C6"/>
            </a:solidFill>
          </a:ln>
        </p:spPr>
      </p:sp>
      <p:sp>
        <p:nvSpPr>
          <p:cNvPr id="556" name="content-124">
            <a:extLst xmlns:a="http://schemas.openxmlformats.org/drawingml/2006/main">
              <a:ext uri="{FF2B5EF4-FFF2-40B4-BE49-F238E27FC236}">
                <a16:creationId xmlns:a16="http://schemas.microsoft.com/office/drawing/2014/main" id="{D6F493E3-BA6B-4676-AA89-D731432D6F29}"/>
              </a:ext>
            </a:extLst>
          </p:cNvPr>
          <p:cNvSpPr>
            <a:spLocks xmlns:a="http://schemas.openxmlformats.org/drawingml/2006/main" noGrp="1"/>
          </p:cNvSpPr>
          <p:nvPr/>
        </p:nvSpPr>
        <p:spPr>
          <a:xfrm xmlns:a="http://schemas.openxmlformats.org/drawingml/2006/main">
            <a:off x="3143250" y="33432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57" name="content-125">
            <a:extLst xmlns:a="http://schemas.openxmlformats.org/drawingml/2006/main">
              <a:ext uri="{FF2B5EF4-FFF2-40B4-BE49-F238E27FC236}">
                <a16:creationId xmlns:a16="http://schemas.microsoft.com/office/drawing/2014/main" id="{C8D37E9C-D874-48AA-8C56-AE4091CB54BD}"/>
              </a:ext>
            </a:extLst>
          </p:cNvPr>
          <p:cNvSpPr>
            <a:spLocks xmlns:a="http://schemas.openxmlformats.org/drawingml/2006/main" noGrp="1"/>
          </p:cNvSpPr>
          <p:nvPr/>
        </p:nvSpPr>
        <p:spPr>
          <a:xfrm xmlns:a="http://schemas.openxmlformats.org/drawingml/2006/main">
            <a:off x="3143250" y="4410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58" name="content-126">
            <a:extLst xmlns:a="http://schemas.openxmlformats.org/drawingml/2006/main">
              <a:ext uri="{FF2B5EF4-FFF2-40B4-BE49-F238E27FC236}">
                <a16:creationId xmlns:a16="http://schemas.microsoft.com/office/drawing/2014/main" id="{F9856FB8-2BDF-41F6-83CE-47F3E51E60F4}"/>
              </a:ext>
            </a:extLst>
          </p:cNvPr>
          <p:cNvSpPr>
            <a:spLocks xmlns:a="http://schemas.openxmlformats.org/drawingml/2006/main" noGrp="1"/>
          </p:cNvSpPr>
          <p:nvPr/>
        </p:nvSpPr>
        <p:spPr>
          <a:xfrm xmlns:a="http://schemas.openxmlformats.org/drawingml/2006/main">
            <a:off x="6934200" y="4410075"/>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0">
                <a:solidFill>
                  <a:srgbClr val="2D607A"/>
                </a:solidFill>
                <a:latin typeface="Inter"/>
                <a:ea typeface="Inter"/>
                <a:cs typeface="Inter"/>
              </a:defRPr>
            </a:pPr>
            <a:r>
              <a:rPr sz="1425" b="0">
                <a:solidFill>
                  <a:srgbClr val="2D607A"/>
                </a:solidFill>
                <a:latin typeface="Inter"/>
                <a:ea typeface="Inter"/>
                <a:cs typeface="Inter"/>
              </a:rPr>
              <a:t>1:N</a:t>
            </a:r>
          </a:p>
        </p:txBody>
      </p:sp>
      <p:sp>
        <p:nvSpPr>
          <p:cNvPr id="559" name="content-127">
            <a:extLst xmlns:a="http://schemas.openxmlformats.org/drawingml/2006/main">
              <a:ext uri="{FF2B5EF4-FFF2-40B4-BE49-F238E27FC236}">
                <a16:creationId xmlns:a16="http://schemas.microsoft.com/office/drawing/2014/main" id="{B4FACB9F-FA33-48C9-84A0-6568AE056749}"/>
              </a:ext>
            </a:extLst>
          </p:cNvPr>
          <p:cNvSpPr>
            <a:spLocks xmlns:a="http://schemas.openxmlformats.org/drawingml/2006/main" noGrp="1"/>
          </p:cNvSpPr>
          <p:nvPr/>
        </p:nvSpPr>
        <p:spPr>
          <a:xfrm xmlns:a="http://schemas.openxmlformats.org/drawingml/2006/main">
            <a:off x="8039100" y="3419475"/>
            <a:ext cx="3752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25" b="1">
                <a:solidFill>
                  <a:srgbClr val="2D607A"/>
                </a:solidFill>
                <a:latin typeface="Inter"/>
                <a:ea typeface="Inter"/>
                <a:cs typeface="Inter"/>
              </a:defRPr>
            </a:pPr>
            <a:r>
              <a:rPr sz="1725" b="1">
                <a:solidFill>
                  <a:srgbClr val="2D607A"/>
                </a:solidFill>
                <a:latin typeface="Inter"/>
                <a:ea typeface="Inter"/>
                <a:cs typeface="Inter"/>
              </a:rPr>
              <a:t>Audit events reference business objects</a:t>
            </a:r>
          </a:p>
        </p:txBody>
      </p:sp>
      <p:sp>
        <p:nvSpPr>
          <p:cNvPr id="560" name="content-128">
            <a:extLst xmlns:a="http://schemas.openxmlformats.org/drawingml/2006/main">
              <a:ext uri="{FF2B5EF4-FFF2-40B4-BE49-F238E27FC236}">
                <a16:creationId xmlns:a16="http://schemas.microsoft.com/office/drawing/2014/main" id="{116AC3A1-E052-4F5F-AF40-2A5DBEAB182C}"/>
              </a:ext>
            </a:extLst>
          </p:cNvPr>
          <p:cNvSpPr>
            <a:spLocks xmlns:a="http://schemas.openxmlformats.org/drawingml/2006/main" noGrp="1"/>
          </p:cNvSpPr>
          <p:nvPr/>
        </p:nvSpPr>
        <p:spPr>
          <a:xfrm xmlns:a="http://schemas.openxmlformats.org/drawingml/2006/main">
            <a:off x="400050" y="5372100"/>
            <a:ext cx="11391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142C38"/>
                </a:solidFill>
                <a:latin typeface="Inter"/>
                <a:ea typeface="Inter"/>
                <a:cs typeface="Inter"/>
              </a:defRPr>
            </a:pPr>
            <a:r>
              <a:rPr sz="1650" b="0">
                <a:solidFill>
                  <a:srgbClr val="142C38"/>
                </a:solidFill>
                <a:latin typeface="Inter"/>
                <a:ea typeface="Inter"/>
                <a:cs typeface="Inter"/>
              </a:rPr>
              <a:t>Commit state and task events together, deduplicate retries by event ID</a:t>
            </a:r>
          </a:p>
        </p:txBody>
      </p:sp>
      <p:sp>
        <p:nvSpPr>
          <p:cNvPr id="561" name="content-129">
            <a:extLst xmlns:a="http://schemas.openxmlformats.org/drawingml/2006/main">
              <a:ext uri="{FF2B5EF4-FFF2-40B4-BE49-F238E27FC236}">
                <a16:creationId xmlns:a16="http://schemas.microsoft.com/office/drawing/2014/main" id="{42828F7B-81EF-4029-916B-CD674F5836F2}"/>
              </a:ext>
            </a:extLst>
          </p:cNvPr>
          <p:cNvSpPr>
            <a:spLocks xmlns:a="http://schemas.openxmlformats.org/drawingml/2006/main" noGrp="1"/>
          </p:cNvSpPr>
          <p:nvPr/>
        </p:nvSpPr>
        <p:spPr>
          <a:xfrm xmlns:a="http://schemas.openxmlformats.org/drawingml/2006/main">
            <a:off x="400050" y="5772150"/>
            <a:ext cx="11391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46B77"/>
                </a:solidFill>
                <a:latin typeface="Inter"/>
                <a:ea typeface="Inter"/>
                <a:cs typeface="Inter"/>
              </a:defRPr>
            </a:pPr>
            <a:r>
              <a:rPr sz="1650" b="0">
                <a:solidFill>
                  <a:srgbClr val="546B77"/>
                </a:solidFill>
                <a:latin typeface="Inter"/>
                <a:ea typeface="Inter"/>
                <a:cs typeface="Inter"/>
              </a:rPr>
              <a:t>Keep source, time and version, and verify recovery through a restore drill</a:t>
            </a:r>
          </a:p>
        </p:txBody>
      </p:sp>
      <p:sp>
        <p:nvSpPr>
          <p:cNvPr id="562" name="content-130">
            <a:extLst xmlns:a="http://schemas.openxmlformats.org/drawingml/2006/main">
              <a:ext uri="{FF2B5EF4-FFF2-40B4-BE49-F238E27FC236}">
                <a16:creationId xmlns:a16="http://schemas.microsoft.com/office/drawing/2014/main" id="{B849470E-F28A-4945-B766-98F966630149}"/>
              </a:ext>
            </a:extLst>
          </p:cNvPr>
          <p:cNvSpPr>
            <a:spLocks xmlns:a="http://schemas.openxmlformats.org/drawingml/2006/main" noGrp="1"/>
          </p:cNvSpPr>
          <p:nvPr/>
        </p:nvSpPr>
        <p:spPr>
          <a:xfrm xmlns:a="http://schemas.openxmlformats.org/drawingml/2006/main">
            <a:off x="400050" y="6248400"/>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200" b="0">
                <a:solidFill>
                  <a:srgbClr val="546B77"/>
                </a:solidFill>
                <a:latin typeface="Inter"/>
                <a:ea typeface="Inter"/>
                <a:cs typeface="Inter"/>
              </a:defRPr>
            </a:pPr>
            <a:r>
              <a:rPr sz="1200" b="0">
                <a:solidFill>
                  <a:srgbClr val="546B77"/>
                </a:solidFill>
                <a:latin typeface="Inter"/>
                <a:ea typeface="Inter"/>
                <a:cs typeface="Inter"/>
              </a:rPr>
              <a:t>Proposed design; 1:N means one record can relate to many records</a:t>
            </a:r>
          </a:p>
        </p:txBody>
      </p:sp>
    </p:spTree>
    <p:extLst>
      <p:ext uri="{BB962C8B-B14F-4D97-AF65-F5344CB8AC3E}">
        <p14:creationId xmlns:p14="http://schemas.microsoft.com/office/powerpoint/2010/main" val="67611695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315" y="6279928"/>
            <a:ext cx="518922" cy="241268"/>
          </a:xfrm>
        </p:spPr>
        <p:txBody>
          <a:bodyPr xmlns:a="http://schemas.openxmlformats.org/drawingml/2006/main"/>
          <a:lstStyle xmlns:a="http://schemas.openxmlformats.org/drawingml/2006/main"/>
          <a:p xmlns:a="http://schemas.openxmlformats.org/drawingml/2006/main">
            <a:pPr algn="r">
              <a:buNone/>
              <a:defRPr sz="1100">
                <a:solidFill>
                  <a:srgbClr val="546B77"/>
                </a:solidFill>
                <a:latin typeface="Inter"/>
                <a:ea typeface="Inter"/>
                <a:cs typeface="Inter"/>
              </a:defRPr>
            </a:pPr>
            <a:fld id="{388657AE-30A1-5A7A-6A7F-315D84436430}" type="slidenum">
              <a:rPr sz="1100">
                <a:solidFill>
                  <a:srgbClr val="546B77"/>
                </a:solidFill>
                <a:latin typeface="Inter"/>
                <a:ea typeface="Inter"/>
                <a:cs typeface="Inter"/>
              </a:rPr>
              <a:t>9</a:t>
            </a:fld>
            <a:endParaRPr/>
          </a:p>
        </p:txBody>
      </p:sp>
      <p:sp>
        <p:nvSpPr>
          <p:cNvPr id="3" name="Title Reused">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668" y="344043"/>
            <a:ext cx="11404568" cy="904875"/>
          </a:xfrm>
        </p:spPr>
        <p:txBody>
          <a:bodyPr xmlns:a="http://schemas.openxmlformats.org/drawingml/2006/main" lIns="0" tIns="0" rIns="0" bIns="0" anchor="t">
            <a:noAutofit/>
          </a:bodyPr>
          <a:lstStyle xmlns:a="http://schemas.openxmlformats.org/drawingml/2006/main"/>
          <a:p xmlns:a="http://schemas.openxmlformats.org/drawingml/2006/main">
            <a:pPr>
              <a:buNone/>
              <a:defRPr sz="2900" b="0">
                <a:solidFill>
                  <a:srgbClr val="142C38"/>
                </a:solidFill>
                <a:latin typeface="Inter"/>
                <a:ea typeface="Inter"/>
                <a:cs typeface="Inter"/>
              </a:defRPr>
            </a:pPr>
            <a:r>
              <a:rPr sz="2900" b="0">
                <a:solidFill>
                  <a:srgbClr val="142C38"/>
                </a:solidFill>
                <a:latin typeface="Inter"/>
                <a:ea typeface="Inter"/>
                <a:cs typeface="Inter"/>
              </a:rPr>
              <a:t>Five-person iteration plan and acceptance</a:t>
            </a: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7" name="content-131">
            <a:extLst xmlns:a="http://schemas.openxmlformats.org/drawingml/2006/main">
              <a:ext uri="{FF2B5EF4-FFF2-40B4-BE49-F238E27FC236}">
                <a16:creationId xmlns:a16="http://schemas.microsoft.com/office/drawing/2014/main" id="{6D332986-A4A0-419C-977D-E7B225E904B2}"/>
              </a:ext>
            </a:extLst>
          </p:cNvPr>
          <p:cNvSpPr>
            <a:spLocks xmlns:a="http://schemas.openxmlformats.org/drawingml/2006/main" noGrp="1"/>
          </p:cNvSpPr>
          <p:nvPr/>
        </p:nvSpPr>
        <p:spPr>
          <a:xfrm xmlns:a="http://schemas.openxmlformats.org/drawingml/2006/main">
            <a:off x="400050" y="145732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2D607A"/>
                </a:solidFill>
                <a:latin typeface="Inter"/>
                <a:ea typeface="Inter"/>
                <a:cs typeface="Inter"/>
              </a:defRPr>
            </a:pPr>
            <a:r>
              <a:rPr sz="2100" b="1">
                <a:solidFill>
                  <a:srgbClr val="2D607A"/>
                </a:solidFill>
                <a:latin typeface="Inter"/>
                <a:ea typeface="Inter"/>
                <a:cs typeface="Inter"/>
              </a:rPr>
              <a:t>Iteration 0</a:t>
            </a:r>
          </a:p>
        </p:txBody>
      </p:sp>
      <p:sp>
        <p:nvSpPr>
          <p:cNvPr id="8" name="content-132">
            <a:extLst xmlns:a="http://schemas.openxmlformats.org/drawingml/2006/main">
              <a:ext uri="{FF2B5EF4-FFF2-40B4-BE49-F238E27FC236}">
                <a16:creationId xmlns:a16="http://schemas.microsoft.com/office/drawing/2014/main" id="{9D1F2EB1-DDEE-479D-A9DE-7F17D13EE01A}"/>
              </a:ext>
            </a:extLst>
          </p:cNvPr>
          <p:cNvSpPr>
            <a:spLocks xmlns:a="http://schemas.openxmlformats.org/drawingml/2006/main" noGrp="1"/>
          </p:cNvSpPr>
          <p:nvPr/>
        </p:nvSpPr>
        <p:spPr>
          <a:xfrm xmlns:a="http://schemas.openxmlformats.org/drawingml/2006/main">
            <a:off x="400050" y="205740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Windows installer</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Chinese / English</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Synthetic read-only demo</a:t>
            </a:r>
          </a:p>
        </p:txBody>
      </p:sp>
      <p:sp>
        <p:nvSpPr>
          <p:cNvPr id="9" name="content-133">
            <a:extLst xmlns:a="http://schemas.openxmlformats.org/drawingml/2006/main">
              <a:ext uri="{FF2B5EF4-FFF2-40B4-BE49-F238E27FC236}">
                <a16:creationId xmlns:a16="http://schemas.microsoft.com/office/drawing/2014/main" id="{8A419476-1BC1-406B-8E14-9058D1D69658}"/>
              </a:ext>
            </a:extLst>
          </p:cNvPr>
          <p:cNvSpPr>
            <a:spLocks xmlns:a="http://schemas.openxmlformats.org/drawingml/2006/main" noGrp="1"/>
          </p:cNvSpPr>
          <p:nvPr/>
        </p:nvSpPr>
        <p:spPr>
          <a:xfrm xmlns:a="http://schemas.openxmlformats.org/drawingml/2006/main">
            <a:off x="4286250" y="145732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2D607A"/>
                </a:solidFill>
                <a:latin typeface="Inter"/>
                <a:ea typeface="Inter"/>
                <a:cs typeface="Inter"/>
              </a:defRPr>
            </a:pPr>
            <a:r>
              <a:rPr sz="2100" b="1">
                <a:solidFill>
                  <a:srgbClr val="2D607A"/>
                </a:solidFill>
                <a:latin typeface="Inter"/>
                <a:ea typeface="Inter"/>
                <a:cs typeface="Inter"/>
              </a:rPr>
              <a:t>Iterations 1–2</a:t>
            </a:r>
          </a:p>
        </p:txBody>
      </p:sp>
      <p:sp>
        <p:nvSpPr>
          <p:cNvPr id="10" name="content-134">
            <a:extLst xmlns:a="http://schemas.openxmlformats.org/drawingml/2006/main">
              <a:ext uri="{FF2B5EF4-FFF2-40B4-BE49-F238E27FC236}">
                <a16:creationId xmlns:a16="http://schemas.microsoft.com/office/drawing/2014/main" id="{C23F4329-0430-4DA4-8774-B2D5AF845BEF}"/>
              </a:ext>
            </a:extLst>
          </p:cNvPr>
          <p:cNvSpPr>
            <a:spLocks xmlns:a="http://schemas.openxmlformats.org/drawingml/2006/main" noGrp="1"/>
          </p:cNvSpPr>
          <p:nvPr/>
        </p:nvSpPr>
        <p:spPr>
          <a:xfrm xmlns:a="http://schemas.openxmlformats.org/drawingml/2006/main">
            <a:off x="4286250" y="205740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Login, patients and text visits</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Records, orders and review</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Plans, reminders and audit</a:t>
            </a:r>
          </a:p>
        </p:txBody>
      </p:sp>
      <p:sp>
        <p:nvSpPr>
          <p:cNvPr id="11" name="content-135">
            <a:extLst xmlns:a="http://schemas.openxmlformats.org/drawingml/2006/main">
              <a:ext uri="{FF2B5EF4-FFF2-40B4-BE49-F238E27FC236}">
                <a16:creationId xmlns:a16="http://schemas.microsoft.com/office/drawing/2014/main" id="{4CF57C02-DA1A-4CEB-A87C-3F17BF81FCE3}"/>
              </a:ext>
            </a:extLst>
          </p:cNvPr>
          <p:cNvSpPr>
            <a:spLocks xmlns:a="http://schemas.openxmlformats.org/drawingml/2006/main" noGrp="1"/>
          </p:cNvSpPr>
          <p:nvPr/>
        </p:nvSpPr>
        <p:spPr>
          <a:xfrm xmlns:a="http://schemas.openxmlformats.org/drawingml/2006/main">
            <a:off x="8172450" y="1457325"/>
            <a:ext cx="361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2D607A"/>
                </a:solidFill>
                <a:latin typeface="Inter"/>
                <a:ea typeface="Inter"/>
                <a:cs typeface="Inter"/>
              </a:defRPr>
            </a:pPr>
            <a:r>
              <a:rPr sz="2100" b="1">
                <a:solidFill>
                  <a:srgbClr val="2D607A"/>
                </a:solidFill>
                <a:latin typeface="Inter"/>
                <a:ea typeface="Inter"/>
                <a:cs typeface="Inter"/>
              </a:rPr>
              <a:t>Iterations 3–5</a:t>
            </a:r>
          </a:p>
        </p:txBody>
      </p:sp>
      <p:sp>
        <p:nvSpPr>
          <p:cNvPr id="12" name="content-136">
            <a:extLst xmlns:a="http://schemas.openxmlformats.org/drawingml/2006/main">
              <a:ext uri="{FF2B5EF4-FFF2-40B4-BE49-F238E27FC236}">
                <a16:creationId xmlns:a16="http://schemas.microsoft.com/office/drawing/2014/main" id="{ED1B321B-2520-43B6-A344-CB8F9BA15481}"/>
              </a:ext>
            </a:extLst>
          </p:cNvPr>
          <p:cNvSpPr>
            <a:spLocks xmlns:a="http://schemas.openxmlformats.org/drawingml/2006/main" noGrp="1"/>
          </p:cNvSpPr>
          <p:nvPr/>
        </p:nvSpPr>
        <p:spPr>
          <a:xfrm xmlns:a="http://schemas.openxmlformats.org/drawingml/2006/main">
            <a:off x="8172450" y="2057400"/>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3  Video and expert visits</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4  Providers and release checks</a:t>
            </a:r>
          </a:p>
          <a:p xmlns:a="http://schemas.openxmlformats.org/drawingml/2006/main">
            <a:pPr algn="l">
              <a:buNone/>
              <a:defRPr sz="1875" b="0">
                <a:solidFill>
                  <a:srgbClr val="142C38"/>
                </a:solidFill>
                <a:latin typeface="Inter"/>
                <a:ea typeface="Inter"/>
                <a:cs typeface="Inter"/>
              </a:defRPr>
            </a:pPr>
            <a:r>
              <a:rPr sz="1875" b="0">
                <a:solidFill>
                  <a:srgbClr val="142C38"/>
                </a:solidFill>
                <a:latin typeface="Inter"/>
                <a:ea typeface="Inter"/>
                <a:cs typeface="Inter"/>
              </a:rPr>
              <a:t>5  Optional peer community</a:t>
            </a:r>
          </a:p>
        </p:txBody>
      </p:sp>
      <p:sp>
        <p:nvSpPr>
          <p:cNvPr id="13" name="content-137">
            <a:extLst xmlns:a="http://schemas.openxmlformats.org/drawingml/2006/main">
              <a:ext uri="{FF2B5EF4-FFF2-40B4-BE49-F238E27FC236}">
                <a16:creationId xmlns:a16="http://schemas.microsoft.com/office/drawing/2014/main" id="{9B58A904-A8AC-4CFA-9AD9-705DFDCB7E95}"/>
              </a:ext>
            </a:extLst>
          </p:cNvPr>
          <p:cNvSpPr>
            <a:spLocks xmlns:a="http://schemas.openxmlformats.org/drawingml/2006/main" noGrp="1"/>
          </p:cNvSpPr>
          <p:nvPr/>
        </p:nvSpPr>
        <p:spPr>
          <a:xfrm xmlns:a="http://schemas.openxmlformats.org/drawingml/2006/main">
            <a:off x="400050" y="3762375"/>
            <a:ext cx="11391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1">
                <a:solidFill>
                  <a:srgbClr val="2D607A"/>
                </a:solidFill>
                <a:latin typeface="Inter"/>
                <a:ea typeface="Inter"/>
                <a:cs typeface="Inter"/>
              </a:defRPr>
            </a:pPr>
            <a:r>
              <a:rPr sz="2025" b="1">
                <a:solidFill>
                  <a:srgbClr val="2D607A"/>
                </a:solidFill>
                <a:latin typeface="Inter"/>
                <a:ea typeface="Inter"/>
                <a:cs typeface="Inter"/>
              </a:rPr>
              <a:t>Five owners and acceptance gates</a:t>
            </a:r>
          </a:p>
        </p:txBody>
      </p:sp>
      <p:sp>
        <p:nvSpPr>
          <p:cNvPr id="14" name="content-138">
            <a:extLst xmlns:a="http://schemas.openxmlformats.org/drawingml/2006/main">
              <a:ext uri="{FF2B5EF4-FFF2-40B4-BE49-F238E27FC236}">
                <a16:creationId xmlns:a16="http://schemas.microsoft.com/office/drawing/2014/main" id="{0BE68481-3A84-4AA1-88B9-F5CF0766DC8E}"/>
              </a:ext>
            </a:extLst>
          </p:cNvPr>
          <p:cNvSpPr>
            <a:spLocks xmlns:a="http://schemas.openxmlformats.org/drawingml/2006/main" noGrp="1"/>
          </p:cNvSpPr>
          <p:nvPr/>
        </p:nvSpPr>
        <p:spPr>
          <a:xfrm xmlns:a="http://schemas.openxmlformats.org/drawingml/2006/main">
            <a:off x="400050" y="4343400"/>
            <a:ext cx="11391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C38"/>
                </a:solidFill>
                <a:latin typeface="Inter"/>
                <a:ea typeface="Inter"/>
                <a:cs typeface="Inter"/>
              </a:defRPr>
            </a:pPr>
            <a:r>
              <a:rPr sz="1800" b="0">
                <a:solidFill>
                  <a:srgbClr val="142C38"/>
                </a:solidFill>
                <a:latin typeface="Inter"/>
                <a:ea typeface="Inter"/>
                <a:cs typeface="Inter"/>
              </a:rPr>
              <a:t>A Desktop/platform   B Patients   C Encounters/MDT   D Records   E Health/community</a:t>
            </a:r>
          </a:p>
        </p:txBody>
      </p:sp>
      <p:sp>
        <p:nvSpPr>
          <p:cNvPr id="15" name="content-139">
            <a:extLst xmlns:a="http://schemas.openxmlformats.org/drawingml/2006/main">
              <a:ext uri="{FF2B5EF4-FFF2-40B4-BE49-F238E27FC236}">
                <a16:creationId xmlns:a16="http://schemas.microsoft.com/office/drawing/2014/main" id="{23A6175E-C322-45F4-BF0E-EFBC6BCCA54E}"/>
              </a:ext>
            </a:extLst>
          </p:cNvPr>
          <p:cNvSpPr>
            <a:spLocks xmlns:a="http://schemas.openxmlformats.org/drawingml/2006/main" noGrp="1"/>
          </p:cNvSpPr>
          <p:nvPr/>
        </p:nvSpPr>
        <p:spPr>
          <a:xfrm xmlns:a="http://schemas.openxmlformats.org/drawingml/2006/main">
            <a:off x="400050" y="4791075"/>
            <a:ext cx="11391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C38"/>
                </a:solidFill>
                <a:latin typeface="Inter"/>
                <a:ea typeface="Inter"/>
                <a:cs typeface="Inter"/>
              </a:defRPr>
            </a:pPr>
            <a:r>
              <a:rPr sz="1800" b="0">
                <a:solidFill>
                  <a:srgbClr val="142C38"/>
                </a:solidFill>
                <a:latin typeface="Inter"/>
                <a:ea typeface="Inter"/>
                <a:cs typeface="Inter"/>
              </a:rPr>
              <a:t>Now: install, switch language, restart; clinical writes stay unavailable</a:t>
            </a:r>
          </a:p>
        </p:txBody>
      </p:sp>
      <p:sp>
        <p:nvSpPr>
          <p:cNvPr id="16" name="content-140">
            <a:extLst xmlns:a="http://schemas.openxmlformats.org/drawingml/2006/main">
              <a:ext uri="{FF2B5EF4-FFF2-40B4-BE49-F238E27FC236}">
                <a16:creationId xmlns:a16="http://schemas.microsoft.com/office/drawing/2014/main" id="{089C2493-0E7D-4C0D-BE55-9B65CD639478}"/>
              </a:ext>
            </a:extLst>
          </p:cNvPr>
          <p:cNvSpPr>
            <a:spLocks xmlns:a="http://schemas.openxmlformats.org/drawingml/2006/main" noGrp="1"/>
          </p:cNvSpPr>
          <p:nvPr/>
        </p:nvSpPr>
        <p:spPr>
          <a:xfrm xmlns:a="http://schemas.openxmlformats.org/drawingml/2006/main">
            <a:off x="400050" y="5238750"/>
            <a:ext cx="11391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42C38"/>
                </a:solidFill>
                <a:latin typeface="Inter"/>
                <a:ea typeface="Inter"/>
                <a:cs typeface="Inter"/>
              </a:defRPr>
            </a:pPr>
            <a:r>
              <a:rPr sz="1800" b="0">
                <a:solidFill>
                  <a:srgbClr val="142C38"/>
                </a:solidFill>
                <a:latin typeface="Inter"/>
                <a:ea typeface="Inter"/>
                <a:cs typeface="Inter"/>
              </a:rPr>
              <a:t>Later: reviewed archives, revoked media access, retry-safe reminders</a:t>
            </a:r>
          </a:p>
        </p:txBody>
      </p:sp>
      <p:sp>
        <p:nvSpPr>
          <p:cNvPr id="17" name="content-141">
            <a:extLst xmlns:a="http://schemas.openxmlformats.org/drawingml/2006/main">
              <a:ext uri="{FF2B5EF4-FFF2-40B4-BE49-F238E27FC236}">
                <a16:creationId xmlns:a16="http://schemas.microsoft.com/office/drawing/2014/main" id="{9CE086FF-6473-4C8E-AF28-D7C93815357A}"/>
              </a:ext>
            </a:extLst>
          </p:cNvPr>
          <p:cNvSpPr>
            <a:spLocks xmlns:a="http://schemas.openxmlformats.org/drawingml/2006/main" noGrp="1"/>
          </p:cNvSpPr>
          <p:nvPr/>
        </p:nvSpPr>
        <p:spPr>
          <a:xfrm xmlns:a="http://schemas.openxmlformats.org/drawingml/2006/main">
            <a:off x="400050" y="5905500"/>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0">
                <a:solidFill>
                  <a:srgbClr val="546B77"/>
                </a:solidFill>
                <a:latin typeface="Inter"/>
                <a:ea typeface="Inter"/>
                <a:cs typeface="Inter"/>
              </a:defRPr>
            </a:pPr>
            <a:r>
              <a:rPr sz="1500" b="0">
                <a:solidFill>
                  <a:srgbClr val="546B77"/>
                </a:solidFill>
                <a:latin typeface="Inter"/>
                <a:ea typeface="Inter"/>
                <a:cs typeface="Inter"/>
              </a:rPr>
              <a:t>Estimate: 9 core weeks, 2 optional weeks. Detailed tasks: docs/ITERATION_PLAN.md</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2026-09-10T09:55:42.1660000Z</dcterms:created>
  <dcterms:modified xsi:type="dcterms:W3CDTF">2026-09-10T09:55:42.1660000Z</dcterms:modified>
</coreProperties>
</file>