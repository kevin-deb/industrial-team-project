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6324e4d93744c3" /><Relationship Type="http://schemas.openxmlformats.org/officeDocument/2006/relationships/extended-properties" Target="/docProps/app.xml" Id="R0546ed5db2294013" /><Relationship Type="http://schemas.openxmlformats.org/officeDocument/2006/relationships/officeDocument" Target="/ppt/presentation.xml" Id="R35a818ea5909480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2f8b969ee614c68"/>
  </p:sldMasterIdLst>
  <p:notesMasterIdLst>
    <p:notesMasterId xmlns:r="http://schemas.openxmlformats.org/officeDocument/2006/relationships" r:id="R5b3ba3fa77194f5b"/>
  </p:notesMasterIdLst>
  <p:sldIdLst>
    <p:sldId xmlns:r="http://schemas.openxmlformats.org/officeDocument/2006/relationships" id="256" r:id="Ra77fa1a4ae754ad4"/>
    <p:sldId xmlns:r="http://schemas.openxmlformats.org/officeDocument/2006/relationships" id="257" r:id="R12a8e7d753974134"/>
    <p:sldId xmlns:r="http://schemas.openxmlformats.org/officeDocument/2006/relationships" id="258" r:id="R3e664f8b035f4178"/>
    <p:sldId xmlns:r="http://schemas.openxmlformats.org/officeDocument/2006/relationships" id="259" r:id="R62cfe1c7f5524d23"/>
    <p:sldId xmlns:r="http://schemas.openxmlformats.org/officeDocument/2006/relationships" id="260" r:id="R3afdd27c73264581"/>
    <p:sldId xmlns:r="http://schemas.openxmlformats.org/officeDocument/2006/relationships" id="261" r:id="Rcd260b8614024302"/>
    <p:sldId xmlns:r="http://schemas.openxmlformats.org/officeDocument/2006/relationships" id="262" r:id="Ra43d3268d2b94bc6"/>
    <p:sldId xmlns:r="http://schemas.openxmlformats.org/officeDocument/2006/relationships" id="263" r:id="R3e051d025e4e44a9"/>
    <p:sldId xmlns:r="http://schemas.openxmlformats.org/officeDocument/2006/relationships" id="264" r:id="R6083b75c817d49cb"/>
  </p:sldIdLst>
  <p:sldSz cx="12192000" cy="6858000"/>
  <p:notesSz cx="6858000" cy="9144000"/>
  <p:embeddedFontLst>
    <p:embeddedFont>
      <p:font typeface="Inter"/>
      <p:regular xmlns:r="http://schemas.openxmlformats.org/officeDocument/2006/relationships" r:id="R1678c540cde74a1d"/>
      <p:bold xmlns:r="http://schemas.openxmlformats.org/officeDocument/2006/relationships" r:id="R811fc9ae279946f0"/>
    </p:embeddedFont>
    <p:embeddedFont>
      <p:font typeface="Inter Medium"/>
      <p:regular xmlns:r="http://schemas.openxmlformats.org/officeDocument/2006/relationships" r:id="Rcbc704e3b87c4592"/>
    </p:embeddedFont>
    <p:embeddedFont>
      <p:font typeface="Inter SemiBold"/>
      <p:regular xmlns:r="http://schemas.openxmlformats.org/officeDocument/2006/relationships" r:id="Rcf43d3c4c9f743da"/>
      <p:bold xmlns:r="http://schemas.openxmlformats.org/officeDocument/2006/relationships" r:id="Re1e95b13f22f45b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7680f732f14b5c" /><Relationship Type="http://schemas.openxmlformats.org/officeDocument/2006/relationships/slideMaster" Target="/ppt/slideMasters/slideMaster1.xml" Id="Rd2f8b969ee614c68" /><Relationship Type="http://schemas.openxmlformats.org/officeDocument/2006/relationships/notesMaster" Target="/ppt/notesMasters/notesMaster1.xml" Id="R5b3ba3fa77194f5b" /><Relationship Type="http://schemas.openxmlformats.org/officeDocument/2006/relationships/presProps" Target="/ppt/presProps.xml" Id="R7b1683f20a6e4782" /><Relationship Type="http://schemas.openxmlformats.org/officeDocument/2006/relationships/viewProps" Target="/ppt/viewProps.xml" Id="Re59f8b80289a4a07" /><Relationship Type="http://schemas.openxmlformats.org/officeDocument/2006/relationships/tableStyles" Target="/ppt/tableStyles.xml" Id="Rc82cc3737b8b48b5" /><Relationship Type="http://schemas.openxmlformats.org/officeDocument/2006/relationships/font" Target="/ppt/fonts/font.dat" Id="R1678c540cde74a1d" /><Relationship Type="http://schemas.openxmlformats.org/officeDocument/2006/relationships/font" Target="/ppt/fonts/font2.dat" Id="R811fc9ae279946f0" /><Relationship Type="http://schemas.openxmlformats.org/officeDocument/2006/relationships/font" Target="/ppt/fonts/font3.dat" Id="Rcbc704e3b87c4592" /><Relationship Type="http://schemas.openxmlformats.org/officeDocument/2006/relationships/font" Target="/ppt/fonts/font4.dat" Id="Rcf43d3c4c9f743da" /><Relationship Type="http://schemas.openxmlformats.org/officeDocument/2006/relationships/font" Target="/ppt/fonts/font5.dat" Id="Re1e95b13f22f45ba" /><Relationship Type="http://schemas.openxmlformats.org/officeDocument/2006/relationships/slide" Target="/ppt/slides/slide1.xml" Id="Ra77fa1a4ae754ad4" /><Relationship Type="http://schemas.openxmlformats.org/officeDocument/2006/relationships/slide" Target="/ppt/slides/slide2.xml" Id="R12a8e7d753974134" /><Relationship Type="http://schemas.openxmlformats.org/officeDocument/2006/relationships/slide" Target="/ppt/slides/slide3.xml" Id="R3e664f8b035f4178" /><Relationship Type="http://schemas.openxmlformats.org/officeDocument/2006/relationships/slide" Target="/ppt/slides/slide4.xml" Id="R62cfe1c7f5524d23" /><Relationship Type="http://schemas.openxmlformats.org/officeDocument/2006/relationships/slide" Target="/ppt/slides/slide5.xml" Id="R3afdd27c73264581" /><Relationship Type="http://schemas.openxmlformats.org/officeDocument/2006/relationships/slide" Target="/ppt/slides/slide6.xml" Id="Rcd260b8614024302" /><Relationship Type="http://schemas.openxmlformats.org/officeDocument/2006/relationships/slide" Target="/ppt/slides/slide7.xml" Id="Ra43d3268d2b94bc6" /><Relationship Type="http://schemas.openxmlformats.org/officeDocument/2006/relationships/slide" Target="/ppt/slides/slide8.xml" Id="R3e051d025e4e44a9" /><Relationship Type="http://schemas.openxmlformats.org/officeDocument/2006/relationships/slide" Target="/ppt/slides/slide9.xml" Id="R6083b75c817d49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f2767421fb42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Microsoft YaHei"/>
        <a:cs typeface=""/>
      </a:majorFont>
      <a:minorFont>
        <a:latin typeface="Inter"/>
        <a:ea typeface="Microsoft YaHei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aed601d2ad4d58" /><Relationship Type="http://schemas.openxmlformats.org/officeDocument/2006/relationships/notesMaster" Target="/ppt/notesMasters/notesMaster1.xml" Id="R0b4a3f81c09440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3631a6f38941e9" /><Relationship Type="http://schemas.openxmlformats.org/officeDocument/2006/relationships/notesMaster" Target="/ppt/notesMasters/notesMaster1.xml" Id="R48e36c59c3d54e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d19c402c50461d" /><Relationship Type="http://schemas.openxmlformats.org/officeDocument/2006/relationships/notesMaster" Target="/ppt/notesMasters/notesMaster1.xml" Id="R9b486b193a6540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82db7d4ff44063" /><Relationship Type="http://schemas.openxmlformats.org/officeDocument/2006/relationships/notesMaster" Target="/ppt/notesMasters/notesMaster1.xml" Id="Rcaa31439c34948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ef382df23b4379" /><Relationship Type="http://schemas.openxmlformats.org/officeDocument/2006/relationships/notesMaster" Target="/ppt/notesMasters/notesMaster1.xml" Id="R65047616379e4c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31577a05db4ea7" /><Relationship Type="http://schemas.openxmlformats.org/officeDocument/2006/relationships/notesMaster" Target="/ppt/notesMasters/notesMaster1.xml" Id="R4c6fae01479a4b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74ab25c1154a0b" /><Relationship Type="http://schemas.openxmlformats.org/officeDocument/2006/relationships/notesMaster" Target="/ppt/notesMasters/notesMaster1.xml" Id="Re56c033bb3f045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0a95a036e14d34" /><Relationship Type="http://schemas.openxmlformats.org/officeDocument/2006/relationships/notesMaster" Target="/ppt/notesMasters/notesMaster1.xml" Id="Rd24d838e600e4f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f724caf7564c54" /><Relationship Type="http://schemas.openxmlformats.org/officeDocument/2006/relationships/notesMaster" Target="/ppt/notesMasters/notesMaster1.xml" Id="R784a724dc6224b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建议用时：20 秒。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我们五人小组以 Windows 10/11 x64 桌面软件的形式交付医生端。Electron 安装程序包含运行时和本地资源，用户安装后即可独立打开，无需另行安装 Node.js、浏览器或启动服务器。界面默认简体中文，也支持英文；顶部栏和设置页共用语言偏好，切换即时生效并在重启后保留。v0.2.0 属于迭代 0 框架，只展示虚构的只读数据。后续页面介绍的临床业务流程是未来要实现的需求。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依据：用户最新桌面与双语要求；仓库 README.md、docs/ARCHITECTURE.md、docs/ITERATION_PLAN.md；原始《医生用户需求.docx》《系统额外功能.docx》和英文需求 PPT 第 3—11 页。保留原封面插图。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建议用时：35 秒。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本组交付 Windows 医生桌面端及其必要业务服务，个人端和云管端属于外部协作系统。未来通过约定的患者标识、授权和业务接口对接。桌面界面通过私有协议调用内嵌 Fastify，不开放网络监听端口。共享中台仍然是逻辑上的公共能力层，不是额外的用户页面。应用内中文与英文切换共用一个持久化偏好。当前医生身份和患者资料均为合成数据，真实认证、临床写入和外部服务接入仍待开发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依据：《系统额外功能.docx》的前台、中台和云端后台定义；用户最新桌面与双语要求；docs/ARCHITECTURE.md。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 秒。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客户需求可以归纳为六组核心能力。患者检索支持姓名、患者编号、症状和入院日期，档案包含病史与过敏史。问诊需要自动保存全部业务记录，并支持录音录像和导出。病历提供模板，上级医师负责审核归档，医嘱涵盖药物、检查和检验。远程会诊和健康管理共同支持连续服务。登录需支持邮箱、短信和人脸等校验方式，具体组合通过策略配置。同行社交是可关闭的扩展，不影响核心流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来源与设计依据：医生用户需求.docx：账号安全登录至使用体验；Doctor Work Platform - User Requirements.pptx, slides 3–11.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 秒。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问诊和病历采用两个独立状态流程。患者申请后进入待接诊，医生接诊后才能进入会话，结束时自动保存消息、附件和录制索引。病历可以在问诊中起草，也可以结束后继续完善。下级医师提交病历，由上级医师审核，不通过就退回草稿，通过后才归档。归档后的更正建立新版本，保留原记录。医嘱另有开立、修改和停止操作，每次变化都记录操作者和版本。重复点击接诊或提交时，服务端识别同一请求，避免重复记录。这些状态规则是对客户需求的实现设计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来源与设计依据：医生用户需求.docx：在线问诊服务、电子病历管理。状态机、版本更正及重复提交处理为设计建议。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 秒。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远程会诊由医生发起或接受邀请。申请关联患者、参与专家、资料范围和有效期，多名专家在授权范围内讨论。系统根据结构化讨论意见生成报告草稿，负责医生确认后保存正式报告，不假设自动生成诊断。会诊结束后回收临时权限。健康管理则是循环流程：医生制定计划，系统接收患者或设备数据，完成格式、时间和重复校验后显示趋势。提醒服务按计划推送，失败记录可重试。医生定期评估并调整计划。远程会诊在医生需求中是核心功能，我们保留它，同时支持管理员配置机构启用状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来源与设计依据：医生用户需求.docx：远程会诊功能、患者健康管理；系统额外功能.docx：健康数据中台、消息推送、模块开关。报告确认、数据校验及重试为设计建议。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 秒。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Electron 主进程负责窗口和业务服务生命周期。React 界面在沙箱中运行，启用上下文隔离并关闭 Node 集成。carelink://app 提供打包后的本地资源，/api/v1 请求通过 Fastify app.inject 在进程内处理，桌面运行时不监听 TCP 端口。主进程把 SQLite 数据保存在 %APPDATA%\CareLink Doctor\data\doctor.sqlite，退出应用时关闭服务和数据库。六个领域迁移和公共 DTO 保持明确归属。目前只读合成数据可用，临床写入接口返回 501 FEATURE_NOT_IMPLEMENTED。对象存储、工作队列以及身份、医院设备、音视频和消息等服务均为后续预留能力。语言代码为 zh-CN 和 en，偏好在重启后保留。A 负责桌面与双语基础，其余成员各自维护领域文案；API 路径、枚举和编号保持不变。浏览器运行仅作为可选开发工具。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依据：apps/desktop/src/main.ts、protocol.ts、apps/desktop/package.json、apps/api/src/app.ts，以及架构和 API 文档。本页不表示生产认证或真实音视频功能已经完成。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 秒。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登录成功并不意味着能访问所有患者。每次查询、文件下载、导出和实时会话加入，都要检查岗位能力与患者授权范围。临时会诊权限还需检查任务和有效期。任务结束、到期或撤回后，下一次请求立即拒绝，并使相关访问凭据失效，不能只隐藏前端按钮。日志记录是谁在什么时间对哪个对象做了什么，以及是否成功。医生查看自己的操作，管理员按授权查看平台审计。传输与存储加密，普通日志避免写入完整医疗正文，并监测系统异常。录制是否默认开启、告知确认方式以及数据留存时长，需要客户确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来源与设计依据：医生用户需求.docx：账号安全登录、操作日志和审计；系统额外功能.docx：个人档案授权、统一权限引擎。逐请求校验及安全措施为设计建议。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 秒。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数据以患者标识为中心。一名患者对应多次诊疗服务，每次服务可以关联病历版本、医嘱版本以及会诊资料和报告。监测数据、健康计划和评估也归属于同一患者，计划再产生提醒任务。审计事件通过对象类型和编号关联业务记录。数据需要保留来源、采集时间和版本，避免覆盖历史。保存业务状态时，同时保存待处理的任务事件，之后由工作进程发送通知或生成文件。工作进程按事件编号去重，通知渠道支持时使用幂等键，降低网络重试造成重复提醒的风险。备份是否可用需要通过恢复演练验证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来源与设计依据：医生用户需求.docx：记录保存、病历管理、健康管理、日志；系统额外功能.docx：数据来源与版本。实体关系、事务事件和恢复演练为设计建议。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 秒。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五人采用稳定的纵向分工：A 负责桌面、平台、身份和审计，B 负责患者，C 负责在线问诊与专家会诊，D 负责病历审核和医嘱，E 负责健康与可选社区。各成员同时维护本模块的接口、实现、双语文案和测试。迭代 0 完成 Windows 安装、合成数据框架和中英语言持久化。迭代 1 实现真实身份与授权、患者编辑、文字问诊和病历草稿。迭代 2 完成审核归档、医嘱、健康计划、测试渠道提醒以及审计导出基础。迭代 3 增加图片、按政策录制的视频及专家会诊。迭代 4 对接真实服务并完成恢复和发布验证。迭代 5 为可选同行社区。核心 9 周、可选 2 周是按五名可用成员作出的估算，需根据实际投入重新估算。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当前验收覆盖安装运行、各页面只读数据、双语切换、重启持久化和未上线操作。后续验收包括审核后归档、文件与媒体的到期撤权，以及提醒失败重试和去重。社区不得自动同步临床资料，分享前必须手工脱敏，支持自由加入退出、实名匿名讨论、点赞评论私信和举报审核；关闭后还要停止社交通知。社区仅供专业研讨，不得为具体患者发布治疗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依据：docs/ITERATION_PLAN.md、docs/TEAM_WORKFLOW.md、docs/REQUIREMENTS_TRACEABILITY.md 和原始需求。性能、录制、留存和供应商规则需在对应开发前确认。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3ab128a5c45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fd9003ba94e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df08df0964d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a5484d8c644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f26f9cc6742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7992732ef64e5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599a04cbf4bb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46e3c0ebc348b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8685fa47a4b5f" /><Relationship Type="http://schemas.openxmlformats.org/officeDocument/2006/relationships/image" Target="/ppt/media/image.png" Id="R1d856e9cbaeb4cf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0e612b9d045e5" /><Relationship Type="http://schemas.openxmlformats.org/officeDocument/2006/relationships/image" Target="/ppt/media/image2.png" Id="R106ce5f4a97d433b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1d856e9cbaeb4cf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106ce5f4a97d433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ed4cd50d814419" /><Relationship Type="http://schemas.openxmlformats.org/officeDocument/2006/relationships/slideLayout" Target="/ppt/slideLayouts/slideLayout1.xml" Id="Reb89addae13e4ca9" /><Relationship Type="http://schemas.openxmlformats.org/officeDocument/2006/relationships/slideLayout" Target="/ppt/slideLayouts/slideLayout2.xml" Id="Rf966b2e6c93145f5" /><Relationship Type="http://schemas.openxmlformats.org/officeDocument/2006/relationships/slideLayout" Target="/ppt/slideLayouts/slideLayout3.xml" Id="R6e4867002aa2400a" /><Relationship Type="http://schemas.openxmlformats.org/officeDocument/2006/relationships/slideLayout" Target="/ppt/slideLayouts/slideLayout4.xml" Id="R2d338433a8c34b7d" /><Relationship Type="http://schemas.openxmlformats.org/officeDocument/2006/relationships/slideLayout" Target="/ppt/slideLayouts/slideLayout5.xml" Id="Rfcd410a2c2f4478f" /><Relationship Type="http://schemas.openxmlformats.org/officeDocument/2006/relationships/slideLayout" Target="/ppt/slideLayouts/slideLayout6.xml" Id="Rdae95c12b39c4353" /><Relationship Type="http://schemas.openxmlformats.org/officeDocument/2006/relationships/slideLayout" Target="/ppt/slideLayouts/slideLayout7.xml" Id="R569749af6f214203" /><Relationship Type="http://schemas.openxmlformats.org/officeDocument/2006/relationships/slideLayout" Target="/ppt/slideLayouts/slideLayout8.xml" Id="R070b2b886cae47fc" /><Relationship Type="http://schemas.openxmlformats.org/officeDocument/2006/relationships/slideLayout" Target="/ppt/slideLayouts/slideLayout9.xml" Id="R15d9806ff0cd42ec" /><Relationship Type="http://schemas.openxmlformats.org/officeDocument/2006/relationships/slideLayout" Target="/ppt/slideLayouts/slideLayout10.xml" Id="R63edd2860c7f47b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89addae13e4ca9"/>
    <p:sldLayoutId xmlns:r="http://schemas.openxmlformats.org/officeDocument/2006/relationships" id="2147483650" r:id="Rf966b2e6c93145f5"/>
    <p:sldLayoutId xmlns:r="http://schemas.openxmlformats.org/officeDocument/2006/relationships" id="2147483651" r:id="R6e4867002aa2400a"/>
    <p:sldLayoutId xmlns:r="http://schemas.openxmlformats.org/officeDocument/2006/relationships" id="2147483652" r:id="R2d338433a8c34b7d"/>
    <p:sldLayoutId xmlns:r="http://schemas.openxmlformats.org/officeDocument/2006/relationships" id="2147483653" r:id="Rfcd410a2c2f4478f"/>
    <p:sldLayoutId xmlns:r="http://schemas.openxmlformats.org/officeDocument/2006/relationships" id="2147483654" r:id="Rdae95c12b39c4353"/>
    <p:sldLayoutId xmlns:r="http://schemas.openxmlformats.org/officeDocument/2006/relationships" id="2147483655" r:id="R569749af6f214203"/>
    <p:sldLayoutId xmlns:r="http://schemas.openxmlformats.org/officeDocument/2006/relationships" id="2147483656" r:id="R070b2b886cae47fc"/>
    <p:sldLayoutId xmlns:r="http://schemas.openxmlformats.org/officeDocument/2006/relationships" id="2147483657" r:id="R15d9806ff0cd42ec"/>
    <p:sldLayoutId xmlns:r="http://schemas.openxmlformats.org/officeDocument/2006/relationships" id="2147483658" r:id="R63edd2860c7f47b6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Microsoft YaHei"/>
        <a:cs typeface=""/>
      </a:majorFont>
      <a:minorFont>
        <a:latin typeface="Inter"/>
        <a:ea typeface="Microsoft YaHei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e1e42a3c0410d" /><Relationship Type="http://schemas.openxmlformats.org/officeDocument/2006/relationships/image" Target="/ppt/media/image3.png" Id="R35629b123db54d2e" /><Relationship Type="http://schemas.openxmlformats.org/officeDocument/2006/relationships/notesSlide" Target="/ppt/notesSlides/notesSlide1.xml" Id="R57255d6e8fa24f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3d0444a0a874ff7" /><Relationship Type="http://schemas.openxmlformats.org/officeDocument/2006/relationships/notesSlide" Target="/ppt/notesSlides/notesSlide2.xml" Id="R116faa9401a148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56f22ee585475d" /><Relationship Type="http://schemas.openxmlformats.org/officeDocument/2006/relationships/notesSlide" Target="/ppt/notesSlides/notesSlide3.xml" Id="R6b551a45c13740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dbfef18ddd846d2" /><Relationship Type="http://schemas.openxmlformats.org/officeDocument/2006/relationships/notesSlide" Target="/ppt/notesSlides/notesSlide4.xml" Id="R11a1bc4f4a6541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e5d147f890f4f90" /><Relationship Type="http://schemas.openxmlformats.org/officeDocument/2006/relationships/notesSlide" Target="/ppt/notesSlides/notesSlide5.xml" Id="R092e9b22b43b46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6fd77445e74ae7" /><Relationship Type="http://schemas.openxmlformats.org/officeDocument/2006/relationships/notesSlide" Target="/ppt/notesSlides/notesSlide6.xml" Id="Rdc7e988950b14b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d3004d0b4045d1" /><Relationship Type="http://schemas.openxmlformats.org/officeDocument/2006/relationships/notesSlide" Target="/ppt/notesSlides/notesSlide7.xml" Id="R16c4810da5d746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351766a36344e4" /><Relationship Type="http://schemas.openxmlformats.org/officeDocument/2006/relationships/notesSlide" Target="/ppt/notesSlides/notesSlide8.xml" Id="Ra6f0310750b241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dbb7a916f95444b" /><Relationship Type="http://schemas.openxmlformats.org/officeDocument/2006/relationships/notesSlide" Target="/ppt/notesSlides/notesSlide9.xml" Id="R51e4f98d168b44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64" y="628650"/>
            <a:ext cx="10934700" cy="2047875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725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4725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医生服务系统</a:t>
            </a:r>
          </a:p>
          <a:p xmlns:a="http://schemas.openxmlformats.org/drawingml/2006/main">
            <a:pPr>
              <a:buNone/>
              <a:defRPr sz="4725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4725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需求分析与架构设计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52" y="3133725"/>
            <a:ext cx="10572750" cy="6667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>
                <a:solidFill>
                  <a:srgbClr val="142C38"/>
                </a:solidFill>
                <a:latin typeface="Inter"/>
                <a:ea typeface="Inter"/>
                <a:cs typeface="Inter"/>
              </a:rPr>
              <a:t>智慧医养大数据公共服务平台</a:t>
            </a:r>
          </a:p>
        </p:txBody>
      </p:sp>
      <p:sp>
        <p:nvSpPr>
          <p:cNvPr id="6" name="content-1">
            <a:extLst xmlns:a="http://schemas.openxmlformats.org/drawingml/2006/main">
              <a:ext uri="{FF2B5EF4-FFF2-40B4-BE49-F238E27FC236}">
                <a16:creationId xmlns:a16="http://schemas.microsoft.com/office/drawing/2014/main" id="{9100FD7A-A133-4D14-A0BD-DB664FA7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52" y="39719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D607A"/>
                </a:solidFill>
                <a:latin typeface="Inter"/>
                <a:ea typeface="Inter"/>
                <a:cs typeface="Inter"/>
              </a:rPr>
              <a:t>Windows 桌面客户端  中英双语</a:t>
            </a: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29b123db54d2e"/>
          <a:srcRect xmlns:a="http://schemas.openxmlformats.org/drawingml/2006/main" l="0" t="24229" r="0" b="242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57"/>
            <a:ext cx="12192000" cy="20946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AF07D16B-BE65-4740-8127-E9DD6454482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  <a:endParaRPr/>
          </a:p>
        </p:txBody>
      </p:sp>
      <p:sp>
        <p:nvSpPr>
          <p:cNvPr id="557" name="Title Reused">
            <a:extLst xmlns:a="http://schemas.openxmlformats.org/drawingml/2006/main">
              <a:ext uri="{FF2B5EF4-FFF2-40B4-BE49-F238E27FC236}">
                <a16:creationId xmlns:a16="http://schemas.microsoft.com/office/drawing/2014/main" id="{91034618-B812-4088-8401-5746353B66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29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医生端在整个平台中的位置</a:t>
            </a:r>
            <a:endParaRPr/>
          </a:p>
        </p:txBody>
      </p:sp>
      <p:sp>
        <p:nvSpPr>
          <p:cNvPr id="558" name="node-2">
            <a:extLst xmlns:a="http://schemas.openxmlformats.org/drawingml/2006/main">
              <a:ext uri="{FF2B5EF4-FFF2-40B4-BE49-F238E27FC236}">
                <a16:creationId xmlns:a16="http://schemas.microsoft.com/office/drawing/2014/main" id="{71759F13-AE78-4AF1-9B65-6D14CD97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361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个人端</a:t>
            </a:r>
          </a:p>
        </p:txBody>
      </p:sp>
      <p:sp>
        <p:nvSpPr>
          <p:cNvPr id="559" name="content-3">
            <a:extLst xmlns:a="http://schemas.openxmlformats.org/drawingml/2006/main">
              <a:ext uri="{FF2B5EF4-FFF2-40B4-BE49-F238E27FC236}">
                <a16:creationId xmlns:a16="http://schemas.microsoft.com/office/drawing/2014/main" id="{832F3665-5AC8-4630-A435-8569919C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52700"/>
            <a:ext cx="3543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授权档案、上传监测数据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发起问诊、接收提醒</a:t>
            </a:r>
          </a:p>
        </p:txBody>
      </p:sp>
      <p:sp>
        <p:nvSpPr>
          <p:cNvPr id="560" name="node-4">
            <a:extLst xmlns:a="http://schemas.openxmlformats.org/drawingml/2006/main">
              <a:ext uri="{FF2B5EF4-FFF2-40B4-BE49-F238E27FC236}">
                <a16:creationId xmlns:a16="http://schemas.microsoft.com/office/drawing/2014/main" id="{82F6B9C4-79DB-4646-A2D3-7E5C1AE4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361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07A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Windows 医生桌面端</a:t>
            </a:r>
          </a:p>
        </p:txBody>
      </p:sp>
      <p:sp>
        <p:nvSpPr>
          <p:cNvPr id="561" name="content-5">
            <a:extLst xmlns:a="http://schemas.openxmlformats.org/drawingml/2006/main">
              <a:ext uri="{FF2B5EF4-FFF2-40B4-BE49-F238E27FC236}">
                <a16:creationId xmlns:a16="http://schemas.microsoft.com/office/drawing/2014/main" id="{7F1C2D95-9CC1-4CE6-8FA8-1DCE31CA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52700"/>
            <a:ext cx="3543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安装后独立运行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支持中文与英文切换</a:t>
            </a:r>
          </a:p>
        </p:txBody>
      </p:sp>
      <p:sp>
        <p:nvSpPr>
          <p:cNvPr id="562" name="node-6">
            <a:extLst xmlns:a="http://schemas.openxmlformats.org/drawingml/2006/main">
              <a:ext uri="{FF2B5EF4-FFF2-40B4-BE49-F238E27FC236}">
                <a16:creationId xmlns:a16="http://schemas.microsoft.com/office/drawing/2014/main" id="{62C8F69B-1162-49F8-9BFD-ACCB05B1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33550"/>
            <a:ext cx="361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云端管理后台</a:t>
            </a:r>
          </a:p>
        </p:txBody>
      </p:sp>
      <p:sp>
        <p:nvSpPr>
          <p:cNvPr id="563" name="content-7">
            <a:extLst xmlns:a="http://schemas.openxmlformats.org/drawingml/2006/main">
              <a:ext uri="{FF2B5EF4-FFF2-40B4-BE49-F238E27FC236}">
                <a16:creationId xmlns:a16="http://schemas.microsoft.com/office/drawing/2014/main" id="{20A658FC-F342-4364-8B17-79D1FC1F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3543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角色与规则配置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内容审核、运营监管</a:t>
            </a:r>
          </a:p>
        </p:txBody>
      </p:sp>
      <p:sp>
        <p:nvSpPr>
          <p:cNvPr id="564" name="node-8">
            <a:extLst xmlns:a="http://schemas.openxmlformats.org/drawingml/2006/main">
              <a:ext uri="{FF2B5EF4-FFF2-40B4-BE49-F238E27FC236}">
                <a16:creationId xmlns:a16="http://schemas.microsoft.com/office/drawing/2014/main" id="{53243370-7BF7-4658-8FDA-49DE2BFD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11391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42C38"/>
                </a:solidFill>
                <a:latin typeface="Inter"/>
                <a:ea typeface="Inter"/>
                <a:cs typeface="Inter"/>
              </a:rPr>
              <a:t>共享中台</a:t>
            </a:r>
          </a:p>
        </p:txBody>
      </p:sp>
      <p:sp>
        <p:nvSpPr>
          <p:cNvPr id="565" name="line-9">
            <a:extLst xmlns:a="http://schemas.openxmlformats.org/drawingml/2006/main">
              <a:ext uri="{FF2B5EF4-FFF2-40B4-BE49-F238E27FC236}">
                <a16:creationId xmlns:a16="http://schemas.microsoft.com/office/drawing/2014/main" id="{3F4B8C40-B8A2-42EC-B14A-104D7643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8140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6" name="line-10">
            <a:extLst xmlns:a="http://schemas.openxmlformats.org/drawingml/2006/main">
              <a:ext uri="{FF2B5EF4-FFF2-40B4-BE49-F238E27FC236}">
                <a16:creationId xmlns:a16="http://schemas.microsoft.com/office/drawing/2014/main" id="{09B49888-F045-4308-AF80-7D079AF9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7" name="line-11">
            <a:extLst xmlns:a="http://schemas.openxmlformats.org/drawingml/2006/main">
              <a:ext uri="{FF2B5EF4-FFF2-40B4-BE49-F238E27FC236}">
                <a16:creationId xmlns:a16="http://schemas.microsoft.com/office/drawing/2014/main" id="{6F1442A6-D063-4841-89E1-781DECB0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81400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8" name="line-12">
            <a:extLst xmlns:a="http://schemas.openxmlformats.org/drawingml/2006/main">
              <a:ext uri="{FF2B5EF4-FFF2-40B4-BE49-F238E27FC236}">
                <a16:creationId xmlns:a16="http://schemas.microsoft.com/office/drawing/2014/main" id="{1991E8F5-8C16-4D73-80FF-35E96E93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29075"/>
            <a:ext cx="777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9" name="line-13">
            <a:extLst xmlns:a="http://schemas.openxmlformats.org/drawingml/2006/main">
              <a:ext uri="{FF2B5EF4-FFF2-40B4-BE49-F238E27FC236}">
                <a16:creationId xmlns:a16="http://schemas.microsoft.com/office/drawing/2014/main" id="{8A3037BC-A889-46C6-A0AC-56F783FC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290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0" name="content-14">
            <a:extLst xmlns:a="http://schemas.openxmlformats.org/drawingml/2006/main">
              <a:ext uri="{FF2B5EF4-FFF2-40B4-BE49-F238E27FC236}">
                <a16:creationId xmlns:a16="http://schemas.microsoft.com/office/drawing/2014/main" id="{3EA5CE30-E6CA-4F55-BE3B-877D0A8F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775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身份权限、健康数据、业务服务、消息审计、统计</a:t>
            </a:r>
          </a:p>
        </p:txBody>
      </p:sp>
      <p:sp>
        <p:nvSpPr>
          <p:cNvPr id="571" name="content-15">
            <a:extLst xmlns:a="http://schemas.openxmlformats.org/drawingml/2006/main">
              <a:ext uri="{FF2B5EF4-FFF2-40B4-BE49-F238E27FC236}">
                <a16:creationId xmlns:a16="http://schemas.microsoft.com/office/drawing/2014/main" id="{067B0E0C-7AB7-4B00-9C62-2A29FB04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388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语言切换即时生效并在重启后保留；其他系统通过约定接口对接</a:t>
            </a:r>
          </a:p>
        </p:txBody>
      </p:sp>
    </p:spTree>
    <p:extLst>
      <p:ext uri="{BB962C8B-B14F-4D97-AF65-F5344CB8AC3E}">
        <p14:creationId xmlns:p14="http://schemas.microsoft.com/office/powerpoint/2010/main" val="14133009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928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0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fld id="{202359C0-8A7A-196E-DD58-8E6569619F09}" type="slidenum">
              <a:rPr sz="1100">
                <a:solidFill>
                  <a:srgbClr val="546B77"/>
                </a:solidFill>
                <a:latin typeface="Inter"/>
                <a:ea typeface="Inter"/>
                <a:cs typeface="Inter"/>
              </a:rPr>
              <a:t>3</a:t>
            </a:fld>
            <a:endParaRPr/>
          </a:p>
        </p:txBody>
      </p:sp>
      <p:sp>
        <p:nvSpPr>
          <p:cNvPr id="3" name="Title Reused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9048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29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客户需求对应六组核心能力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mlns:a="http://schemas.openxmlformats.org/drawingml/2006/main" x="400050" y="1819275"/>
          <a:ext xmlns:a="http://schemas.openxmlformats.org/drawingml/2006/main" cx="113919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82015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D607A"/>
                          </a:solidFill>
                          <a:latin typeface="Inter"/>
                          <a:ea typeface="Inter"/>
                          <a:cs typeface="Inter"/>
                        </a:rPr>
                        <a:t>患者管理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38"/>
                          </a:solidFill>
                          <a:latin typeface="Inter"/>
                          <a:ea typeface="Inter"/>
                          <a:cs typeface="Inter"/>
                        </a:rPr>
                        <a:t>多条件检索、编辑健康档案、按病种或状态分组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D607A"/>
                          </a:solidFill>
                          <a:latin typeface="Inter"/>
                          <a:ea typeface="Inter"/>
                          <a:cs typeface="Inter"/>
                        </a:rPr>
                        <a:t>在线问诊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38"/>
                          </a:solidFill>
                          <a:latin typeface="Inter"/>
                          <a:ea typeface="Inter"/>
                          <a:cs typeface="Inter"/>
                        </a:rPr>
                        <a:t>接收申请，图文或视频问诊，支持录制与记录导出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D607A"/>
                          </a:solidFill>
                          <a:latin typeface="Inter"/>
                          <a:ea typeface="Inter"/>
                          <a:cs typeface="Inter"/>
                        </a:rPr>
                        <a:t>病历与医嘱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38"/>
                          </a:solidFill>
                          <a:latin typeface="Inter"/>
                          <a:ea typeface="Inter"/>
                          <a:cs typeface="Inter"/>
                        </a:rPr>
                        <a:t>结构化病历，上级审核归档，开立、修改和停止医嘱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D607A"/>
                          </a:solidFill>
                          <a:latin typeface="Inter"/>
                          <a:ea typeface="Inter"/>
                          <a:cs typeface="Inter"/>
                        </a:rPr>
                        <a:t>远程会诊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38"/>
                          </a:solidFill>
                          <a:latin typeface="Inter"/>
                          <a:ea typeface="Inter"/>
                          <a:cs typeface="Inter"/>
                        </a:rPr>
                        <a:t>发起或受邀，上传资料，多专家讨论，生成报告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D607A"/>
                          </a:solidFill>
                          <a:latin typeface="Inter"/>
                          <a:ea typeface="Inter"/>
                          <a:cs typeface="Inter"/>
                        </a:rPr>
                        <a:t>健康管理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38"/>
                          </a:solidFill>
                          <a:latin typeface="Inter"/>
                          <a:ea typeface="Inter"/>
                          <a:cs typeface="Inter"/>
                        </a:rPr>
                        <a:t>个性化计划，监测数据，自动提醒，定期评估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D607A"/>
                          </a:solidFill>
                          <a:latin typeface="Inter"/>
                          <a:ea typeface="Inter"/>
                          <a:cs typeface="Inter"/>
                        </a:rPr>
                        <a:t>账号与审计</a:t>
                      </a:r>
                    </a:p>
                  </a:txBody>
                  <a:tcPr marL="91440" marR="91440" marT="45720" marB="45720" anchor="ctr"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C38"/>
                          </a:solidFill>
                          <a:latin typeface="Inter"/>
                          <a:ea typeface="Inter"/>
                          <a:cs typeface="Inter"/>
                        </a:rPr>
                        <a:t>多因素登录，岗位与临时权限，操作留痕和审计查询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16">
            <a:extLst xmlns:a="http://schemas.openxmlformats.org/drawingml/2006/main">
              <a:ext uri="{FF2B5EF4-FFF2-40B4-BE49-F238E27FC236}">
                <a16:creationId xmlns:a16="http://schemas.microsoft.com/office/drawing/2014/main" id="{03FB9FEE-FD40-48AC-8052-E825A18B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239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能力模块</a:t>
            </a:r>
          </a:p>
        </p:txBody>
      </p:sp>
      <p:sp>
        <p:nvSpPr>
          <p:cNvPr id="8" name="content-17">
            <a:extLst xmlns:a="http://schemas.openxmlformats.org/drawingml/2006/main">
              <a:ext uri="{FF2B5EF4-FFF2-40B4-BE49-F238E27FC236}">
                <a16:creationId xmlns:a16="http://schemas.microsoft.com/office/drawing/2014/main" id="{81FB768E-098B-4498-816E-B1C30F58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医生需要完成的操作</a:t>
            </a:r>
          </a:p>
        </p:txBody>
      </p:sp>
      <p:sp>
        <p:nvSpPr>
          <p:cNvPr id="9" name="content-18">
            <a:extLst xmlns:a="http://schemas.openxmlformats.org/drawingml/2006/main">
              <a:ext uri="{FF2B5EF4-FFF2-40B4-BE49-F238E27FC236}">
                <a16:creationId xmlns:a16="http://schemas.microsoft.com/office/drawing/2014/main" id="{EE79469A-4EE8-4D73-B084-6874B830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388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同行社交属于可选扩展，可关闭</a:t>
            </a:r>
          </a:p>
        </p:txBody>
      </p:sp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928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0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fld id="{EFD6AB9A-5F9E-5F59-51AB-3C8734130965}" type="slidenum">
              <a:rPr sz="1100">
                <a:solidFill>
                  <a:srgbClr val="546B77"/>
                </a:solidFill>
                <a:latin typeface="Inter"/>
                <a:ea typeface="Inter"/>
                <a:cs typeface="Inter"/>
              </a:rPr>
              <a:t>4</a:t>
            </a:fld>
            <a:endParaRPr sz="1100"/>
          </a:p>
        </p:txBody>
      </p:sp>
      <p:sp>
        <p:nvSpPr>
          <p:cNvPr id="11" name="Title Reused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9048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29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一次问诊与病历审核的实现逻辑</a:t>
            </a:r>
          </a:p>
        </p:txBody>
      </p:sp>
      <p:sp>
        <p:nvSpPr>
          <p:cNvPr id="12" name="content-19">
            <a:extLst xmlns:a="http://schemas.openxmlformats.org/drawingml/2006/main">
              <a:ext uri="{FF2B5EF4-FFF2-40B4-BE49-F238E27FC236}">
                <a16:creationId xmlns:a16="http://schemas.microsoft.com/office/drawing/2014/main" id="{8EC8FA4B-F3DE-4E56-89E5-38605CE4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患者发起</a:t>
            </a:r>
          </a:p>
        </p:txBody>
      </p:sp>
      <p:sp>
        <p:nvSpPr>
          <p:cNvPr id="13" name="node-20">
            <a:extLst xmlns:a="http://schemas.openxmlformats.org/drawingml/2006/main">
              <a:ext uri="{FF2B5EF4-FFF2-40B4-BE49-F238E27FC236}">
                <a16:creationId xmlns:a16="http://schemas.microsoft.com/office/drawing/2014/main" id="{77B079F4-3CA4-4F16-9811-96F3EDD2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38275"/>
            <a:ext cx="2152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待接诊</a:t>
            </a:r>
          </a:p>
        </p:txBody>
      </p:sp>
      <p:sp>
        <p:nvSpPr>
          <p:cNvPr id="14" name="node-21">
            <a:extLst xmlns:a="http://schemas.openxmlformats.org/drawingml/2006/main">
              <a:ext uri="{FF2B5EF4-FFF2-40B4-BE49-F238E27FC236}">
                <a16:creationId xmlns:a16="http://schemas.microsoft.com/office/drawing/2014/main" id="{747B6301-AE2B-4594-B661-7A11FEBD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438275"/>
            <a:ext cx="2152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问诊中</a:t>
            </a:r>
          </a:p>
        </p:txBody>
      </p:sp>
      <p:sp>
        <p:nvSpPr>
          <p:cNvPr id="15" name="node-22">
            <a:extLst xmlns:a="http://schemas.openxmlformats.org/drawingml/2006/main">
              <a:ext uri="{FF2B5EF4-FFF2-40B4-BE49-F238E27FC236}">
                <a16:creationId xmlns:a16="http://schemas.microsoft.com/office/drawing/2014/main" id="{13483490-85D3-42D2-B666-E808EB74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438275"/>
            <a:ext cx="21526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已结束</a:t>
            </a:r>
          </a:p>
        </p:txBody>
      </p:sp>
      <p:cxnSp>
        <p:nvCxnSpPr>
          <p:cNvPr id="67" name="直接箭头连接符 43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43450" y="17621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cxnSp>
        <p:nvCxnSpPr>
          <p:cNvPr id="68" name="直接箭头连接符 44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77225" y="1762125"/>
            <a:ext cx="1362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sp>
        <p:nvSpPr>
          <p:cNvPr id="18" name="content-23">
            <a:extLst xmlns:a="http://schemas.openxmlformats.org/drawingml/2006/main">
              <a:ext uri="{FF2B5EF4-FFF2-40B4-BE49-F238E27FC236}">
                <a16:creationId xmlns:a16="http://schemas.microsoft.com/office/drawing/2014/main" id="{450FC95F-EBD4-40F8-802C-68E5DD46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143000"/>
            <a:ext cx="1438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医生接诊</a:t>
            </a:r>
          </a:p>
        </p:txBody>
      </p:sp>
      <p:sp>
        <p:nvSpPr>
          <p:cNvPr id="19" name="content-24">
            <a:extLst xmlns:a="http://schemas.openxmlformats.org/drawingml/2006/main">
              <a:ext uri="{FF2B5EF4-FFF2-40B4-BE49-F238E27FC236}">
                <a16:creationId xmlns:a16="http://schemas.microsoft.com/office/drawing/2014/main" id="{C16A762F-043A-477E-9BA5-97D00A07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143000"/>
            <a:ext cx="1323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自动保存</a:t>
            </a:r>
          </a:p>
        </p:txBody>
      </p:sp>
      <p:sp>
        <p:nvSpPr>
          <p:cNvPr id="20" name="content-25">
            <a:extLst xmlns:a="http://schemas.openxmlformats.org/drawingml/2006/main">
              <a:ext uri="{FF2B5EF4-FFF2-40B4-BE49-F238E27FC236}">
                <a16:creationId xmlns:a16="http://schemas.microsoft.com/office/drawing/2014/main" id="{C371A1DF-0CF6-4B9F-9121-97A2FEC4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17170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图文 / 视频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录音录像按规则启用</a:t>
            </a:r>
          </a:p>
        </p:txBody>
      </p:sp>
      <p:sp>
        <p:nvSpPr>
          <p:cNvPr id="21" name="content-26">
            <a:extLst xmlns:a="http://schemas.openxmlformats.org/drawingml/2006/main">
              <a:ext uri="{FF2B5EF4-FFF2-40B4-BE49-F238E27FC236}">
                <a16:creationId xmlns:a16="http://schemas.microsoft.com/office/drawing/2014/main" id="{550C2D95-EF67-437D-B7AE-33C2E35D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950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结构化病历</a:t>
            </a:r>
          </a:p>
        </p:txBody>
      </p:sp>
      <p:sp>
        <p:nvSpPr>
          <p:cNvPr id="22" name="node-27">
            <a:extLst xmlns:a="http://schemas.openxmlformats.org/drawingml/2006/main">
              <a:ext uri="{FF2B5EF4-FFF2-40B4-BE49-F238E27FC236}">
                <a16:creationId xmlns:a16="http://schemas.microsoft.com/office/drawing/2014/main" id="{66926D54-E56F-47B4-BA6F-DEF5B78F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48025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草稿</a:t>
            </a:r>
          </a:p>
        </p:txBody>
      </p:sp>
      <p:sp>
        <p:nvSpPr>
          <p:cNvPr id="23" name="node-28">
            <a:extLst xmlns:a="http://schemas.openxmlformats.org/drawingml/2006/main">
              <a:ext uri="{FF2B5EF4-FFF2-40B4-BE49-F238E27FC236}">
                <a16:creationId xmlns:a16="http://schemas.microsoft.com/office/drawing/2014/main" id="{00AAC0EA-B148-4A8E-9C68-358FB689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48025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提交审核</a:t>
            </a:r>
          </a:p>
        </p:txBody>
      </p:sp>
      <p:sp>
        <p:nvSpPr>
          <p:cNvPr id="24" name="node-29">
            <a:extLst xmlns:a="http://schemas.openxmlformats.org/drawingml/2006/main">
              <a:ext uri="{FF2B5EF4-FFF2-40B4-BE49-F238E27FC236}">
                <a16:creationId xmlns:a16="http://schemas.microsoft.com/office/drawing/2014/main" id="{51FB5D5F-584A-4BB0-A2BC-F27A4EDB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48025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上级审核</a:t>
            </a:r>
          </a:p>
        </p:txBody>
      </p:sp>
      <p:sp>
        <p:nvSpPr>
          <p:cNvPr id="25" name="node-30">
            <a:extLst xmlns:a="http://schemas.openxmlformats.org/drawingml/2006/main">
              <a:ext uri="{FF2B5EF4-FFF2-40B4-BE49-F238E27FC236}">
                <a16:creationId xmlns:a16="http://schemas.microsoft.com/office/drawing/2014/main" id="{CA4E7107-1321-4A60-B4DC-90EE686C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48025"/>
            <a:ext cx="1943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07A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已归档</a:t>
            </a:r>
          </a:p>
        </p:txBody>
      </p:sp>
      <p:cxnSp>
        <p:nvCxnSpPr>
          <p:cNvPr id="77" name="直接箭头连接符 53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543425" y="36004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cxnSp>
        <p:nvCxnSpPr>
          <p:cNvPr id="78" name="直接箭头连接符 54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962775" y="36004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cxnSp>
        <p:nvCxnSpPr>
          <p:cNvPr id="79" name="直接箭头连接符 55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382125" y="36004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sp>
        <p:nvSpPr>
          <p:cNvPr id="29" name="line-31">
            <a:extLst xmlns:a="http://schemas.openxmlformats.org/drawingml/2006/main">
              <a:ext uri="{FF2B5EF4-FFF2-40B4-BE49-F238E27FC236}">
                <a16:creationId xmlns:a16="http://schemas.microsoft.com/office/drawing/2014/main" id="{6F1338EA-CDEE-4D44-A814-A956A6BA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952875"/>
            <a:ext cx="0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line-32">
            <a:extLst xmlns:a="http://schemas.openxmlformats.org/drawingml/2006/main">
              <a:ext uri="{FF2B5EF4-FFF2-40B4-BE49-F238E27FC236}">
                <a16:creationId xmlns:a16="http://schemas.microsoft.com/office/drawing/2014/main" id="{1740F02F-9E9F-4D8D-AFD6-DE3F73D0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400550"/>
            <a:ext cx="483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content-33">
            <a:extLst xmlns:a="http://schemas.openxmlformats.org/drawingml/2006/main">
              <a:ext uri="{FF2B5EF4-FFF2-40B4-BE49-F238E27FC236}">
                <a16:creationId xmlns:a16="http://schemas.microsoft.com/office/drawing/2014/main" id="{9DE373F4-803E-44CC-85FB-203546CA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910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83" name="连接符: 肘形 59"/>
          <p:cNvCxnSpPr>
            <a:stCxn xmlns:a="http://schemas.openxmlformats.org/drawingml/2006/main" id="31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H="1" flipV="1">
            <a:off x="3567113" y="3952875"/>
            <a:ext cx="4763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sp>
        <p:nvSpPr>
          <p:cNvPr id="33" name="content-34">
            <a:extLst xmlns:a="http://schemas.openxmlformats.org/drawingml/2006/main">
              <a:ext uri="{FF2B5EF4-FFF2-40B4-BE49-F238E27FC236}">
                <a16:creationId xmlns:a16="http://schemas.microsoft.com/office/drawing/2014/main" id="{4277BB05-838F-49B4-BF97-A65B7B8A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46722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A46039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A46039"/>
                </a:solidFill>
                <a:latin typeface="Inter"/>
                <a:ea typeface="Inter"/>
                <a:cs typeface="Inter"/>
              </a:rPr>
              <a:t>退回修改</a:t>
            </a:r>
          </a:p>
        </p:txBody>
      </p:sp>
      <p:sp>
        <p:nvSpPr>
          <p:cNvPr id="34" name="content-35">
            <a:extLst xmlns:a="http://schemas.openxmlformats.org/drawingml/2006/main">
              <a:ext uri="{FF2B5EF4-FFF2-40B4-BE49-F238E27FC236}">
                <a16:creationId xmlns:a16="http://schemas.microsoft.com/office/drawing/2014/main" id="{CB63C083-61F7-46CD-A4DE-F14830C3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医嘱独立管理</a:t>
            </a:r>
          </a:p>
        </p:txBody>
      </p:sp>
      <p:sp>
        <p:nvSpPr>
          <p:cNvPr id="35" name="content-36">
            <a:extLst xmlns:a="http://schemas.openxmlformats.org/drawingml/2006/main">
              <a:ext uri="{FF2B5EF4-FFF2-40B4-BE49-F238E27FC236}">
                <a16:creationId xmlns:a16="http://schemas.microsoft.com/office/drawing/2014/main" id="{C20CCA8B-1497-48DA-9EA8-9B822AA8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81575"/>
            <a:ext cx="920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开立、修改、停止均留存版本</a:t>
            </a:r>
          </a:p>
        </p:txBody>
      </p:sp>
      <p:sp>
        <p:nvSpPr>
          <p:cNvPr id="36" name="content-37">
            <a:extLst xmlns:a="http://schemas.openxmlformats.org/drawingml/2006/main">
              <a:ext uri="{FF2B5EF4-FFF2-40B4-BE49-F238E27FC236}">
                <a16:creationId xmlns:a16="http://schemas.microsoft.com/office/drawing/2014/main" id="{56CB740A-DF84-4554-A16E-D6DC0551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388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设计规则：结束问诊后继续补全病历，归档须审核通过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928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0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fld id="{EE5B3003-2C54-13C6-9832-7637201064DE}" type="slidenum">
              <a:rPr sz="1100">
                <a:solidFill>
                  <a:srgbClr val="546B77"/>
                </a:solidFill>
                <a:latin typeface="Inter"/>
                <a:ea typeface="Inter"/>
                <a:cs typeface="Inter"/>
              </a:rPr>
              <a:t>5</a:t>
            </a:fld>
            <a:endParaRPr sz="1100"/>
          </a:p>
        </p:txBody>
      </p:sp>
      <p:sp>
        <p:nvSpPr>
          <p:cNvPr id="11" name="Title Reused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9048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29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会诊与健康管理延续医生服务</a:t>
            </a:r>
          </a:p>
        </p:txBody>
      </p:sp>
      <p:sp>
        <p:nvSpPr>
          <p:cNvPr id="12" name="content-38">
            <a:extLst xmlns:a="http://schemas.openxmlformats.org/drawingml/2006/main">
              <a:ext uri="{FF2B5EF4-FFF2-40B4-BE49-F238E27FC236}">
                <a16:creationId xmlns:a16="http://schemas.microsoft.com/office/drawing/2014/main" id="{74B47331-706A-407C-958B-8AA1D74C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远程会诊</a:t>
            </a:r>
          </a:p>
        </p:txBody>
      </p:sp>
      <p:sp>
        <p:nvSpPr>
          <p:cNvPr id="13" name="node-39">
            <a:extLst xmlns:a="http://schemas.openxmlformats.org/drawingml/2006/main">
              <a:ext uri="{FF2B5EF4-FFF2-40B4-BE49-F238E27FC236}">
                <a16:creationId xmlns:a16="http://schemas.microsoft.com/office/drawing/2014/main" id="{FFC9B8C7-2FC2-4A85-9AA5-7E727213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76375"/>
            <a:ext cx="21240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申请 / 邀请</a:t>
            </a:r>
          </a:p>
        </p:txBody>
      </p:sp>
      <p:sp>
        <p:nvSpPr>
          <p:cNvPr id="14" name="node-40">
            <a:extLst xmlns:a="http://schemas.openxmlformats.org/drawingml/2006/main">
              <a:ext uri="{FF2B5EF4-FFF2-40B4-BE49-F238E27FC236}">
                <a16:creationId xmlns:a16="http://schemas.microsoft.com/office/drawing/2014/main" id="{F3CD5A06-34B9-420B-A441-5A672240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76375"/>
            <a:ext cx="21240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范围授权</a:t>
            </a:r>
          </a:p>
        </p:txBody>
      </p:sp>
      <p:sp>
        <p:nvSpPr>
          <p:cNvPr id="15" name="node-41">
            <a:extLst xmlns:a="http://schemas.openxmlformats.org/drawingml/2006/main">
              <a:ext uri="{FF2B5EF4-FFF2-40B4-BE49-F238E27FC236}">
                <a16:creationId xmlns:a16="http://schemas.microsoft.com/office/drawing/2014/main" id="{89136F95-D092-4207-8F9D-F317A057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76375"/>
            <a:ext cx="21240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专家讨论</a:t>
            </a:r>
          </a:p>
        </p:txBody>
      </p:sp>
      <p:sp>
        <p:nvSpPr>
          <p:cNvPr id="16" name="node-42">
            <a:extLst xmlns:a="http://schemas.openxmlformats.org/drawingml/2006/main">
              <a:ext uri="{FF2B5EF4-FFF2-40B4-BE49-F238E27FC236}">
                <a16:creationId xmlns:a16="http://schemas.microsoft.com/office/drawing/2014/main" id="{4CF84353-022F-4FF2-8757-C959BB12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476375"/>
            <a:ext cx="21240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确认报告</a:t>
            </a:r>
          </a:p>
        </p:txBody>
      </p:sp>
      <p:cxnSp>
        <p:nvCxnSpPr>
          <p:cNvPr id="66" name="直接箭头连接符 42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91075" y="18002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cxnSp>
        <p:nvCxnSpPr>
          <p:cNvPr id="67" name="直接箭头连接符 43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124700" y="18002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cxnSp>
        <p:nvCxnSpPr>
          <p:cNvPr id="68" name="直接箭头连接符 44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458325" y="18002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sp>
        <p:nvSpPr>
          <p:cNvPr id="20" name="content-43">
            <a:extLst xmlns:a="http://schemas.openxmlformats.org/drawingml/2006/main">
              <a:ext uri="{FF2B5EF4-FFF2-40B4-BE49-F238E27FC236}">
                <a16:creationId xmlns:a16="http://schemas.microsoft.com/office/drawing/2014/main" id="{9A51996F-DC24-4A5F-A02D-074094F1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24100"/>
            <a:ext cx="9124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上传病历与影像，汇总讨论意见形成报告草稿</a:t>
            </a:r>
          </a:p>
        </p:txBody>
      </p:sp>
      <p:sp>
        <p:nvSpPr>
          <p:cNvPr id="21" name="content-44">
            <a:extLst xmlns:a="http://schemas.openxmlformats.org/drawingml/2006/main">
              <a:ext uri="{FF2B5EF4-FFF2-40B4-BE49-F238E27FC236}">
                <a16:creationId xmlns:a16="http://schemas.microsoft.com/office/drawing/2014/main" id="{161D0ACF-F88A-400D-BCF9-6902E035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健康管理</a:t>
            </a:r>
          </a:p>
        </p:txBody>
      </p:sp>
      <p:sp>
        <p:nvSpPr>
          <p:cNvPr id="22" name="node-45">
            <a:extLst xmlns:a="http://schemas.openxmlformats.org/drawingml/2006/main">
              <a:ext uri="{FF2B5EF4-FFF2-40B4-BE49-F238E27FC236}">
                <a16:creationId xmlns:a16="http://schemas.microsoft.com/office/drawing/2014/main" id="{9CED2D9C-07E4-43E9-9769-B6FC2533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19500"/>
            <a:ext cx="21240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制定计划</a:t>
            </a:r>
          </a:p>
        </p:txBody>
      </p:sp>
      <p:sp>
        <p:nvSpPr>
          <p:cNvPr id="23" name="node-46">
            <a:extLst xmlns:a="http://schemas.openxmlformats.org/drawingml/2006/main">
              <a:ext uri="{FF2B5EF4-FFF2-40B4-BE49-F238E27FC236}">
                <a16:creationId xmlns:a16="http://schemas.microsoft.com/office/drawing/2014/main" id="{C72A1154-547F-4673-A5C4-B7396878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619500"/>
            <a:ext cx="21240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接收数据</a:t>
            </a:r>
          </a:p>
        </p:txBody>
      </p:sp>
      <p:sp>
        <p:nvSpPr>
          <p:cNvPr id="24" name="node-47">
            <a:extLst xmlns:a="http://schemas.openxmlformats.org/drawingml/2006/main">
              <a:ext uri="{FF2B5EF4-FFF2-40B4-BE49-F238E27FC236}">
                <a16:creationId xmlns:a16="http://schemas.microsoft.com/office/drawing/2014/main" id="{A8E85841-AC52-481B-B592-4B84EC26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21240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提醒患者</a:t>
            </a:r>
          </a:p>
        </p:txBody>
      </p:sp>
      <p:sp>
        <p:nvSpPr>
          <p:cNvPr id="25" name="node-48">
            <a:extLst xmlns:a="http://schemas.openxmlformats.org/drawingml/2006/main">
              <a:ext uri="{FF2B5EF4-FFF2-40B4-BE49-F238E27FC236}">
                <a16:creationId xmlns:a16="http://schemas.microsoft.com/office/drawing/2014/main" id="{55452177-5BD7-4F9C-BA4B-A4FE5C72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19500"/>
            <a:ext cx="21240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评估调整</a:t>
            </a:r>
          </a:p>
        </p:txBody>
      </p:sp>
      <p:cxnSp>
        <p:nvCxnSpPr>
          <p:cNvPr id="75" name="直接箭头连接符 51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791075" y="39433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cxnSp>
        <p:nvCxnSpPr>
          <p:cNvPr id="76" name="直接箭头连接符 52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124700" y="39433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cxnSp>
        <p:nvCxnSpPr>
          <p:cNvPr id="77" name="直接箭头连接符 53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458325" y="39433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sp>
        <p:nvSpPr>
          <p:cNvPr id="29" name="line-49">
            <a:extLst xmlns:a="http://schemas.openxmlformats.org/drawingml/2006/main">
              <a:ext uri="{FF2B5EF4-FFF2-40B4-BE49-F238E27FC236}">
                <a16:creationId xmlns:a16="http://schemas.microsoft.com/office/drawing/2014/main" id="{C2067627-65E7-4803-A540-758480B3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67200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line-50">
            <a:extLst xmlns:a="http://schemas.openxmlformats.org/drawingml/2006/main">
              <a:ext uri="{FF2B5EF4-FFF2-40B4-BE49-F238E27FC236}">
                <a16:creationId xmlns:a16="http://schemas.microsoft.com/office/drawing/2014/main" id="{8A0222F4-3E4B-4368-A2E8-2083B518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619625"/>
            <a:ext cx="700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content-51">
            <a:extLst xmlns:a="http://schemas.openxmlformats.org/drawingml/2006/main">
              <a:ext uri="{FF2B5EF4-FFF2-40B4-BE49-F238E27FC236}">
                <a16:creationId xmlns:a16="http://schemas.microsoft.com/office/drawing/2014/main" id="{4292CC48-6AB5-414F-ABEC-27163902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10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cxnSp>
        <p:nvCxnSpPr>
          <p:cNvPr id="81" name="连接符: 肘形 57"/>
          <p:cNvCxnSpPr>
            <a:stCxn xmlns:a="http://schemas.openxmlformats.org/drawingml/2006/main" id="31" idx="0"/>
            <a:endCxn xmlns:a="http://schemas.openxmlformats.org/drawingml/2006/main" id="22" idx="2"/>
          </p:cNvCxnSpPr>
          <p:nvPr/>
        </p:nvCxnSpPr>
        <p:spPr>
          <a:xfrm xmlns:a="http://schemas.openxmlformats.org/drawingml/2006/main" flipV="1">
            <a:off x="3724275" y="4267200"/>
            <a:ext cx="4763" cy="342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sp>
        <p:nvSpPr>
          <p:cNvPr id="33" name="content-52">
            <a:extLst xmlns:a="http://schemas.openxmlformats.org/drawingml/2006/main">
              <a:ext uri="{FF2B5EF4-FFF2-40B4-BE49-F238E27FC236}">
                <a16:creationId xmlns:a16="http://schemas.microsoft.com/office/drawing/2014/main" id="{9BF4E5BD-D264-4BD3-8A76-4BE5F4D5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29175"/>
            <a:ext cx="91249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血压、血糖等数据经校验后展示，提醒任务失败可重试</a:t>
            </a:r>
          </a:p>
        </p:txBody>
      </p:sp>
      <p:sp>
        <p:nvSpPr>
          <p:cNvPr id="34" name="content-53">
            <a:extLst xmlns:a="http://schemas.openxmlformats.org/drawingml/2006/main">
              <a:ext uri="{FF2B5EF4-FFF2-40B4-BE49-F238E27FC236}">
                <a16:creationId xmlns:a16="http://schemas.microsoft.com/office/drawing/2014/main" id="{D9FA6D4B-2FBF-450C-B6D6-D7267F96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388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设计规则：报告由医生确认，评估结果用于调整下一轮计划</a:t>
            </a: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D911AFA-A941-75BF-FE8A-5289E197747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  <a:endParaRPr/>
          </a:p>
        </p:txBody>
      </p:sp>
      <p:sp>
        <p:nvSpPr>
          <p:cNvPr id="533" name="Title Reused">
            <a:extLst xmlns:a="http://schemas.openxmlformats.org/drawingml/2006/main">
              <a:ext uri="{FF2B5EF4-FFF2-40B4-BE49-F238E27FC236}">
                <a16:creationId xmlns:a16="http://schemas.microsoft.com/office/drawing/2014/main" id="{4C055269-43CF-5537-A1B0-DC932A8FB1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29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Windows 桌面端与内嵌业务服务</a:t>
            </a:r>
            <a:endParaRPr/>
          </a:p>
        </p:txBody>
      </p:sp>
      <p:sp>
        <p:nvSpPr>
          <p:cNvPr id="534" name="node-54">
            <a:extLst xmlns:a="http://schemas.openxmlformats.org/drawingml/2006/main">
              <a:ext uri="{FF2B5EF4-FFF2-40B4-BE49-F238E27FC236}">
                <a16:creationId xmlns:a16="http://schemas.microsoft.com/office/drawing/2014/main" id="{314ADA3F-7D23-447B-9C60-EF8CE630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4143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07A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React 桌面渲染界面</a:t>
            </a:r>
          </a:p>
        </p:txBody>
      </p:sp>
      <p:sp>
        <p:nvSpPr>
          <p:cNvPr id="535" name="node-55">
            <a:extLst xmlns:a="http://schemas.openxmlformats.org/drawingml/2006/main">
              <a:ext uri="{FF2B5EF4-FFF2-40B4-BE49-F238E27FC236}">
                <a16:creationId xmlns:a16="http://schemas.microsoft.com/office/drawing/2014/main" id="{3D2B4E7D-752C-41A1-B528-91348D6E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371600"/>
            <a:ext cx="4152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Electron 主进程</a:t>
            </a:r>
          </a:p>
        </p:txBody>
      </p:sp>
      <p:sp>
        <p:nvSpPr>
          <p:cNvPr id="536" name="node-56">
            <a:extLst xmlns:a="http://schemas.openxmlformats.org/drawingml/2006/main">
              <a:ext uri="{FF2B5EF4-FFF2-40B4-BE49-F238E27FC236}">
                <a16:creationId xmlns:a16="http://schemas.microsoft.com/office/drawing/2014/main" id="{9321DF4A-84FD-4220-BA99-4621CC38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853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carelink://app/api/v1 私有协议</a:t>
            </a:r>
          </a:p>
        </p:txBody>
      </p:sp>
      <p:cxnSp>
        <p:nvCxnSpPr>
          <p:cNvPr id="583" name="连接符: 肘形 575"/>
          <p:cNvCxnSpPr>
            <a:stCxn xmlns:a="http://schemas.openxmlformats.org/drawingml/2006/main" id="534" idx="2"/>
            <a:endCxn xmlns:a="http://schemas.openxmlformats.org/drawingml/2006/main" id="536" idx="0"/>
          </p:cNvCxnSpPr>
          <p:nvPr/>
        </p:nvCxnSpPr>
        <p:spPr>
          <a:xfrm xmlns:a="http://schemas.openxmlformats.org/drawingml/2006/main">
            <a:off x="2471738" y="1905000"/>
            <a:ext cx="2195513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cxnSp>
        <p:nvCxnSpPr>
          <p:cNvPr id="584" name="连接符: 肘形 576"/>
          <p:cNvCxnSpPr>
            <a:stCxn xmlns:a="http://schemas.openxmlformats.org/drawingml/2006/main" id="535" idx="2"/>
            <a:endCxn xmlns:a="http://schemas.openxmlformats.org/drawingml/2006/main" id="536" idx="0"/>
          </p:cNvCxnSpPr>
          <p:nvPr/>
        </p:nvCxnSpPr>
        <p:spPr>
          <a:xfrm xmlns:a="http://schemas.openxmlformats.org/drawingml/2006/main" flipH="1">
            <a:off x="4667250" y="1905000"/>
            <a:ext cx="2190750" cy="333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D607A"/>
            </a:solidFill>
            <a:tailEnd type="arrow" w="med" len="med"/>
          </a:ln>
        </p:spPr>
      </p:cxnSp>
      <p:sp>
        <p:nvSpPr>
          <p:cNvPr id="539" name="content-57">
            <a:extLst xmlns:a="http://schemas.openxmlformats.org/drawingml/2006/main">
              <a:ext uri="{FF2B5EF4-FFF2-40B4-BE49-F238E27FC236}">
                <a16:creationId xmlns:a16="http://schemas.microsoft.com/office/drawing/2014/main" id="{29B32F6E-7216-4047-B910-BFA7B005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Fastify 通过 app.inject 处理请求，不监听 HTTP 端口</a:t>
            </a:r>
          </a:p>
        </p:txBody>
      </p:sp>
      <p:sp>
        <p:nvSpPr>
          <p:cNvPr id="540" name="content-58">
            <a:extLst xmlns:a="http://schemas.openxmlformats.org/drawingml/2006/main">
              <a:ext uri="{FF2B5EF4-FFF2-40B4-BE49-F238E27FC236}">
                <a16:creationId xmlns:a16="http://schemas.microsoft.com/office/drawing/2014/main" id="{C63355D9-42E4-4A0E-98E9-7166F2C9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853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独立业务模块，当前提供合成数据只读视图</a:t>
            </a:r>
          </a:p>
        </p:txBody>
      </p:sp>
      <p:sp>
        <p:nvSpPr>
          <p:cNvPr id="541" name="node-59">
            <a:extLst xmlns:a="http://schemas.openxmlformats.org/drawingml/2006/main">
              <a:ext uri="{FF2B5EF4-FFF2-40B4-BE49-F238E27FC236}">
                <a16:creationId xmlns:a16="http://schemas.microsoft.com/office/drawing/2014/main" id="{2D37EA87-2BE2-4C88-88F0-B70C73BF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19907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患者与健康</a:t>
            </a:r>
          </a:p>
        </p:txBody>
      </p:sp>
      <p:sp>
        <p:nvSpPr>
          <p:cNvPr id="542" name="node-60">
            <a:extLst xmlns:a="http://schemas.openxmlformats.org/drawingml/2006/main">
              <a:ext uri="{FF2B5EF4-FFF2-40B4-BE49-F238E27FC236}">
                <a16:creationId xmlns:a16="http://schemas.microsoft.com/office/drawing/2014/main" id="{9C42B9A2-8ED9-43C4-BC73-7E27E4A8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657600"/>
            <a:ext cx="19907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问诊与会诊</a:t>
            </a:r>
          </a:p>
        </p:txBody>
      </p:sp>
      <p:sp>
        <p:nvSpPr>
          <p:cNvPr id="543" name="node-61">
            <a:extLst xmlns:a="http://schemas.openxmlformats.org/drawingml/2006/main">
              <a:ext uri="{FF2B5EF4-FFF2-40B4-BE49-F238E27FC236}">
                <a16:creationId xmlns:a16="http://schemas.microsoft.com/office/drawing/2014/main" id="{F7E88954-04F6-4630-9F44-B2FA4FF8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7600"/>
            <a:ext cx="19907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病历与医嘱</a:t>
            </a:r>
          </a:p>
        </p:txBody>
      </p:sp>
      <p:sp>
        <p:nvSpPr>
          <p:cNvPr id="544" name="node-62">
            <a:extLst xmlns:a="http://schemas.openxmlformats.org/drawingml/2006/main">
              <a:ext uri="{FF2B5EF4-FFF2-40B4-BE49-F238E27FC236}">
                <a16:creationId xmlns:a16="http://schemas.microsoft.com/office/drawing/2014/main" id="{75291FBF-0B57-4A34-8C6B-01D8F0D6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657600"/>
            <a:ext cx="19907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身份与审计</a:t>
            </a:r>
          </a:p>
        </p:txBody>
      </p:sp>
      <p:sp>
        <p:nvSpPr>
          <p:cNvPr id="545" name="line-63">
            <a:extLst xmlns:a="http://schemas.openxmlformats.org/drawingml/2006/main">
              <a:ext uri="{FF2B5EF4-FFF2-40B4-BE49-F238E27FC236}">
                <a16:creationId xmlns:a16="http://schemas.microsoft.com/office/drawing/2014/main" id="{63421884-F76C-4ABB-AACE-7DA18B85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9814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6" name="line-64">
            <a:extLst xmlns:a="http://schemas.openxmlformats.org/drawingml/2006/main">
              <a:ext uri="{FF2B5EF4-FFF2-40B4-BE49-F238E27FC236}">
                <a16:creationId xmlns:a16="http://schemas.microsoft.com/office/drawing/2014/main" id="{29163190-5F58-483F-BCE0-402B2217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7" name="line-65">
            <a:extLst xmlns:a="http://schemas.openxmlformats.org/drawingml/2006/main">
              <a:ext uri="{FF2B5EF4-FFF2-40B4-BE49-F238E27FC236}">
                <a16:creationId xmlns:a16="http://schemas.microsoft.com/office/drawing/2014/main" id="{0577D826-DE74-45A9-8F5F-10945BAE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9814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8" name="line-66">
            <a:extLst xmlns:a="http://schemas.openxmlformats.org/drawingml/2006/main">
              <a:ext uri="{FF2B5EF4-FFF2-40B4-BE49-F238E27FC236}">
                <a16:creationId xmlns:a16="http://schemas.microsoft.com/office/drawing/2014/main" id="{778E0946-CA6D-4286-954D-3CF8F0F7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9" name="line-67">
            <a:extLst xmlns:a="http://schemas.openxmlformats.org/drawingml/2006/main">
              <a:ext uri="{FF2B5EF4-FFF2-40B4-BE49-F238E27FC236}">
                <a16:creationId xmlns:a16="http://schemas.microsoft.com/office/drawing/2014/main" id="{A996C74F-94E3-408F-BB2B-4A053BC7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81400"/>
            <a:ext cx="6543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0" name="line-68">
            <a:extLst xmlns:a="http://schemas.openxmlformats.org/drawingml/2006/main">
              <a:ext uri="{FF2B5EF4-FFF2-40B4-BE49-F238E27FC236}">
                <a16:creationId xmlns:a16="http://schemas.microsoft.com/office/drawing/2014/main" id="{BF8AB9D3-404E-4B17-8200-0574A2FB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81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1" name="line-69">
            <a:extLst xmlns:a="http://schemas.openxmlformats.org/drawingml/2006/main">
              <a:ext uri="{FF2B5EF4-FFF2-40B4-BE49-F238E27FC236}">
                <a16:creationId xmlns:a16="http://schemas.microsoft.com/office/drawing/2014/main" id="{99394E9A-F1DC-4ECA-BB3B-7B28A847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81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2" name="line-70">
            <a:extLst xmlns:a="http://schemas.openxmlformats.org/drawingml/2006/main">
              <a:ext uri="{FF2B5EF4-FFF2-40B4-BE49-F238E27FC236}">
                <a16:creationId xmlns:a16="http://schemas.microsoft.com/office/drawing/2014/main" id="{DF6274D8-A7DA-42AD-8153-C45842E3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81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3" name="line-71">
            <a:extLst xmlns:a="http://schemas.openxmlformats.org/drawingml/2006/main">
              <a:ext uri="{FF2B5EF4-FFF2-40B4-BE49-F238E27FC236}">
                <a16:creationId xmlns:a16="http://schemas.microsoft.com/office/drawing/2014/main" id="{F1AFE1D1-C32F-409A-AE33-3776E0DE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814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4" name="node-72">
            <a:extLst xmlns:a="http://schemas.openxmlformats.org/drawingml/2006/main">
              <a:ext uri="{FF2B5EF4-FFF2-40B4-BE49-F238E27FC236}">
                <a16:creationId xmlns:a16="http://schemas.microsoft.com/office/drawing/2014/main" id="{A21C57F6-FD50-4489-983F-29745DD5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本地 SQLite 数据库</a:t>
            </a:r>
          </a:p>
        </p:txBody>
      </p:sp>
      <p:sp>
        <p:nvSpPr>
          <p:cNvPr id="555" name="content-73">
            <a:extLst xmlns:a="http://schemas.openxmlformats.org/drawingml/2006/main">
              <a:ext uri="{FF2B5EF4-FFF2-40B4-BE49-F238E27FC236}">
                <a16:creationId xmlns:a16="http://schemas.microsoft.com/office/drawing/2014/main" id="{0A6E8A95-9F19-4C97-8DEA-812023E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39115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userData/data/doctor.sqlite</a:t>
            </a:r>
          </a:p>
        </p:txBody>
      </p:sp>
      <p:sp>
        <p:nvSpPr>
          <p:cNvPr id="556" name="node-74">
            <a:extLst xmlns:a="http://schemas.openxmlformats.org/drawingml/2006/main">
              <a:ext uri="{FF2B5EF4-FFF2-40B4-BE49-F238E27FC236}">
                <a16:creationId xmlns:a16="http://schemas.microsoft.com/office/drawing/2014/main" id="{A410A075-3583-4DEA-92CC-F14A01B6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625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对象存储（预留）</a:t>
            </a:r>
          </a:p>
        </p:txBody>
      </p:sp>
      <p:sp>
        <p:nvSpPr>
          <p:cNvPr id="557" name="content-75">
            <a:extLst xmlns:a="http://schemas.openxmlformats.org/drawingml/2006/main">
              <a:ext uri="{FF2B5EF4-FFF2-40B4-BE49-F238E27FC236}">
                <a16:creationId xmlns:a16="http://schemas.microsoft.com/office/drawing/2014/main" id="{257C2714-6331-4B79-8D9E-906785AB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39115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影像、附件、录制</a:t>
            </a:r>
          </a:p>
        </p:txBody>
      </p:sp>
      <p:sp>
        <p:nvSpPr>
          <p:cNvPr id="558" name="node-76">
            <a:extLst xmlns:a="http://schemas.openxmlformats.org/drawingml/2006/main">
              <a:ext uri="{FF2B5EF4-FFF2-40B4-BE49-F238E27FC236}">
                <a16:creationId xmlns:a16="http://schemas.microsoft.com/office/drawing/2014/main" id="{2BB2BC71-C115-4BAA-9602-C5B12A4B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任务与工作进程（预留）</a:t>
            </a:r>
          </a:p>
        </p:txBody>
      </p:sp>
      <p:sp>
        <p:nvSpPr>
          <p:cNvPr id="559" name="content-77">
            <a:extLst xmlns:a="http://schemas.openxmlformats.org/drawingml/2006/main">
              <a:ext uri="{FF2B5EF4-FFF2-40B4-BE49-F238E27FC236}">
                <a16:creationId xmlns:a16="http://schemas.microsoft.com/office/drawing/2014/main" id="{363E33B8-5D3E-4C48-A26E-2A78FBB0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9115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消息、导出、失败重试</a:t>
            </a:r>
          </a:p>
        </p:txBody>
      </p:sp>
      <p:sp>
        <p:nvSpPr>
          <p:cNvPr id="560" name="line-78">
            <a:extLst xmlns:a="http://schemas.openxmlformats.org/drawingml/2006/main">
              <a:ext uri="{FF2B5EF4-FFF2-40B4-BE49-F238E27FC236}">
                <a16:creationId xmlns:a16="http://schemas.microsoft.com/office/drawing/2014/main" id="{63B122B9-115D-44FD-93E1-E99BE678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05300"/>
            <a:ext cx="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1" name="line-79">
            <a:extLst xmlns:a="http://schemas.openxmlformats.org/drawingml/2006/main">
              <a:ext uri="{FF2B5EF4-FFF2-40B4-BE49-F238E27FC236}">
                <a16:creationId xmlns:a16="http://schemas.microsoft.com/office/drawing/2014/main" id="{595CF58A-0471-4EBC-879C-223EE11E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43425"/>
            <a:ext cx="579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2" name="line-80">
            <a:extLst xmlns:a="http://schemas.openxmlformats.org/drawingml/2006/main">
              <a:ext uri="{FF2B5EF4-FFF2-40B4-BE49-F238E27FC236}">
                <a16:creationId xmlns:a16="http://schemas.microsoft.com/office/drawing/2014/main" id="{393EE5A0-9F15-4950-831E-42609FA7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54342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3" name="line-81">
            <a:extLst xmlns:a="http://schemas.openxmlformats.org/drawingml/2006/main">
              <a:ext uri="{FF2B5EF4-FFF2-40B4-BE49-F238E27FC236}">
                <a16:creationId xmlns:a16="http://schemas.microsoft.com/office/drawing/2014/main" id="{D6FD6D7A-4370-4653-9929-C0D5E9F9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4342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4" name="line-82">
            <a:extLst xmlns:a="http://schemas.openxmlformats.org/drawingml/2006/main">
              <a:ext uri="{FF2B5EF4-FFF2-40B4-BE49-F238E27FC236}">
                <a16:creationId xmlns:a16="http://schemas.microsoft.com/office/drawing/2014/main" id="{6A1D9765-2AB6-4660-A85C-7AE2806A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43425"/>
            <a:ext cx="0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5" name="node-83">
            <a:extLst xmlns:a="http://schemas.openxmlformats.org/drawingml/2006/main">
              <a:ext uri="{FF2B5EF4-FFF2-40B4-BE49-F238E27FC236}">
                <a16:creationId xmlns:a16="http://schemas.microsoft.com/office/drawing/2014/main" id="{0D248E11-15A6-4934-84B2-15BA313E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238375"/>
            <a:ext cx="24669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外部接口（预留）</a:t>
            </a:r>
          </a:p>
        </p:txBody>
      </p:sp>
      <p:sp>
        <p:nvSpPr>
          <p:cNvPr id="566" name="line-84">
            <a:extLst xmlns:a="http://schemas.openxmlformats.org/drawingml/2006/main">
              <a:ext uri="{FF2B5EF4-FFF2-40B4-BE49-F238E27FC236}">
                <a16:creationId xmlns:a16="http://schemas.microsoft.com/office/drawing/2014/main" id="{781F1FCD-83FE-496E-9E20-CBA92AE9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86025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7" name="content-85">
            <a:extLst xmlns:a="http://schemas.openxmlformats.org/drawingml/2006/main">
              <a:ext uri="{FF2B5EF4-FFF2-40B4-BE49-F238E27FC236}">
                <a16:creationId xmlns:a16="http://schemas.microsoft.com/office/drawing/2014/main" id="{5B637D00-8B6B-4A7B-B4F4-EBAE3606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19450"/>
            <a:ext cx="233362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身份 / 医院 / 设备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音视频 / 录制 / 消息</a:t>
            </a:r>
          </a:p>
        </p:txBody>
      </p:sp>
      <p:sp>
        <p:nvSpPr>
          <p:cNvPr id="568" name="content-86">
            <a:extLst xmlns:a="http://schemas.openxmlformats.org/drawingml/2006/main">
              <a:ext uri="{FF2B5EF4-FFF2-40B4-BE49-F238E27FC236}">
                <a16:creationId xmlns:a16="http://schemas.microsoft.com/office/drawing/2014/main" id="{27D27A9C-D7CF-4208-9E35-6FE385AA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83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2D607A"/>
                </a:solidFill>
                <a:latin typeface="Inter"/>
                <a:ea typeface="Inter"/>
                <a:cs typeface="Inter"/>
              </a:rPr>
              <a:t>一个桌面应用，各模块独立维护接口和双语文案；临床写入功能尚未上线</a:t>
            </a:r>
          </a:p>
        </p:txBody>
      </p:sp>
      <p:sp>
        <p:nvSpPr>
          <p:cNvPr id="569" name="content-87">
            <a:extLst xmlns:a="http://schemas.openxmlformats.org/drawingml/2006/main">
              <a:ext uri="{FF2B5EF4-FFF2-40B4-BE49-F238E27FC236}">
                <a16:creationId xmlns:a16="http://schemas.microsoft.com/office/drawing/2014/main" id="{593BFA8A-11FC-4498-9BE8-FA2BCD9E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57162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桌面框架 v0.2</a:t>
            </a:r>
          </a:p>
        </p:txBody>
      </p:sp>
    </p:spTree>
    <p:extLst>
      <p:ext uri="{BB962C8B-B14F-4D97-AF65-F5344CB8AC3E}">
        <p14:creationId xmlns:p14="http://schemas.microsoft.com/office/powerpoint/2010/main" val="36573192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7</a:t>
            </a:fld>
            <a:endParaRPr/>
          </a:p>
        </p:txBody>
      </p:sp>
      <p:sp>
        <p:nvSpPr>
          <p:cNvPr id="533" name="Title Reused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29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权限校验覆盖每一次数据访问</a:t>
            </a:r>
            <a:endParaRPr/>
          </a:p>
        </p:txBody>
      </p:sp>
      <p:sp>
        <p:nvSpPr>
          <p:cNvPr id="534" name="node-88">
            <a:extLst xmlns:a="http://schemas.openxmlformats.org/drawingml/2006/main">
              <a:ext uri="{FF2B5EF4-FFF2-40B4-BE49-F238E27FC236}">
                <a16:creationId xmlns:a16="http://schemas.microsoft.com/office/drawing/2014/main" id="{FE993DD9-49B9-43F2-8B8B-87E1CC10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495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角色允许</a:t>
            </a:r>
          </a:p>
        </p:txBody>
      </p:sp>
      <p:sp>
        <p:nvSpPr>
          <p:cNvPr id="535" name="node-89">
            <a:extLst xmlns:a="http://schemas.openxmlformats.org/drawingml/2006/main">
              <a:ext uri="{FF2B5EF4-FFF2-40B4-BE49-F238E27FC236}">
                <a16:creationId xmlns:a16="http://schemas.microsoft.com/office/drawing/2014/main" id="{9C799D2B-C353-4516-9729-59CC7756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562100"/>
            <a:ext cx="2495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患者授权</a:t>
            </a:r>
          </a:p>
        </p:txBody>
      </p:sp>
      <p:sp>
        <p:nvSpPr>
          <p:cNvPr id="536" name="node-90">
            <a:extLst xmlns:a="http://schemas.openxmlformats.org/drawingml/2006/main">
              <a:ext uri="{FF2B5EF4-FFF2-40B4-BE49-F238E27FC236}">
                <a16:creationId xmlns:a16="http://schemas.microsoft.com/office/drawing/2014/main" id="{9E99E342-56E5-43F8-BF43-A7888095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62100"/>
            <a:ext cx="24955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任务有效</a:t>
            </a:r>
          </a:p>
        </p:txBody>
      </p:sp>
      <p:sp>
        <p:nvSpPr>
          <p:cNvPr id="537" name="node-91">
            <a:extLst xmlns:a="http://schemas.openxmlformats.org/drawingml/2006/main">
              <a:ext uri="{FF2B5EF4-FFF2-40B4-BE49-F238E27FC236}">
                <a16:creationId xmlns:a16="http://schemas.microsoft.com/office/drawing/2014/main" id="{E955194D-B831-475C-8A1F-AC21EDF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62100"/>
            <a:ext cx="22669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07A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允许访问</a:t>
            </a:r>
          </a:p>
        </p:txBody>
      </p:sp>
      <p:sp>
        <p:nvSpPr>
          <p:cNvPr id="538" name="content-92">
            <a:extLst xmlns:a="http://schemas.openxmlformats.org/drawingml/2006/main">
              <a:ext uri="{FF2B5EF4-FFF2-40B4-BE49-F238E27FC236}">
                <a16:creationId xmlns:a16="http://schemas.microsoft.com/office/drawing/2014/main" id="{59BAE316-1104-403E-88BF-5B2E2926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14500"/>
            <a:ext cx="409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D607A"/>
                </a:solidFill>
                <a:latin typeface="Inter"/>
                <a:ea typeface="Inter"/>
                <a:cs typeface="Inter"/>
              </a:rPr>
              <a:t>且</a:t>
            </a:r>
          </a:p>
        </p:txBody>
      </p:sp>
      <p:sp>
        <p:nvSpPr>
          <p:cNvPr id="539" name="content-93">
            <a:extLst xmlns:a="http://schemas.openxmlformats.org/drawingml/2006/main">
              <a:ext uri="{FF2B5EF4-FFF2-40B4-BE49-F238E27FC236}">
                <a16:creationId xmlns:a16="http://schemas.microsoft.com/office/drawing/2014/main" id="{EA599E21-89AA-4C08-B11C-AA305000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714500"/>
            <a:ext cx="409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D607A"/>
                </a:solidFill>
                <a:latin typeface="Inter"/>
                <a:ea typeface="Inter"/>
                <a:cs typeface="Inter"/>
              </a:rPr>
              <a:t>且</a:t>
            </a:r>
          </a:p>
        </p:txBody>
      </p:sp>
      <p:sp>
        <p:nvSpPr>
          <p:cNvPr id="540" name="content-94">
            <a:extLst xmlns:a="http://schemas.openxmlformats.org/drawingml/2006/main">
              <a:ext uri="{FF2B5EF4-FFF2-40B4-BE49-F238E27FC236}">
                <a16:creationId xmlns:a16="http://schemas.microsoft.com/office/drawing/2014/main" id="{C9432DFF-A70F-4BDE-B8B5-95F8C52D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14500"/>
            <a:ext cx="819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2D607A"/>
                </a:solidFill>
                <a:latin typeface="Inter"/>
                <a:ea typeface="Inter"/>
                <a:cs typeface="Inter"/>
              </a:rPr>
              <a:t>=</a:t>
            </a:r>
          </a:p>
        </p:txBody>
      </p:sp>
      <p:sp>
        <p:nvSpPr>
          <p:cNvPr id="541" name="content-95">
            <a:extLst xmlns:a="http://schemas.openxmlformats.org/drawingml/2006/main">
              <a:ext uri="{FF2B5EF4-FFF2-40B4-BE49-F238E27FC236}">
                <a16:creationId xmlns:a16="http://schemas.microsoft.com/office/drawing/2014/main" id="{2B3B77F9-6FF8-44F5-ABEB-FFFFF669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1391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临时会诊权限还需满足任务有效条件</a:t>
            </a:r>
          </a:p>
        </p:txBody>
      </p:sp>
      <p:sp>
        <p:nvSpPr>
          <p:cNvPr id="542" name="content-96">
            <a:extLst xmlns:a="http://schemas.openxmlformats.org/drawingml/2006/main">
              <a:ext uri="{FF2B5EF4-FFF2-40B4-BE49-F238E27FC236}">
                <a16:creationId xmlns:a16="http://schemas.microsoft.com/office/drawing/2014/main" id="{12B26B50-78E8-4291-9217-8FDA0EBE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4191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会诊结束 / 到期 / 主动撤回</a:t>
            </a:r>
          </a:p>
        </p:txBody>
      </p:sp>
      <p:sp>
        <p:nvSpPr>
          <p:cNvPr id="543" name="content-97">
            <a:extLst xmlns:a="http://schemas.openxmlformats.org/drawingml/2006/main">
              <a:ext uri="{FF2B5EF4-FFF2-40B4-BE49-F238E27FC236}">
                <a16:creationId xmlns:a16="http://schemas.microsoft.com/office/drawing/2014/main" id="{44A7D57E-C73F-44E1-8FF4-A3D73852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76600"/>
            <a:ext cx="689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下一次请求立即拒绝，文件与导出同样受控</a:t>
            </a:r>
          </a:p>
        </p:txBody>
      </p:sp>
      <p:sp>
        <p:nvSpPr>
          <p:cNvPr id="544" name="content-98">
            <a:extLst xmlns:a="http://schemas.openxmlformats.org/drawingml/2006/main">
              <a:ext uri="{FF2B5EF4-FFF2-40B4-BE49-F238E27FC236}">
                <a16:creationId xmlns:a16="http://schemas.microsoft.com/office/drawing/2014/main" id="{FA3E4834-F731-4860-A58B-B1627C4F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62475"/>
            <a:ext cx="4457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医生自查自己的记录</a:t>
            </a:r>
          </a:p>
        </p:txBody>
      </p:sp>
      <p:sp>
        <p:nvSpPr>
          <p:cNvPr id="545" name="content-99">
            <a:extLst xmlns:a="http://schemas.openxmlformats.org/drawingml/2006/main">
              <a:ext uri="{FF2B5EF4-FFF2-40B4-BE49-F238E27FC236}">
                <a16:creationId xmlns:a16="http://schemas.microsoft.com/office/drawing/2014/main" id="{798A68BC-1338-4B26-895A-9E930310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62475"/>
            <a:ext cx="653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管理员按授权查看平台审计</a:t>
            </a:r>
          </a:p>
        </p:txBody>
      </p:sp>
      <p:sp>
        <p:nvSpPr>
          <p:cNvPr id="546" name="content-100">
            <a:extLst xmlns:a="http://schemas.openxmlformats.org/drawingml/2006/main">
              <a:ext uri="{FF2B5EF4-FFF2-40B4-BE49-F238E27FC236}">
                <a16:creationId xmlns:a16="http://schemas.microsoft.com/office/drawing/2014/main" id="{080F5A7B-FD4E-4451-B43D-ACD9AC3D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33975"/>
            <a:ext cx="11391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日志记录人员、时间、对象、动作和结果</a:t>
            </a:r>
          </a:p>
        </p:txBody>
      </p:sp>
      <p:sp>
        <p:nvSpPr>
          <p:cNvPr id="547" name="content-101">
            <a:extLst xmlns:a="http://schemas.openxmlformats.org/drawingml/2006/main">
              <a:ext uri="{FF2B5EF4-FFF2-40B4-BE49-F238E27FC236}">
                <a16:creationId xmlns:a16="http://schemas.microsoft.com/office/drawing/2014/main" id="{8997A04C-EEF7-46B4-A886-F8C5879E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38825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设计措施：加密传输与存储、敏感字段脱敏、系统异常监控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8</a:t>
            </a:fld>
            <a:endParaRPr/>
          </a:p>
        </p:txBody>
      </p:sp>
      <p:sp>
        <p:nvSpPr>
          <p:cNvPr id="533" name="Title Reused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29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患者标识串联业务记录与版本</a:t>
            </a:r>
            <a:endParaRPr/>
          </a:p>
        </p:txBody>
      </p:sp>
      <p:sp>
        <p:nvSpPr>
          <p:cNvPr id="534" name="node-102">
            <a:extLst xmlns:a="http://schemas.openxmlformats.org/drawingml/2006/main">
              <a:ext uri="{FF2B5EF4-FFF2-40B4-BE49-F238E27FC236}">
                <a16:creationId xmlns:a16="http://schemas.microsoft.com/office/drawing/2014/main" id="{0269AD84-5ED1-407E-A2D9-831DAB81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205740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07A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1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患者</a:t>
            </a:r>
          </a:p>
        </p:txBody>
      </p:sp>
      <p:sp>
        <p:nvSpPr>
          <p:cNvPr id="535" name="content-103">
            <a:extLst xmlns:a="http://schemas.openxmlformats.org/drawingml/2006/main">
              <a:ext uri="{FF2B5EF4-FFF2-40B4-BE49-F238E27FC236}">
                <a16:creationId xmlns:a16="http://schemas.microsoft.com/office/drawing/2014/main" id="{9364F11B-1C1D-41C6-AD1E-572919C2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600450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patient_id</a:t>
            </a:r>
          </a:p>
        </p:txBody>
      </p:sp>
      <p:sp>
        <p:nvSpPr>
          <p:cNvPr id="536" name="node-104">
            <a:extLst xmlns:a="http://schemas.openxmlformats.org/drawingml/2006/main">
              <a:ext uri="{FF2B5EF4-FFF2-40B4-BE49-F238E27FC236}">
                <a16:creationId xmlns:a16="http://schemas.microsoft.com/office/drawing/2014/main" id="{E24D4AC8-2A3E-4716-BBA9-22EFABB2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19250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诊疗服务记录</a:t>
            </a:r>
          </a:p>
        </p:txBody>
      </p:sp>
      <p:sp>
        <p:nvSpPr>
          <p:cNvPr id="537" name="content-105">
            <a:extLst xmlns:a="http://schemas.openxmlformats.org/drawingml/2006/main">
              <a:ext uri="{FF2B5EF4-FFF2-40B4-BE49-F238E27FC236}">
                <a16:creationId xmlns:a16="http://schemas.microsoft.com/office/drawing/2014/main" id="{F6D3BD9B-FA1E-454E-8C75-972ED0B8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447925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encounter_id</a:t>
            </a:r>
          </a:p>
        </p:txBody>
      </p:sp>
      <p:sp>
        <p:nvSpPr>
          <p:cNvPr id="538" name="node-106">
            <a:extLst xmlns:a="http://schemas.openxmlformats.org/drawingml/2006/main">
              <a:ext uri="{FF2B5EF4-FFF2-40B4-BE49-F238E27FC236}">
                <a16:creationId xmlns:a16="http://schemas.microsoft.com/office/drawing/2014/main" id="{A7AF18F4-97A7-4F45-B31A-95A3D803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362075"/>
            <a:ext cx="3752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病历版本 / 医嘱版本</a:t>
            </a:r>
          </a:p>
        </p:txBody>
      </p:sp>
      <p:sp>
        <p:nvSpPr>
          <p:cNvPr id="539" name="node-107">
            <a:extLst xmlns:a="http://schemas.openxmlformats.org/drawingml/2006/main">
              <a:ext uri="{FF2B5EF4-FFF2-40B4-BE49-F238E27FC236}">
                <a16:creationId xmlns:a16="http://schemas.microsoft.com/office/drawing/2014/main" id="{63F67DEA-B9AF-43E4-A660-5D127605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3752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会诊资料 / 会诊报告</a:t>
            </a:r>
          </a:p>
        </p:txBody>
      </p:sp>
      <p:sp>
        <p:nvSpPr>
          <p:cNvPr id="540" name="line-108">
            <a:extLst xmlns:a="http://schemas.openxmlformats.org/drawingml/2006/main">
              <a:ext uri="{FF2B5EF4-FFF2-40B4-BE49-F238E27FC236}">
                <a16:creationId xmlns:a16="http://schemas.microsoft.com/office/drawing/2014/main" id="{C2A8C0A7-D3FA-41AD-883C-8B54DEFF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76575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1" name="line-109">
            <a:extLst xmlns:a="http://schemas.openxmlformats.org/drawingml/2006/main">
              <a:ext uri="{FF2B5EF4-FFF2-40B4-BE49-F238E27FC236}">
                <a16:creationId xmlns:a16="http://schemas.microsoft.com/office/drawing/2014/main" id="{207E0B2E-D29C-4951-B619-A5214D74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009775"/>
            <a:ext cx="0" cy="2771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2" name="line-110">
            <a:extLst xmlns:a="http://schemas.openxmlformats.org/drawingml/2006/main">
              <a:ext uri="{FF2B5EF4-FFF2-40B4-BE49-F238E27FC236}">
                <a16:creationId xmlns:a16="http://schemas.microsoft.com/office/drawing/2014/main" id="{0FC83DD6-A0F4-4776-951D-55F0C2D4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0097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3" name="line-111">
            <a:extLst xmlns:a="http://schemas.openxmlformats.org/drawingml/2006/main">
              <a:ext uri="{FF2B5EF4-FFF2-40B4-BE49-F238E27FC236}">
                <a16:creationId xmlns:a16="http://schemas.microsoft.com/office/drawing/2014/main" id="{03805805-A52C-46CB-B629-497471A3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09775"/>
            <a:ext cx="752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4" name="line-112">
            <a:extLst xmlns:a="http://schemas.openxmlformats.org/drawingml/2006/main">
              <a:ext uri="{FF2B5EF4-FFF2-40B4-BE49-F238E27FC236}">
                <a16:creationId xmlns:a16="http://schemas.microsoft.com/office/drawing/2014/main" id="{026B683D-7E77-4348-87A7-8AF11A2A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14500"/>
            <a:ext cx="0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5" name="line-113">
            <a:extLst xmlns:a="http://schemas.openxmlformats.org/drawingml/2006/main">
              <a:ext uri="{FF2B5EF4-FFF2-40B4-BE49-F238E27FC236}">
                <a16:creationId xmlns:a16="http://schemas.microsoft.com/office/drawing/2014/main" id="{E42AD910-1DDD-4E49-8628-770EC67F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1450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6" name="line-114">
            <a:extLst xmlns:a="http://schemas.openxmlformats.org/drawingml/2006/main">
              <a:ext uri="{FF2B5EF4-FFF2-40B4-BE49-F238E27FC236}">
                <a16:creationId xmlns:a16="http://schemas.microsoft.com/office/drawing/2014/main" id="{E99D6EB7-BAB6-435E-90C8-48CEE34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765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7" name="content-115">
            <a:extLst xmlns:a="http://schemas.openxmlformats.org/drawingml/2006/main">
              <a:ext uri="{FF2B5EF4-FFF2-40B4-BE49-F238E27FC236}">
                <a16:creationId xmlns:a16="http://schemas.microsoft.com/office/drawing/2014/main" id="{2F6D91C4-163B-4690-B3CA-64764BE1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D607A"/>
                </a:solidFill>
                <a:latin typeface="Inter"/>
                <a:ea typeface="Inter"/>
                <a:cs typeface="Inter"/>
              </a:rPr>
              <a:t>1:N</a:t>
            </a:r>
          </a:p>
        </p:txBody>
      </p:sp>
      <p:sp>
        <p:nvSpPr>
          <p:cNvPr id="548" name="content-116">
            <a:extLst xmlns:a="http://schemas.openxmlformats.org/drawingml/2006/main">
              <a:ext uri="{FF2B5EF4-FFF2-40B4-BE49-F238E27FC236}">
                <a16:creationId xmlns:a16="http://schemas.microsoft.com/office/drawing/2014/main" id="{B46DDDDD-F1BB-4D4E-942C-79001A22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4302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D607A"/>
                </a:solidFill>
                <a:latin typeface="Inter"/>
                <a:ea typeface="Inter"/>
                <a:cs typeface="Inter"/>
              </a:rPr>
              <a:t>1:N</a:t>
            </a:r>
          </a:p>
        </p:txBody>
      </p:sp>
      <p:sp>
        <p:nvSpPr>
          <p:cNvPr id="549" name="content-117">
            <a:extLst xmlns:a="http://schemas.openxmlformats.org/drawingml/2006/main">
              <a:ext uri="{FF2B5EF4-FFF2-40B4-BE49-F238E27FC236}">
                <a16:creationId xmlns:a16="http://schemas.microsoft.com/office/drawing/2014/main" id="{F12DC737-C065-4C00-973A-EACA7078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145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D607A"/>
                </a:solidFill>
                <a:latin typeface="Inter"/>
                <a:ea typeface="Inter"/>
                <a:cs typeface="Inter"/>
              </a:rPr>
              <a:t>1:N</a:t>
            </a:r>
          </a:p>
        </p:txBody>
      </p:sp>
      <p:sp>
        <p:nvSpPr>
          <p:cNvPr id="550" name="node-118">
            <a:extLst xmlns:a="http://schemas.openxmlformats.org/drawingml/2006/main">
              <a:ext uri="{FF2B5EF4-FFF2-40B4-BE49-F238E27FC236}">
                <a16:creationId xmlns:a16="http://schemas.microsoft.com/office/drawing/2014/main" id="{0B1FCB6C-C841-4A66-91C3-D9906FCB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62325"/>
            <a:ext cx="28098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监测数据</a:t>
            </a:r>
          </a:p>
        </p:txBody>
      </p:sp>
      <p:sp>
        <p:nvSpPr>
          <p:cNvPr id="551" name="node-119">
            <a:extLst xmlns:a="http://schemas.openxmlformats.org/drawingml/2006/main">
              <a:ext uri="{FF2B5EF4-FFF2-40B4-BE49-F238E27FC236}">
                <a16:creationId xmlns:a16="http://schemas.microsoft.com/office/drawing/2014/main" id="{56ED0231-DF1D-41BE-9BE3-4A85414B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29125"/>
            <a:ext cx="28098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C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计划与评估</a:t>
            </a:r>
          </a:p>
        </p:txBody>
      </p:sp>
      <p:sp>
        <p:nvSpPr>
          <p:cNvPr id="552" name="node-120">
            <a:extLst xmlns:a="http://schemas.openxmlformats.org/drawingml/2006/main">
              <a:ext uri="{FF2B5EF4-FFF2-40B4-BE49-F238E27FC236}">
                <a16:creationId xmlns:a16="http://schemas.microsoft.com/office/drawing/2014/main" id="{B3C80916-EDB2-4645-BFB1-2EE376E0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29125"/>
            <a:ext cx="3752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9DB8C6"/>
            </a:solidFill>
          </a:ln>
        </p:spPr>
        <p:txBody>
          <a:bodyPr xmlns:a="http://schemas.openxmlformats.org/drawingml/2006/main" wrap="squar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提醒任务</a:t>
            </a:r>
          </a:p>
        </p:txBody>
      </p:sp>
      <p:sp>
        <p:nvSpPr>
          <p:cNvPr id="553" name="line-121">
            <a:extLst xmlns:a="http://schemas.openxmlformats.org/drawingml/2006/main">
              <a:ext uri="{FF2B5EF4-FFF2-40B4-BE49-F238E27FC236}">
                <a16:creationId xmlns:a16="http://schemas.microsoft.com/office/drawing/2014/main" id="{8E19F9C4-C76E-477A-916A-4CF4B216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7147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4" name="line-122">
            <a:extLst xmlns:a="http://schemas.openxmlformats.org/drawingml/2006/main">
              <a:ext uri="{FF2B5EF4-FFF2-40B4-BE49-F238E27FC236}">
                <a16:creationId xmlns:a16="http://schemas.microsoft.com/office/drawing/2014/main" id="{FC03B3D7-35E7-4B75-91E5-36E93A43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78155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5" name="line-123">
            <a:extLst xmlns:a="http://schemas.openxmlformats.org/drawingml/2006/main">
              <a:ext uri="{FF2B5EF4-FFF2-40B4-BE49-F238E27FC236}">
                <a16:creationId xmlns:a16="http://schemas.microsoft.com/office/drawing/2014/main" id="{2AF73FD7-56B4-4DBD-BFF0-5F715199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781550"/>
            <a:ext cx="1495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DB8C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6" name="content-124">
            <a:extLst xmlns:a="http://schemas.openxmlformats.org/drawingml/2006/main">
              <a:ext uri="{FF2B5EF4-FFF2-40B4-BE49-F238E27FC236}">
                <a16:creationId xmlns:a16="http://schemas.microsoft.com/office/drawing/2014/main" id="{D6F493E3-BA6B-4676-AA89-D731432D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432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D607A"/>
                </a:solidFill>
                <a:latin typeface="Inter"/>
                <a:ea typeface="Inter"/>
                <a:cs typeface="Inter"/>
              </a:rPr>
              <a:t>1:N</a:t>
            </a:r>
          </a:p>
        </p:txBody>
      </p:sp>
      <p:sp>
        <p:nvSpPr>
          <p:cNvPr id="557" name="content-125">
            <a:extLst xmlns:a="http://schemas.openxmlformats.org/drawingml/2006/main">
              <a:ext uri="{FF2B5EF4-FFF2-40B4-BE49-F238E27FC236}">
                <a16:creationId xmlns:a16="http://schemas.microsoft.com/office/drawing/2014/main" id="{C8D37E9C-D874-48AA-8C56-AE4091CB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10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D607A"/>
                </a:solidFill>
                <a:latin typeface="Inter"/>
                <a:ea typeface="Inter"/>
                <a:cs typeface="Inter"/>
              </a:rPr>
              <a:t>1:N</a:t>
            </a:r>
          </a:p>
        </p:txBody>
      </p:sp>
      <p:sp>
        <p:nvSpPr>
          <p:cNvPr id="558" name="content-126">
            <a:extLst xmlns:a="http://schemas.openxmlformats.org/drawingml/2006/main">
              <a:ext uri="{FF2B5EF4-FFF2-40B4-BE49-F238E27FC236}">
                <a16:creationId xmlns:a16="http://schemas.microsoft.com/office/drawing/2014/main" id="{F9856FB8-2BDF-41F6-83CE-47F3E51E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10075"/>
            <a:ext cx="790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2D607A"/>
                </a:solidFill>
                <a:latin typeface="Inter"/>
                <a:ea typeface="Inter"/>
                <a:cs typeface="Inter"/>
              </a:rPr>
              <a:t>1:N</a:t>
            </a:r>
          </a:p>
        </p:txBody>
      </p:sp>
      <p:sp>
        <p:nvSpPr>
          <p:cNvPr id="559" name="content-127">
            <a:extLst xmlns:a="http://schemas.openxmlformats.org/drawingml/2006/main">
              <a:ext uri="{FF2B5EF4-FFF2-40B4-BE49-F238E27FC236}">
                <a16:creationId xmlns:a16="http://schemas.microsoft.com/office/drawing/2014/main" id="{B4FACB9F-FA33-48C9-84A0-6568AE05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19475"/>
            <a:ext cx="3752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1725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统一审计关联业务对象</a:t>
            </a:r>
          </a:p>
        </p:txBody>
      </p:sp>
      <p:sp>
        <p:nvSpPr>
          <p:cNvPr id="560" name="content-128">
            <a:extLst xmlns:a="http://schemas.openxmlformats.org/drawingml/2006/main">
              <a:ext uri="{FF2B5EF4-FFF2-40B4-BE49-F238E27FC236}">
                <a16:creationId xmlns:a16="http://schemas.microsoft.com/office/drawing/2014/main" id="{116AC3A1-E052-4F5F-AF40-2A5DBEAB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业务更新与任务事件一并提交，重试时按事件编号去重</a:t>
            </a:r>
          </a:p>
        </p:txBody>
      </p:sp>
      <p:sp>
        <p:nvSpPr>
          <p:cNvPr id="561" name="content-129">
            <a:extLst xmlns:a="http://schemas.openxmlformats.org/drawingml/2006/main">
              <a:ext uri="{FF2B5EF4-FFF2-40B4-BE49-F238E27FC236}">
                <a16:creationId xmlns:a16="http://schemas.microsoft.com/office/drawing/2014/main" id="{42828F7B-81EF-4029-916B-CD674F58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记录保留来源、时间和版本，备份恢复须实际演练</a:t>
            </a:r>
          </a:p>
        </p:txBody>
      </p:sp>
      <p:sp>
        <p:nvSpPr>
          <p:cNvPr id="562" name="content-130">
            <a:extLst xmlns:a="http://schemas.openxmlformats.org/drawingml/2006/main">
              <a:ext uri="{FF2B5EF4-FFF2-40B4-BE49-F238E27FC236}">
                <a16:creationId xmlns:a16="http://schemas.microsoft.com/office/drawing/2014/main" id="{B849470E-F28A-4945-B766-98F96663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4840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设计建议；1:N 表示一条记录可关联多条记录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15" y="6279928"/>
            <a:ext cx="518922" cy="2412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0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fld id="{388657AE-30A1-5A7A-6A7F-315D84436430}" type="slidenum">
              <a:rPr sz="1100">
                <a:solidFill>
                  <a:srgbClr val="546B77"/>
                </a:solidFill>
                <a:latin typeface="Inter"/>
                <a:ea typeface="Inter"/>
                <a:cs typeface="Inter"/>
              </a:rPr>
              <a:t>9</a:t>
            </a:fld>
            <a:endParaRPr/>
          </a:p>
        </p:txBody>
      </p:sp>
      <p:sp>
        <p:nvSpPr>
          <p:cNvPr id="3" name="Title Reused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68" y="344043"/>
            <a:ext cx="11404568" cy="904875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29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五人迭代计划与分阶段验收</a:t>
            </a:r>
          </a:p>
        </p:txBody>
      </p:sp>
      <p:sp>
        <p:nvSpPr>
          <p:cNvPr id="7" name="content-131">
            <a:extLst xmlns:a="http://schemas.openxmlformats.org/drawingml/2006/main">
              <a:ext uri="{FF2B5EF4-FFF2-40B4-BE49-F238E27FC236}">
                <a16:creationId xmlns:a16="http://schemas.microsoft.com/office/drawing/2014/main" id="{6D332986-A4A0-419C-977D-E7B225E9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5732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迭代 0</a:t>
            </a:r>
          </a:p>
        </p:txBody>
      </p:sp>
      <p:sp>
        <p:nvSpPr>
          <p:cNvPr id="8" name="content-132">
            <a:extLst xmlns:a="http://schemas.openxmlformats.org/drawingml/2006/main">
              <a:ext uri="{FF2B5EF4-FFF2-40B4-BE49-F238E27FC236}">
                <a16:creationId xmlns:a16="http://schemas.microsoft.com/office/drawing/2014/main" id="{9D1F2EB1-DDEE-479D-A9DE-7F17D13E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361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Windows 安装程序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中英语言切换与持久化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合成数据只读演示</a:t>
            </a:r>
          </a:p>
        </p:txBody>
      </p:sp>
      <p:sp>
        <p:nvSpPr>
          <p:cNvPr id="9" name="content-133">
            <a:extLst xmlns:a="http://schemas.openxmlformats.org/drawingml/2006/main">
              <a:ext uri="{FF2B5EF4-FFF2-40B4-BE49-F238E27FC236}">
                <a16:creationId xmlns:a16="http://schemas.microsoft.com/office/drawing/2014/main" id="{8A419476-1BC1-406B-8E14-9058D1D6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5732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迭代 1—2</a:t>
            </a:r>
          </a:p>
        </p:txBody>
      </p:sp>
      <p:sp>
        <p:nvSpPr>
          <p:cNvPr id="10" name="content-134">
            <a:extLst xmlns:a="http://schemas.openxmlformats.org/drawingml/2006/main">
              <a:ext uri="{FF2B5EF4-FFF2-40B4-BE49-F238E27FC236}">
                <a16:creationId xmlns:a16="http://schemas.microsoft.com/office/drawing/2014/main" id="{C23F4329-0430-4DA4-8774-B2D5AF84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361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登录授权、患者、文字问诊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病历医嘱与审核归档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健康计划、提醒与审计</a:t>
            </a:r>
          </a:p>
        </p:txBody>
      </p:sp>
      <p:sp>
        <p:nvSpPr>
          <p:cNvPr id="11" name="content-135">
            <a:extLst xmlns:a="http://schemas.openxmlformats.org/drawingml/2006/main">
              <a:ext uri="{FF2B5EF4-FFF2-40B4-BE49-F238E27FC236}">
                <a16:creationId xmlns:a16="http://schemas.microsoft.com/office/drawing/2014/main" id="{4CF57C02-DA1A-4CEB-A87C-3F17BF81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5732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迭代 3—5</a:t>
            </a:r>
          </a:p>
        </p:txBody>
      </p:sp>
      <p:sp>
        <p:nvSpPr>
          <p:cNvPr id="12" name="content-136">
            <a:extLst xmlns:a="http://schemas.openxmlformats.org/drawingml/2006/main">
              <a:ext uri="{FF2B5EF4-FFF2-40B4-BE49-F238E27FC236}">
                <a16:creationId xmlns:a16="http://schemas.microsoft.com/office/drawing/2014/main" id="{ED1B321B-2520-43B6-A344-CB8F9BA1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361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3  视频与多专家会诊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4  外部接入与发布验证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5  可选同行社区</a:t>
            </a:r>
          </a:p>
        </p:txBody>
      </p:sp>
      <p:sp>
        <p:nvSpPr>
          <p:cNvPr id="13" name="content-137">
            <a:extLst xmlns:a="http://schemas.openxmlformats.org/drawingml/2006/main">
              <a:ext uri="{FF2B5EF4-FFF2-40B4-BE49-F238E27FC236}">
                <a16:creationId xmlns:a16="http://schemas.microsoft.com/office/drawing/2014/main" id="{9B58A904-A8AC-4CFA-9AD9-705DFDCB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07A"/>
                </a:solidFill>
                <a:latin typeface="Inter"/>
                <a:ea typeface="Inter"/>
                <a:cs typeface="Inter"/>
              </a:defRPr>
            </a:pPr>
            <a:r>
              <a:rPr sz="2025" b="1">
                <a:solidFill>
                  <a:srgbClr val="2D607A"/>
                </a:solidFill>
                <a:latin typeface="Inter"/>
                <a:ea typeface="Inter"/>
                <a:cs typeface="Inter"/>
              </a:rPr>
              <a:t>五人分工与验收门槛</a:t>
            </a:r>
          </a:p>
        </p:txBody>
      </p:sp>
      <p:sp>
        <p:nvSpPr>
          <p:cNvPr id="14" name="content-138">
            <a:extLst xmlns:a="http://schemas.openxmlformats.org/drawingml/2006/main">
              <a:ext uri="{FF2B5EF4-FFF2-40B4-BE49-F238E27FC236}">
                <a16:creationId xmlns:a16="http://schemas.microsoft.com/office/drawing/2014/main" id="{0BE68481-3A84-4AA1-88B9-F5CF0766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A 桌面与平台   B 患者   C 问诊与会诊   D 病历医嘱   E 健康与社区</a:t>
            </a:r>
          </a:p>
        </p:txBody>
      </p:sp>
      <p:sp>
        <p:nvSpPr>
          <p:cNvPr id="15" name="content-139">
            <a:extLst xmlns:a="http://schemas.openxmlformats.org/drawingml/2006/main">
              <a:ext uri="{FF2B5EF4-FFF2-40B4-BE49-F238E27FC236}">
                <a16:creationId xmlns:a16="http://schemas.microsoft.com/office/drawing/2014/main" id="{23A6175E-C322-45F4-BF0E-EFBC6BCC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91075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当前：安装、双语切换与重启验证；未上线功能明确占位</a:t>
            </a:r>
          </a:p>
        </p:txBody>
      </p:sp>
      <p:sp>
        <p:nvSpPr>
          <p:cNvPr id="16" name="content-140">
            <a:extLst xmlns:a="http://schemas.openxmlformats.org/drawingml/2006/main">
              <a:ext uri="{FF2B5EF4-FFF2-40B4-BE49-F238E27FC236}">
                <a16:creationId xmlns:a16="http://schemas.microsoft.com/office/drawing/2014/main" id="{089C2493-0E7D-4C0D-BE55-9B65CD63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42C38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42C38"/>
                </a:solidFill>
                <a:latin typeface="Inter"/>
                <a:ea typeface="Inter"/>
                <a:cs typeface="Inter"/>
              </a:rPr>
              <a:t>后续：审核归档、资料与媒体撤权、提醒失败重试与去重</a:t>
            </a:r>
          </a:p>
        </p:txBody>
      </p:sp>
      <p:sp>
        <p:nvSpPr>
          <p:cNvPr id="17" name="content-141">
            <a:extLst xmlns:a="http://schemas.openxmlformats.org/drawingml/2006/main">
              <a:ext uri="{FF2B5EF4-FFF2-40B4-BE49-F238E27FC236}">
                <a16:creationId xmlns:a16="http://schemas.microsoft.com/office/drawing/2014/main" id="{9CE086FF-6473-4C8E-AF28-D7C93815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83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6B77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546B77"/>
                </a:solidFill>
                <a:latin typeface="Inter"/>
                <a:ea typeface="Inter"/>
                <a:cs typeface="Inter"/>
              </a:rPr>
              <a:t>估算核心 9 周，可选扩展 2 周；详细任务见 docs/ITERATION_PLAN.md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Microsoft YaHei"/>
        <a:cs typeface=""/>
      </a:majorFont>
      <a:minorFont>
        <a:latin typeface="Inter"/>
        <a:ea typeface="Microsoft YaHei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2026-09-10T10:00:34.8920000Z</dcterms:created>
  <dcterms:modified xsi:type="dcterms:W3CDTF">2026-09-10T10:00:34.8920000Z</dcterms:modified>
</coreProperties>
</file>